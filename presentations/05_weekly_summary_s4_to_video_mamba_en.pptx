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65" r:id="rId12"/>
    <p:sldId id="272" r:id="rId13"/>
    <p:sldId id="266" r:id="rId14"/>
    <p:sldId id="267" r:id="rId15"/>
    <p:sldId id="273" r:id="rId16"/>
    <p:sldId id="268" r:id="rId17"/>
    <p:sldId id="269" r:id="rId18"/>
    <p:sldId id="27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4" y="4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ptos Display"/>
              </a:defRPr>
            </a:pPr>
            <a:r>
              <a:t>Weekly Progress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836902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From </a:t>
            </a:r>
            <a:r>
              <a:rPr lang="en-US" b="1" noProof="0" dirty="0"/>
              <a:t>attention-based</a:t>
            </a:r>
            <a:r>
              <a:rPr lang="en-US" noProof="0" dirty="0"/>
              <a:t> models to </a:t>
            </a:r>
            <a:r>
              <a:rPr b="1" dirty="0"/>
              <a:t>S4</a:t>
            </a:r>
            <a:r>
              <a:rPr dirty="0"/>
              <a:t> </a:t>
            </a:r>
            <a:r>
              <a:rPr b="1" dirty="0"/>
              <a:t>state space models </a:t>
            </a:r>
            <a:r>
              <a:rPr dirty="0"/>
              <a:t>to </a:t>
            </a:r>
            <a:r>
              <a:rPr b="1" dirty="0"/>
              <a:t>Video Mamba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273552"/>
            <a:ext cx="2011680" cy="4572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3703320"/>
            <a:ext cx="10149840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Started the State Space Model block with </a:t>
            </a:r>
            <a:r>
              <a:rPr b="1" dirty="0"/>
              <a:t>S4</a:t>
            </a:r>
            <a:r>
              <a:rPr dirty="0"/>
              <a:t> as the foundation.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Moved from fixed state-space dynamics to selective SSMs in </a:t>
            </a:r>
            <a:r>
              <a:rPr b="1" dirty="0"/>
              <a:t>Mamba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Connected Mamba to vision and video through </a:t>
            </a:r>
            <a:r>
              <a:rPr b="1" dirty="0"/>
              <a:t>Vision Mamba </a:t>
            </a:r>
            <a:r>
              <a:rPr dirty="0"/>
              <a:t>and </a:t>
            </a:r>
            <a:r>
              <a:rPr b="1" dirty="0"/>
              <a:t>Video Mamba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Narrative of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dirty="0"/>
              <a:t>Continued from </a:t>
            </a:r>
            <a:r>
              <a:rPr b="1" dirty="0"/>
              <a:t>Transformer-based</a:t>
            </a:r>
            <a:r>
              <a:rPr dirty="0"/>
              <a:t> video </a:t>
            </a:r>
            <a:r>
              <a:rPr b="1" dirty="0"/>
              <a:t>models</a:t>
            </a:r>
            <a:r>
              <a:rPr dirty="0"/>
              <a:t> </a:t>
            </a:r>
            <a:r>
              <a:rPr b="1" dirty="0"/>
              <a:t>into State Space Models</a:t>
            </a:r>
            <a:r>
              <a:rPr dirty="0"/>
              <a:t>.</a:t>
            </a:r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dirty="0"/>
              <a:t>Reviewed the </a:t>
            </a:r>
            <a:r>
              <a:rPr b="1" dirty="0"/>
              <a:t>SSM view</a:t>
            </a:r>
            <a:r>
              <a:rPr dirty="0"/>
              <a:t>: inputs, hidden states, dynamics, and outputs.</a:t>
            </a:r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dirty="0"/>
              <a:t>Then moved to </a:t>
            </a:r>
            <a:r>
              <a:rPr b="1" dirty="0"/>
              <a:t>Mamba</a:t>
            </a:r>
            <a:r>
              <a:rPr dirty="0"/>
              <a:t>, where the model selectively updates its state based on the input.</a:t>
            </a:r>
            <a:endParaRPr lang="es-MX" dirty="0"/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Move to </a:t>
            </a:r>
            <a:r>
              <a:rPr lang="en-US" b="1" noProof="0" dirty="0"/>
              <a:t>Vision </a:t>
            </a:r>
            <a:r>
              <a:rPr lang="es-MX" altLang="ja-JP" b="1" dirty="0"/>
              <a:t>Mamba </a:t>
            </a:r>
            <a:r>
              <a:rPr lang="es-MX" altLang="ja-JP" dirty="0"/>
              <a:t>and </a:t>
            </a:r>
            <a:r>
              <a:rPr lang="es-MX" altLang="ja-JP" b="1" dirty="0"/>
              <a:t>Video Mamba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Why This Step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39496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b="1" dirty="0"/>
              <a:t>Transformers</a:t>
            </a:r>
            <a:r>
              <a:rPr dirty="0"/>
              <a:t> are powerful but </a:t>
            </a:r>
            <a:r>
              <a:rPr b="1" dirty="0"/>
              <a:t>attention</a:t>
            </a:r>
            <a:r>
              <a:rPr dirty="0"/>
              <a:t> grows </a:t>
            </a:r>
            <a:r>
              <a:rPr b="1" dirty="0"/>
              <a:t>expensive</a:t>
            </a:r>
            <a:r>
              <a:rPr dirty="0"/>
              <a:t> with long sequences.</a:t>
            </a:r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b="1" dirty="0"/>
              <a:t>State Space Models </a:t>
            </a:r>
            <a:r>
              <a:rPr dirty="0"/>
              <a:t>offer a different path: recurrent dynamics with </a:t>
            </a:r>
            <a:r>
              <a:rPr b="1" dirty="0"/>
              <a:t>efficient sequence processing.</a:t>
            </a:r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b="1" dirty="0"/>
              <a:t>Mamba</a:t>
            </a:r>
            <a:r>
              <a:rPr dirty="0"/>
              <a:t> keeps the long-context advantage while </a:t>
            </a:r>
            <a:r>
              <a:rPr b="1" dirty="0"/>
              <a:t>adding input-dependent </a:t>
            </a:r>
            <a:r>
              <a:rPr dirty="0"/>
              <a:t>selection.</a:t>
            </a:r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This </a:t>
            </a:r>
            <a:r>
              <a:rPr b="1" dirty="0"/>
              <a:t>is relevant for video </a:t>
            </a:r>
            <a:r>
              <a:rPr dirty="0"/>
              <a:t>because </a:t>
            </a:r>
            <a:r>
              <a:rPr b="1" dirty="0"/>
              <a:t>long</a:t>
            </a:r>
            <a:r>
              <a:rPr dirty="0"/>
              <a:t> </a:t>
            </a:r>
            <a:r>
              <a:rPr b="1" dirty="0"/>
              <a:t>clips</a:t>
            </a:r>
            <a:r>
              <a:rPr dirty="0"/>
              <a:t> require temporal memory without excessive cost.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46520" y="1143000"/>
            <a:ext cx="4846320" cy="35661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20840" y="15361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11827"/>
                </a:solidFill>
                <a:latin typeface="Aptos Display"/>
              </a:defRPr>
            </a:pPr>
            <a:r>
              <a:t>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212848"/>
            <a:ext cx="4160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4B5563"/>
                </a:solidFill>
                <a:latin typeface="Aptos"/>
              </a:defRPr>
            </a:pPr>
            <a:r>
              <a:rPr dirty="0"/>
              <a:t>The research path is shifting from attention-based temporal modeling to state-based sequence modeling.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542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/>
              <a:t>State Space Models</a:t>
            </a:r>
            <a:r>
              <a:rPr lang="es-MX" dirty="0"/>
              <a:t>: </a:t>
            </a:r>
            <a:r>
              <a:rPr lang="en-US" altLang="ja-JP" sz="3000" b="1" dirty="0"/>
              <a:t>Efficiently Modeling Long Sequences (2021)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42416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dirty="0"/>
              <a:t>An SSM maps an input signal into a hidden state and then projects it to an output.</a:t>
            </a:r>
          </a:p>
          <a:p>
            <a:pPr algn="just"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dirty="0"/>
              <a:t>The hidden state stores information needed to describe the sequence over time.</a:t>
            </a:r>
          </a:p>
          <a:p>
            <a:pPr algn="just"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b="1" dirty="0"/>
              <a:t>In discrete form, the model can be interpreted as a recurrent update.</a:t>
            </a:r>
          </a:p>
          <a:p>
            <a:pPr algn="just"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dirty="0"/>
              <a:t>This provides a mathematical foundation for long-range temporal modeling.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88BEA0B3-D422-7124-62FC-2AB73650B7D6}"/>
              </a:ext>
            </a:extLst>
          </p:cNvPr>
          <p:cNvGrpSpPr/>
          <p:nvPr/>
        </p:nvGrpSpPr>
        <p:grpSpPr>
          <a:xfrm>
            <a:off x="408401" y="3517956"/>
            <a:ext cx="4572000" cy="1671815"/>
            <a:chOff x="1005840" y="4389119"/>
            <a:chExt cx="4572000" cy="1671815"/>
          </a:xfrm>
        </p:grpSpPr>
        <p:sp>
          <p:nvSpPr>
            <p:cNvPr id="4" name="Rounded Rectangle 3"/>
            <p:cNvSpPr/>
            <p:nvPr/>
          </p:nvSpPr>
          <p:spPr>
            <a:xfrm>
              <a:off x="1005840" y="4389119"/>
              <a:ext cx="4572000" cy="1671815"/>
            </a:xfrm>
            <a:prstGeom prst="roundRect">
              <a:avLst>
                <a:gd name="adj" fmla="val 8000"/>
              </a:avLst>
            </a:prstGeom>
            <a:solidFill>
              <a:srgbClr val="DBEAFE"/>
            </a:solidFill>
            <a:ln>
              <a:solidFill>
                <a:srgbClr val="DBEAF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34440" y="4645152"/>
              <a:ext cx="411480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2200" b="1">
                  <a:solidFill>
                    <a:srgbClr val="1D4ED8"/>
                  </a:solidFill>
                  <a:latin typeface="Aptos Display"/>
                </a:defRPr>
              </a:pPr>
              <a:r>
                <a:rPr dirty="0"/>
                <a:t>Continuous view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CuadroTexto 10">
                  <a:extLst>
                    <a:ext uri="{FF2B5EF4-FFF2-40B4-BE49-F238E27FC236}">
                      <a16:creationId xmlns:a16="http://schemas.microsoft.com/office/drawing/2014/main" id="{D7ECB4B7-EE01-9C22-3E55-11C894653948}"/>
                    </a:ext>
                  </a:extLst>
                </p:cNvPr>
                <p:cNvSpPr txBox="1"/>
                <p:nvPr/>
              </p:nvSpPr>
              <p:spPr>
                <a:xfrm>
                  <a:off x="2284993" y="5087008"/>
                  <a:ext cx="201369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kumimoji="1" lang="es-MX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s-MX" altLang="ja-JP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𝐴𝑥</m:t>
                        </m:r>
                        <m:d>
                          <m:dPr>
                            <m:ctrlP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𝐵𝑢</m:t>
                        </m:r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11" name="CuadroTexto 10">
                  <a:extLst>
                    <a:ext uri="{FF2B5EF4-FFF2-40B4-BE49-F238E27FC236}">
                      <a16:creationId xmlns:a16="http://schemas.microsoft.com/office/drawing/2014/main" id="{D7ECB4B7-EE01-9C22-3E55-11C8946539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993" y="5087008"/>
                  <a:ext cx="2013693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212" t="-4444" r="-3939" b="-3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CuadroTexto 11">
                  <a:extLst>
                    <a:ext uri="{FF2B5EF4-FFF2-40B4-BE49-F238E27FC236}">
                      <a16:creationId xmlns:a16="http://schemas.microsoft.com/office/drawing/2014/main" id="{DCF2068B-BB7F-610C-1218-7CC8D88981CA}"/>
                    </a:ext>
                  </a:extLst>
                </p:cNvPr>
                <p:cNvSpPr txBox="1"/>
                <p:nvPr/>
              </p:nvSpPr>
              <p:spPr>
                <a:xfrm>
                  <a:off x="2769356" y="5495964"/>
                  <a:ext cx="104496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𝐶𝑥</m:t>
                        </m:r>
                        <m:d>
                          <m:dPr>
                            <m:ctrlP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12" name="CuadroTexto 11">
                  <a:extLst>
                    <a:ext uri="{FF2B5EF4-FFF2-40B4-BE49-F238E27FC236}">
                      <a16:creationId xmlns:a16="http://schemas.microsoft.com/office/drawing/2014/main" id="{DCF2068B-BB7F-610C-1218-7CC8D88981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9356" y="5495964"/>
                  <a:ext cx="1044965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33" b="-2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7" name="Imagen 16">
            <a:extLst>
              <a:ext uri="{FF2B5EF4-FFF2-40B4-BE49-F238E27FC236}">
                <a16:creationId xmlns:a16="http://schemas.microsoft.com/office/drawing/2014/main" id="{AB371C2F-7D48-928A-3408-6D17C9659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3816" y="3058336"/>
            <a:ext cx="1617730" cy="2591053"/>
          </a:xfrm>
          <a:prstGeom prst="rect">
            <a:avLst/>
          </a:prstGeom>
          <a:ln w="19050" cap="sq">
            <a:solidFill>
              <a:srgbClr val="000000"/>
            </a:solidFill>
            <a:prstDash val="dash"/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B486F645-DD3E-42A8-0CBC-5F5A86DC6A67}"/>
              </a:ext>
            </a:extLst>
          </p:cNvPr>
          <p:cNvGrpSpPr/>
          <p:nvPr/>
        </p:nvGrpSpPr>
        <p:grpSpPr>
          <a:xfrm>
            <a:off x="5102117" y="3564380"/>
            <a:ext cx="4572000" cy="1671814"/>
            <a:chOff x="6583680" y="4389120"/>
            <a:chExt cx="4572000" cy="1671814"/>
          </a:xfrm>
        </p:grpSpPr>
        <p:sp>
          <p:nvSpPr>
            <p:cNvPr id="5" name="Rounded Rectangle 4"/>
            <p:cNvSpPr/>
            <p:nvPr/>
          </p:nvSpPr>
          <p:spPr>
            <a:xfrm>
              <a:off x="6583680" y="4389120"/>
              <a:ext cx="4572000" cy="1671814"/>
            </a:xfrm>
            <a:prstGeom prst="roundRect">
              <a:avLst>
                <a:gd name="adj" fmla="val 8000"/>
              </a:avLst>
            </a:prstGeom>
            <a:solidFill>
              <a:srgbClr val="D1FAE5"/>
            </a:solidFill>
            <a:ln>
              <a:solidFill>
                <a:srgbClr val="D1FAE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812280" y="4645152"/>
              <a:ext cx="411480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2200" b="1">
                  <a:solidFill>
                    <a:srgbClr val="047857"/>
                  </a:solidFill>
                  <a:latin typeface="Aptos Display"/>
                </a:defRPr>
              </a:pPr>
              <a:r>
                <a:rPr dirty="0"/>
                <a:t>Discrete view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CuadroTexto 9">
                  <a:extLst>
                    <a:ext uri="{FF2B5EF4-FFF2-40B4-BE49-F238E27FC236}">
                      <a16:creationId xmlns:a16="http://schemas.microsoft.com/office/drawing/2014/main" id="{8AA6D11F-2EFE-999C-3293-A3C5D00646A9}"/>
                    </a:ext>
                  </a:extLst>
                </p:cNvPr>
                <p:cNvSpPr txBox="1"/>
                <p:nvPr/>
              </p:nvSpPr>
              <p:spPr>
                <a:xfrm>
                  <a:off x="7904255" y="5087008"/>
                  <a:ext cx="1930850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10" name="CuadroTexto 9">
                  <a:extLst>
                    <a:ext uri="{FF2B5EF4-FFF2-40B4-BE49-F238E27FC236}">
                      <a16:creationId xmlns:a16="http://schemas.microsoft.com/office/drawing/2014/main" id="{8AA6D11F-2EFE-999C-3293-A3C5D00646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4255" y="5087008"/>
                  <a:ext cx="1930850" cy="277576"/>
                </a:xfrm>
                <a:prstGeom prst="rect">
                  <a:avLst/>
                </a:prstGeom>
                <a:blipFill>
                  <a:blip r:embed="rId5"/>
                  <a:stretch>
                    <a:fillRect t="-2174" r="-949" b="-173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0673DF54-8633-5881-8351-A9D34D31BBE1}"/>
                    </a:ext>
                  </a:extLst>
                </p:cNvPr>
                <p:cNvSpPr txBox="1"/>
                <p:nvPr/>
              </p:nvSpPr>
              <p:spPr>
                <a:xfrm>
                  <a:off x="8559709" y="5495387"/>
                  <a:ext cx="980461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kumimoji="1" lang="es-MX" altLang="ja-JP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s-MX" altLang="ja-JP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0673DF54-8633-5881-8351-A9D34D31B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59709" y="5495387"/>
                  <a:ext cx="980461" cy="277576"/>
                </a:xfrm>
                <a:prstGeom prst="rect">
                  <a:avLst/>
                </a:prstGeom>
                <a:blipFill>
                  <a:blip r:embed="rId6"/>
                  <a:stretch>
                    <a:fillRect l="-5590" t="-2174" r="-9938" b="-2608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/>
              <a:t>S4: Structured State 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70432"/>
            <a:ext cx="1042416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r>
              <a:rPr dirty="0"/>
              <a:t>S4 is designed to make State Space Models practical for very long sequences.</a:t>
            </a:r>
          </a:p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r>
              <a:rPr dirty="0"/>
              <a:t>The same model can be viewed as </a:t>
            </a:r>
            <a:r>
              <a:rPr b="1" dirty="0"/>
              <a:t>recurrent for inference and convolutional for parallel</a:t>
            </a:r>
            <a:r>
              <a:rPr dirty="0"/>
              <a:t> training.</a:t>
            </a:r>
          </a:p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r>
              <a:rPr dirty="0"/>
              <a:t>This is the important bridge: </a:t>
            </a:r>
            <a:r>
              <a:rPr b="1" dirty="0"/>
              <a:t>stateful memory without giving up efficient computation</a:t>
            </a:r>
            <a:r>
              <a:rPr dirty="0"/>
              <a:t>.</a:t>
            </a:r>
          </a:p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r>
              <a:rPr dirty="0"/>
              <a:t>S4 establishes the foundation that Mamba later modifies with selection.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From S4 to Mamba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48056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183879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D4ED8"/>
                </a:solidFill>
                <a:latin typeface="Aptos Display"/>
              </a:defRPr>
            </a:pPr>
            <a:r>
              <a:t>S4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t>Structured long-sequence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47857"/>
                </a:solidFill>
                <a:latin typeface="Aptos Display"/>
              </a:defRPr>
            </a:pPr>
            <a:r>
              <a:t>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t>Input-dependent state updates.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B45309"/>
                </a:solidFill>
                <a:latin typeface="Aptos Display"/>
              </a:defRPr>
            </a:pPr>
            <a:r>
              <a:t>Mamba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t>Linear-time sequence modeling.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central change is that Mamba decides what information to keep or update based on the current token.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649665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/>
              <a:t>Mamba: Selective State Spaces</a:t>
            </a:r>
            <a:r>
              <a:rPr lang="es-MX" dirty="0"/>
              <a:t> (2023)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33272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Mamba introduces selection into State Space Models.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The model can make its dynamics </a:t>
            </a:r>
            <a:r>
              <a:rPr b="1" dirty="0"/>
              <a:t>depend on the input sequence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This helps it </a:t>
            </a:r>
            <a:r>
              <a:rPr b="1" dirty="0"/>
              <a:t>filter relevant information and ignore less useful tokens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The result is a sequence model that competes with attention while scaling linearly.</a:t>
            </a:r>
          </a:p>
        </p:txBody>
      </p:sp>
      <p:pic>
        <p:nvPicPr>
          <p:cNvPr id="4" name="Picture 3" descr="SELECTIONMAM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49185"/>
            <a:ext cx="10492881" cy="323530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4D733505-0F9D-7190-DB1C-1B71B874EB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305" t="41233" r="25425" b="16077"/>
          <a:stretch>
            <a:fillRect/>
          </a:stretch>
        </p:blipFill>
        <p:spPr>
          <a:xfrm>
            <a:off x="8792555" y="876591"/>
            <a:ext cx="2225965" cy="7970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/>
              <a:t>Mamba Block</a:t>
            </a:r>
          </a:p>
        </p:txBody>
      </p:sp>
      <p:pic>
        <p:nvPicPr>
          <p:cNvPr id="3" name="Picture 2" descr="MAMBA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535" y="950976"/>
            <a:ext cx="3746715" cy="32177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3250" y="1188720"/>
            <a:ext cx="5263830" cy="330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The block combines projection, selective SSM computation, gating, and output projection.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Gating controls how much information passes through the block.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The selective scan allows recurrent-style processing to remain efficient.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This block becomes the reusable unit for later vision and video variants.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6010AFF-14B8-71E3-B44F-9A8CB56E5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920" y="4115634"/>
            <a:ext cx="3588770" cy="27415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AMBA_SL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79" y="1646635"/>
            <a:ext cx="11257042" cy="35647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843DCF-10E2-08ED-2402-C9CF399B0751}"/>
              </a:ext>
            </a:extLst>
          </p:cNvPr>
          <p:cNvSpPr txBox="1"/>
          <p:nvPr/>
        </p:nvSpPr>
        <p:spPr>
          <a:xfrm>
            <a:off x="594360" y="384048"/>
            <a:ext cx="313181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/>
              <a:t>Mamba </a:t>
            </a:r>
            <a:r>
              <a:rPr lang="en-US" noProof="0" dirty="0"/>
              <a:t>Perplexity</a:t>
            </a:r>
            <a:endParaRPr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CCE2411-4070-0625-3693-A47147A45C9F}"/>
              </a:ext>
            </a:extLst>
          </p:cNvPr>
          <p:cNvSpPr/>
          <p:nvPr/>
        </p:nvSpPr>
        <p:spPr>
          <a:xfrm>
            <a:off x="4775200" y="2770909"/>
            <a:ext cx="1173018" cy="369455"/>
          </a:xfrm>
          <a:prstGeom prst="rect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>
              <a:ln>
                <a:solidFill>
                  <a:sysClr val="windowText" lastClr="000000"/>
                </a:solidFill>
              </a:ln>
              <a:noFill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C40F106-7BE2-5147-4887-8EDB64DE07FC}"/>
              </a:ext>
            </a:extLst>
          </p:cNvPr>
          <p:cNvSpPr/>
          <p:nvPr/>
        </p:nvSpPr>
        <p:spPr>
          <a:xfrm>
            <a:off x="10307783" y="2770909"/>
            <a:ext cx="1173018" cy="369455"/>
          </a:xfrm>
          <a:prstGeom prst="rect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>
              <a:ln>
                <a:solidFill>
                  <a:sysClr val="windowText" lastClr="00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42856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37401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/>
              <a:t>Vision Mamba</a:t>
            </a:r>
            <a:r>
              <a:rPr lang="es-MX" dirty="0"/>
              <a:t> (2024)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85799" y="1097280"/>
            <a:ext cx="1069012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Vision Mamba adapts </a:t>
            </a:r>
            <a:r>
              <a:rPr b="1" dirty="0"/>
              <a:t>Mamba from 1-D sequences to image tokens.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The goal is to preserve Transformer-like representation power with linear complexity.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b="1" dirty="0"/>
              <a:t>Bidirectional scanning </a:t>
            </a:r>
            <a:r>
              <a:rPr dirty="0"/>
              <a:t>helps visual tokens exchange information across the image.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This creates the bridge from language sequence modeling to visual representation learning.</a:t>
            </a:r>
          </a:p>
        </p:txBody>
      </p:sp>
      <p:pic>
        <p:nvPicPr>
          <p:cNvPr id="4" name="Picture 3" descr="VISIONMAM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495" y="2728496"/>
            <a:ext cx="9716729" cy="38057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382450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s-MX" dirty="0"/>
              <a:t>Visual Mamba </a:t>
            </a:r>
            <a:r>
              <a:rPr lang="en-US" noProof="0" dirty="0"/>
              <a:t>Results</a:t>
            </a:r>
            <a:endParaRPr dirty="0"/>
          </a:p>
        </p:txBody>
      </p:sp>
      <p:pic>
        <p:nvPicPr>
          <p:cNvPr id="3" name="Picture 2" descr="VMAMBA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142999"/>
            <a:ext cx="10234825" cy="452038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3C4DA10-75D1-3695-6234-7BB48A939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23" y="3241457"/>
            <a:ext cx="11220954" cy="3436187"/>
          </a:xfrm>
          <a:prstGeom prst="rect">
            <a:avLst/>
          </a:prstGeom>
        </p:spPr>
      </p:pic>
      <p:sp>
        <p:nvSpPr>
          <p:cNvPr id="4" name="TextBox 1">
            <a:extLst>
              <a:ext uri="{FF2B5EF4-FFF2-40B4-BE49-F238E27FC236}">
                <a16:creationId xmlns:a16="http://schemas.microsoft.com/office/drawing/2014/main" id="{AF2EABDC-83B7-D4B5-A31C-BFD7DB1183BF}"/>
              </a:ext>
            </a:extLst>
          </p:cNvPr>
          <p:cNvSpPr txBox="1"/>
          <p:nvPr/>
        </p:nvSpPr>
        <p:spPr>
          <a:xfrm>
            <a:off x="594360" y="384048"/>
            <a:ext cx="71368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s-MX" altLang="ja-JP" sz="3000" b="1" dirty="0"/>
              <a:t>VMamba: Visual </a:t>
            </a:r>
            <a:r>
              <a:rPr lang="en-US" sz="3000" b="1" noProof="0" dirty="0"/>
              <a:t>State Space Model</a:t>
            </a:r>
            <a:r>
              <a:rPr lang="es-MX" dirty="0"/>
              <a:t> (2024)</a:t>
            </a:r>
            <a:endParaRPr dirty="0"/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D487DDB3-087C-E1CE-B6DE-7CE150BBDD0C}"/>
              </a:ext>
            </a:extLst>
          </p:cNvPr>
          <p:cNvSpPr txBox="1"/>
          <p:nvPr/>
        </p:nvSpPr>
        <p:spPr>
          <a:xfrm>
            <a:off x="685799" y="1097280"/>
            <a:ext cx="10690123" cy="2144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VMamba extends Mamba from 1D sequential modeling to 2D image understanding by introducing 2D Selective Scan (SS2D) 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Instead of processing image patches as a single serialized sequence (as in Vision Mamba), </a:t>
            </a:r>
            <a:r>
              <a:rPr lang="en-US" b="1" noProof="0" dirty="0"/>
              <a:t>VMamba performs four directional scans</a:t>
            </a:r>
            <a:r>
              <a:rPr lang="en-US" noProof="0" dirty="0"/>
              <a:t>. 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Each scan is processed independently by a Mamba (S6) block, and the outputs are merged to reconstruct the final 2D feature map.</a:t>
            </a:r>
          </a:p>
        </p:txBody>
      </p:sp>
    </p:spTree>
    <p:extLst>
      <p:ext uri="{BB962C8B-B14F-4D97-AF65-F5344CB8AC3E}">
        <p14:creationId xmlns:p14="http://schemas.microsoft.com/office/powerpoint/2010/main" val="13061432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358944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/>
              <a:t>Video Mamba</a:t>
            </a:r>
            <a:r>
              <a:rPr lang="es-MX" dirty="0"/>
              <a:t> (2024)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33272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Video Mamba </a:t>
            </a:r>
            <a:r>
              <a:rPr b="1" dirty="0"/>
              <a:t>extends Mamba-style sequence modeling to video understanding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Video tokens require both </a:t>
            </a:r>
            <a:r>
              <a:rPr b="1" dirty="0"/>
              <a:t>spatial and temporal ordering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The model uses scan strategies to process video efficiently.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This connects State Space Models directly to the earlier video-recognition roadmap.</a:t>
            </a:r>
          </a:p>
        </p:txBody>
      </p:sp>
      <p:pic>
        <p:nvPicPr>
          <p:cNvPr id="4" name="Picture 3" descr="VIDEOMAM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6" y="2747177"/>
            <a:ext cx="9844548" cy="385578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/>
              <a:t>Video Mamba: Masked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6222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Masked modeling trains the model to recover missing visual-temporal information.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This encourages robust video representations without requiring detailed labels.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The idea is useful for learning from large video data where annotation is expensive.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It also connects naturally to future anomaly-detection work.</a:t>
            </a:r>
          </a:p>
        </p:txBody>
      </p:sp>
      <p:pic>
        <p:nvPicPr>
          <p:cNvPr id="4" name="Picture 3" descr="VIDEOMAMBA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550" y="2736111"/>
            <a:ext cx="8614779" cy="400511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90D68A-8BA9-CF98-7E11-6A63EBEE9591}"/>
              </a:ext>
            </a:extLst>
          </p:cNvPr>
          <p:cNvSpPr txBox="1"/>
          <p:nvPr/>
        </p:nvSpPr>
        <p:spPr>
          <a:xfrm>
            <a:off x="594360" y="384048"/>
            <a:ext cx="384214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/>
              <a:t>Video Mamba: </a:t>
            </a:r>
            <a:r>
              <a:rPr lang="en-US" noProof="0" dirty="0"/>
              <a:t>Results</a:t>
            </a:r>
            <a:endParaRPr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2D18240-0E7A-1BED-F023-528FB69FE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2" y="1152677"/>
            <a:ext cx="5297106" cy="440160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D4BA38C-53EA-8A7F-0FFA-A9A00C9A3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310" y="1474923"/>
            <a:ext cx="7204565" cy="4079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337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Evolution of Ideas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69748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89204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8660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81160" y="1874519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D4ED8"/>
                </a:solidFill>
                <a:latin typeface="Aptos Display"/>
              </a:defRPr>
            </a:pPr>
            <a:r>
              <a:t>S4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47857"/>
                </a:solidFill>
                <a:latin typeface="Aptos Display"/>
              </a:defRPr>
            </a:pPr>
            <a:r>
              <a:t>Mamba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B45309"/>
                </a:solidFill>
                <a:latin typeface="Aptos Display"/>
              </a:defRPr>
            </a:pPr>
            <a:r>
              <a:t>Vim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75985"/>
                </a:solidFill>
                <a:latin typeface="Aptos Display"/>
              </a:defRPr>
            </a:pPr>
            <a:r>
              <a:t>VMamba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54896" y="2221992"/>
            <a:ext cx="20299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E123C"/>
                </a:solidFill>
                <a:latin typeface="Aptos Display"/>
              </a:defRPr>
            </a:pPr>
            <a:r>
              <a:t>Video Mamba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49039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From structured state-space memory.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selective input-dependent sequence modeling.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image token scanning and visual representations.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efficient video sequence modeling across space and time.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What Is Already in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conceptual foundation for State Space Models and S4.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clear transition from fixed SSM dynamics to selective SSMs.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An understanding of the Mamba block and selective scan.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bridge from Mamba to visual models through Vision Mamba and VMamba.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first map of how Video Mamba can support long video understanding.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Suggested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1210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dirty="0"/>
              <a:t>Decide whether Mamba-based models are useful as backbones for surveillance anomaly detection.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Advance to Anomaly Detection with Mamba backbone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5BEA950-4799-00BB-201B-D7E6A39D7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450" y="2637052"/>
            <a:ext cx="8896068" cy="31614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826</Words>
  <Application>Microsoft Office PowerPoint</Application>
  <PresentationFormat>Panorámica</PresentationFormat>
  <Paragraphs>92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 Math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admin</cp:lastModifiedBy>
  <cp:revision>45</cp:revision>
  <dcterms:created xsi:type="dcterms:W3CDTF">2013-01-27T09:14:16Z</dcterms:created>
  <dcterms:modified xsi:type="dcterms:W3CDTF">2026-07-27T02:41:27Z</dcterms:modified>
  <cp:category/>
</cp:coreProperties>
</file>