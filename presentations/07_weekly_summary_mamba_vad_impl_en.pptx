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86" r:id="rId6"/>
    <p:sldId id="281" r:id="rId7"/>
    <p:sldId id="287" r:id="rId8"/>
    <p:sldId id="261" r:id="rId9"/>
    <p:sldId id="288" r:id="rId10"/>
    <p:sldId id="28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5" d="100"/>
          <a:sy n="165" d="100"/>
        </p:scale>
        <p:origin x="96" y="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C6B71-9F91-4F0D-A82F-6C6408E62C5B}" type="datetimeFigureOut">
              <a:rPr kumimoji="1" lang="en-US" smtClean="0"/>
              <a:t>10/13/2026</a:t>
            </a:fld>
            <a:endParaRPr kumimoji="1"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s-MX"/>
              <a:t>Haga clic para modificar los estilos de texto del patrón</a:t>
            </a:r>
          </a:p>
          <a:p>
            <a:pPr lvl="1"/>
            <a:r>
              <a:rPr kumimoji="1" lang="es-MX"/>
              <a:t>Segundo nivel</a:t>
            </a:r>
          </a:p>
          <a:p>
            <a:pPr lvl="2"/>
            <a:r>
              <a:rPr kumimoji="1" lang="es-MX"/>
              <a:t>Tercer nivel</a:t>
            </a:r>
          </a:p>
          <a:p>
            <a:pPr lvl="3"/>
            <a:r>
              <a:rPr kumimoji="1" lang="es-MX"/>
              <a:t>Cuarto nivel</a:t>
            </a:r>
          </a:p>
          <a:p>
            <a:pPr lvl="4"/>
            <a:r>
              <a:rPr kumimoji="1" lang="es-MX"/>
              <a:t>Quinto nivel</a:t>
            </a:r>
            <a:endParaRPr kumimoji="1"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423E1-5CF0-47A8-84E4-4468CEB2B5CE}" type="slidenum">
              <a:rPr kumimoji="1" lang="en-US" smtClean="0"/>
              <a:t>‹Nº›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63169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423E1-5CF0-47A8-84E4-4468CEB2B5CE}" type="slidenum">
              <a:rPr kumimoji="1" lang="en-US" smtClean="0"/>
              <a:t>4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687598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423E1-5CF0-47A8-84E4-4468CEB2B5CE}" type="slidenum">
              <a:rPr kumimoji="1" lang="en-US" smtClean="0"/>
              <a:t>5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64814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423E1-5CF0-47A8-84E4-4468CEB2B5CE}" type="slidenum">
              <a:rPr kumimoji="1" lang="en-US" smtClean="0"/>
              <a:t>6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399658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423E1-5CF0-47A8-84E4-4468CEB2B5CE}" type="slidenum">
              <a:rPr kumimoji="1" lang="en-US" smtClean="0"/>
              <a:t>7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38374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60660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Reproduction </a:t>
            </a:r>
            <a:r>
              <a:rPr lang="en-US" noProof="0" dirty="0"/>
              <a:t>Mamba-based video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Reviewed actual </a:t>
            </a:r>
            <a:r>
              <a:rPr lang="en-US" b="1" noProof="0" dirty="0"/>
              <a:t>implementation</a:t>
            </a:r>
            <a:r>
              <a:rPr lang="en-US" noProof="0" dirty="0"/>
              <a:t> of </a:t>
            </a:r>
            <a:r>
              <a:rPr lang="en-US" b="1" noProof="0" dirty="0" err="1"/>
              <a:t>VADMamba</a:t>
            </a:r>
            <a:r>
              <a:rPr lang="en-US" noProof="0" dirty="0"/>
              <a:t>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55C4933-6615-A0E1-0FCE-AF94D374EED4}"/>
              </a:ext>
            </a:extLst>
          </p:cNvPr>
          <p:cNvSpPr txBox="1"/>
          <p:nvPr/>
        </p:nvSpPr>
        <p:spPr>
          <a:xfrm>
            <a:off x="6782224" y="6082077"/>
            <a:ext cx="52940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b="1" noProof="0" dirty="0"/>
              <a:t>PACHECO MARTÍNEZ MÁXIMO ENRIQUE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Review the </a:t>
            </a:r>
            <a:r>
              <a:rPr lang="en-US" noProof="0" dirty="0" err="1"/>
              <a:t>arquitecture</a:t>
            </a:r>
            <a:r>
              <a:rPr lang="en-US" noProof="0" dirty="0"/>
              <a:t> of </a:t>
            </a:r>
            <a:r>
              <a:rPr lang="en-US" noProof="0" dirty="0" err="1"/>
              <a:t>VADMamba</a:t>
            </a:r>
            <a:r>
              <a:rPr lang="en-US" noProof="0" dirty="0"/>
              <a:t> more in depth.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See results from some epochs based on the original </a:t>
            </a:r>
            <a:r>
              <a:rPr lang="en-US" noProof="0" dirty="0" err="1"/>
              <a:t>github</a:t>
            </a:r>
            <a:r>
              <a:rPr lang="en-US" noProof="0" dirty="0"/>
              <a:t>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Reproducing a paper is important in order to understand in depth the </a:t>
            </a:r>
            <a:r>
              <a:rPr lang="en-US" noProof="0" dirty="0" err="1"/>
              <a:t>arquitecture</a:t>
            </a:r>
            <a:r>
              <a:rPr lang="en-US" noProof="0"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Mamba can be use as a backbone for Anomaly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880904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is trained only on normal videos, not weak video-level anomaly labels.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Detects anomalies through  </a:t>
            </a:r>
            <a:r>
              <a:rPr lang="en-US" b="1" dirty="0"/>
              <a:t>frame</a:t>
            </a:r>
            <a:r>
              <a:rPr lang="en-US" dirty="0"/>
              <a:t> </a:t>
            </a:r>
            <a:r>
              <a:rPr lang="en-US" altLang="ja-JP" b="1" dirty="0"/>
              <a:t>prediction</a:t>
            </a:r>
            <a:r>
              <a:rPr lang="en-US" altLang="ja-JP" dirty="0"/>
              <a:t> and </a:t>
            </a:r>
            <a:r>
              <a:rPr lang="en-US" altLang="ja-JP" b="1" dirty="0"/>
              <a:t>optical-flow</a:t>
            </a:r>
            <a:r>
              <a:rPr lang="en-US" altLang="ja-JP" dirty="0"/>
              <a:t> </a:t>
            </a:r>
            <a:r>
              <a:rPr lang="en-US" altLang="ja-JP" b="1" dirty="0"/>
              <a:t>reconstruction </a:t>
            </a:r>
            <a:r>
              <a:rPr lang="en-US" altLang="ja-JP" dirty="0"/>
              <a:t>(</a:t>
            </a:r>
            <a:r>
              <a:rPr lang="en-US" noProof="0" dirty="0"/>
              <a:t>proxy tasks).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7081258-1EDA-5FD2-0437-C7F02597A650}"/>
              </a:ext>
            </a:extLst>
          </p:cNvPr>
          <p:cNvGrpSpPr/>
          <p:nvPr/>
        </p:nvGrpSpPr>
        <p:grpSpPr>
          <a:xfrm>
            <a:off x="685800" y="2846125"/>
            <a:ext cx="5880904" cy="1881850"/>
            <a:chOff x="6172200" y="1325882"/>
            <a:chExt cx="4754880" cy="2860412"/>
          </a:xfrm>
        </p:grpSpPr>
        <p:sp>
          <p:nvSpPr>
            <p:cNvPr id="4" name="Rounded Rectangle 3"/>
            <p:cNvSpPr/>
            <p:nvPr/>
          </p:nvSpPr>
          <p:spPr>
            <a:xfrm>
              <a:off x="6172200" y="1325882"/>
              <a:ext cx="4754880" cy="2860412"/>
            </a:xfrm>
            <a:prstGeom prst="roundRect">
              <a:avLst>
                <a:gd name="adj" fmla="val 8000"/>
              </a:avLst>
            </a:prstGeom>
            <a:solidFill>
              <a:srgbClr val="FEF3C7"/>
            </a:solidFill>
            <a:ln>
              <a:solidFill>
                <a:srgbClr val="FEF3C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92240" y="1455211"/>
              <a:ext cx="4114800" cy="411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600" b="1">
                  <a:solidFill>
                    <a:srgbClr val="B45309"/>
                  </a:solidFill>
                  <a:latin typeface="Aptos Display"/>
                </a:defRPr>
              </a:pPr>
              <a:r>
                <a:rPr lang="en-US" noProof="0" dirty="0"/>
                <a:t>Contribution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92240" y="2219920"/>
              <a:ext cx="4069080" cy="1446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defRPr sz="2200" b="0">
                  <a:solidFill>
                    <a:srgbClr val="4B5563"/>
                  </a:solidFill>
                  <a:latin typeface="Aptos"/>
                </a:defRPr>
              </a:pPr>
              <a:r>
                <a:rPr lang="en-US" noProof="0" dirty="0"/>
                <a:t>It shows that Mamba can replace CNN or Transformer temporal modules in efficient unsupervised VAD.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8AF8CF4B-5025-070F-E846-D7150E03E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066" y="557916"/>
            <a:ext cx="3387524" cy="526030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32A3CD7E-897E-758D-AE8E-D7F26EB41E62}"/>
              </a:ext>
            </a:extLst>
          </p:cNvPr>
          <p:cNvSpPr txBox="1"/>
          <p:nvPr/>
        </p:nvSpPr>
        <p:spPr>
          <a:xfrm>
            <a:off x="685800" y="5084213"/>
            <a:ext cx="6077673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sz="1600" b="1" i="1" dirty="0">
                <a:solidFill>
                  <a:srgbClr val="FF0000"/>
                </a:solidFill>
              </a:rPr>
              <a:t>NO PARALLEL TRAINING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  <a:r>
              <a:rPr lang="en-US" sz="1600" i="1" dirty="0"/>
              <a:t>because the two tasks converge at different speeds.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sz="1600" b="1" i="1" dirty="0">
                <a:solidFill>
                  <a:srgbClr val="FF0000"/>
                </a:solidFill>
              </a:rPr>
              <a:t>MODEL IMPLEMENTATION ACCEPTS RGB IMAGES</a:t>
            </a:r>
            <a:r>
              <a:rPr lang="en-US" sz="1600" i="1" dirty="0"/>
              <a:t>, image on grayscale is just how dataset of PED2 it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/>
          <p:nvPr/>
        </p:nvSpPr>
        <p:spPr>
          <a:xfrm>
            <a:off x="594360" y="384048"/>
            <a:ext cx="433644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VADMamba: Architecture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C28499D-20BD-5B76-E5D3-02240A8F3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25488"/>
            <a:ext cx="10968967" cy="488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01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85099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 err="1"/>
              <a:t>VADMamba</a:t>
            </a:r>
            <a:r>
              <a:rPr lang="en-US" noProof="0" dirty="0"/>
              <a:t>: Inference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2FFB8F-66CF-5FAA-8D7F-899F5750C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169" y="938046"/>
            <a:ext cx="8679026" cy="578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8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56573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 err="1"/>
              <a:t>VADMamba</a:t>
            </a:r>
            <a:r>
              <a:rPr lang="en-US" noProof="0" dirty="0"/>
              <a:t>: Paper Results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640D363-E0BD-7314-B712-01E33B08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80" y="950976"/>
            <a:ext cx="10251440" cy="533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3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6071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VADMamba: Reproduced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39" y="1207008"/>
            <a:ext cx="1927379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20 epochs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dirty="0" err="1"/>
              <a:t>Pytorch</a:t>
            </a:r>
            <a:endParaRPr lang="en-US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FlowNet2SD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dirty="0" err="1"/>
              <a:t>AdamW</a:t>
            </a:r>
            <a:endParaRPr lang="en-US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Lr = 2e-4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7045C8-B3DC-5CE7-A32C-0899AB385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019" y="938046"/>
            <a:ext cx="9030185" cy="57595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6071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VADMamba: Reproduced Results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507F26-53B0-7381-1883-56CA7DEC7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51" y="1406458"/>
            <a:ext cx="5759746" cy="41531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D25433-56DF-0570-C573-F7CB4A345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34" y="1406458"/>
            <a:ext cx="5682215" cy="415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218944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Improve the quality of the model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Verify correct representation of Anomaly and Normal labels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Continue to next paper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497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0317" y="1859339"/>
            <a:ext cx="4751365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THANK YOU </a:t>
            </a:r>
          </a:p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FOR YOUR </a:t>
            </a:r>
          </a:p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ATTENTION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87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201</Words>
  <Application>Microsoft Office PowerPoint</Application>
  <PresentationFormat>Panorámica</PresentationFormat>
  <Paragraphs>39</Paragraphs>
  <Slides>11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游ゴシック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Maximo Pacheco</cp:lastModifiedBy>
  <cp:revision>29</cp:revision>
  <dcterms:created xsi:type="dcterms:W3CDTF">2013-01-27T09:14:16Z</dcterms:created>
  <dcterms:modified xsi:type="dcterms:W3CDTF">2026-10-12T23:14:07Z</dcterms:modified>
  <cp:category/>
</cp:coreProperties>
</file>