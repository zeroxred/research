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72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8" d="100"/>
          <a:sy n="118" d="100"/>
        </p:scale>
        <p:origin x="27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3C6B71-9F91-4F0D-A82F-6C6408E62C5B}" type="datetimeFigureOut">
              <a:rPr kumimoji="1" lang="en-US" smtClean="0"/>
              <a:t>9/26/2026</a:t>
            </a:fld>
            <a:endParaRPr kumimoji="1"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es-MX"/>
              <a:t>Haga clic para modificar los estilos de texto del patrón</a:t>
            </a:r>
          </a:p>
          <a:p>
            <a:pPr lvl="1"/>
            <a:r>
              <a:rPr kumimoji="1" lang="es-MX"/>
              <a:t>Segundo nivel</a:t>
            </a:r>
          </a:p>
          <a:p>
            <a:pPr lvl="2"/>
            <a:r>
              <a:rPr kumimoji="1" lang="es-MX"/>
              <a:t>Tercer nivel</a:t>
            </a:r>
          </a:p>
          <a:p>
            <a:pPr lvl="3"/>
            <a:r>
              <a:rPr kumimoji="1" lang="es-MX"/>
              <a:t>Cuarto nivel</a:t>
            </a:r>
          </a:p>
          <a:p>
            <a:pPr lvl="4"/>
            <a:r>
              <a:rPr kumimoji="1" lang="es-MX"/>
              <a:t>Quinto nivel</a:t>
            </a:r>
            <a:endParaRPr kumimoji="1"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8423E1-5CF0-47A8-84E4-4468CEB2B5CE}" type="slidenum">
              <a:rPr kumimoji="1" lang="en-US" smtClean="0"/>
              <a:t>‹Nº›</a:t>
            </a:fld>
            <a:endParaRPr kumimoji="1" lang="en-US"/>
          </a:p>
        </p:txBody>
      </p:sp>
    </p:spTree>
    <p:extLst>
      <p:ext uri="{BB962C8B-B14F-4D97-AF65-F5344CB8AC3E}">
        <p14:creationId xmlns:p14="http://schemas.microsoft.com/office/powerpoint/2010/main" val="36316911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8423E1-5CF0-47A8-84E4-4468CEB2B5CE}" type="slidenum">
              <a:rPr kumimoji="1" lang="en-US" smtClean="0"/>
              <a:t>6</a:t>
            </a:fld>
            <a:endParaRPr kumimoji="1" lang="en-US"/>
          </a:p>
        </p:txBody>
      </p:sp>
    </p:spTree>
    <p:extLst>
      <p:ext uri="{BB962C8B-B14F-4D97-AF65-F5344CB8AC3E}">
        <p14:creationId xmlns:p14="http://schemas.microsoft.com/office/powerpoint/2010/main" val="1687598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Weekly Progress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514600"/>
            <a:ext cx="9875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Mamba-based video anomaly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3273552"/>
            <a:ext cx="2011680" cy="4572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713232" y="3703320"/>
            <a:ext cx="10149840" cy="1913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Started the </a:t>
            </a:r>
            <a:r>
              <a:rPr lang="en-US" b="1" noProof="0" dirty="0"/>
              <a:t>Mamba-for-VAD</a:t>
            </a:r>
            <a:r>
              <a:rPr lang="en-US" noProof="0" dirty="0"/>
              <a:t> block after the general Video Mamba foundation.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Reviewed </a:t>
            </a:r>
            <a:r>
              <a:rPr lang="en-US" b="1" noProof="0" dirty="0"/>
              <a:t>unsupervised</a:t>
            </a:r>
            <a:r>
              <a:rPr lang="en-US" noProof="0" dirty="0"/>
              <a:t> </a:t>
            </a:r>
            <a:r>
              <a:rPr lang="en-US" b="1" noProof="0" dirty="0"/>
              <a:t>VAD</a:t>
            </a:r>
            <a:r>
              <a:rPr lang="en-US" noProof="0" dirty="0"/>
              <a:t> papers that use Mamba as an efficient temporal backbone.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b="1" noProof="0" dirty="0"/>
              <a:t>Connected</a:t>
            </a:r>
            <a:r>
              <a:rPr lang="en-US" noProof="0" dirty="0"/>
              <a:t> the Mamba line back </a:t>
            </a:r>
            <a:r>
              <a:rPr lang="en-US" b="1" noProof="0" dirty="0"/>
              <a:t>to</a:t>
            </a:r>
            <a:r>
              <a:rPr lang="en-US" noProof="0" dirty="0"/>
              <a:t> </a:t>
            </a:r>
            <a:r>
              <a:rPr lang="en-US" b="1" noProof="0" dirty="0"/>
              <a:t>WSVAD</a:t>
            </a:r>
            <a:r>
              <a:rPr lang="en-US" noProof="0" dirty="0"/>
              <a:t> through multilingual prompt-guided learning.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Narrative of the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07008"/>
            <a:ext cx="1042416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previous block established why Mamba is attractive for long video sequences.</a:t>
            </a:r>
          </a:p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This block asks a more specific question: </a:t>
            </a:r>
            <a:r>
              <a:rPr lang="en-US" b="1" noProof="0" dirty="0"/>
              <a:t>how is Mamba used in video anomaly detection</a:t>
            </a:r>
            <a:r>
              <a:rPr lang="en-US" noProof="0" dirty="0"/>
              <a:t>?</a:t>
            </a:r>
          </a:p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first papers are mostly </a:t>
            </a:r>
            <a:r>
              <a:rPr lang="en-US" b="1" noProof="0" dirty="0"/>
              <a:t>unsupervised</a:t>
            </a:r>
            <a:r>
              <a:rPr lang="en-US" noProof="0" dirty="0"/>
              <a:t>: they learn normality and detect deviations.</a:t>
            </a:r>
          </a:p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lang="en-US" b="1" noProof="0" dirty="0"/>
              <a:t>The final paper reconnects</a:t>
            </a:r>
            <a:r>
              <a:rPr lang="en-US" noProof="0" dirty="0"/>
              <a:t> the discussion to </a:t>
            </a:r>
            <a:r>
              <a:rPr lang="en-US" b="1" noProof="0" dirty="0"/>
              <a:t>weak supervision</a:t>
            </a:r>
            <a:r>
              <a:rPr lang="en-US" noProof="0" dirty="0"/>
              <a:t>, CLIP, prompts, and temporal reasoning.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Why This Step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VAD requires temporal memory because anomalies may unfold slowly or appear briefly.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Transformers provide global reasoning but can be expensive for long surveillance videos.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Mamba offers linear-time sequence modeling and a practical path for long-range temporal context.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key </a:t>
            </a:r>
            <a:r>
              <a:rPr lang="en-US" b="1" noProof="0" dirty="0"/>
              <a:t>is deciding whether Mamba should replace, complement, or simply strengthen existing VAD pipelines</a:t>
            </a:r>
            <a:r>
              <a:rPr lang="en-US" noProof="0" dirty="0"/>
              <a:t>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46520" y="1143000"/>
            <a:ext cx="4846320" cy="3566160"/>
          </a:xfrm>
          <a:prstGeom prst="roundRect">
            <a:avLst>
              <a:gd name="adj" fmla="val 8000"/>
            </a:avLst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6720840" y="153619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Key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2212848"/>
            <a:ext cx="4160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work shifts from understanding Mamba as a video backbone to evaluating Mamba as a VAD design choice.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Two VAD Directions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25880"/>
            <a:ext cx="5257800" cy="3749039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Rounded Rectangle 3"/>
          <p:cNvSpPr/>
          <p:nvPr/>
        </p:nvSpPr>
        <p:spPr>
          <a:xfrm>
            <a:off x="6217920" y="1325880"/>
            <a:ext cx="5257800" cy="3749039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1051560" y="169164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D4ED8"/>
                </a:solidFill>
                <a:latin typeface="Aptos Display"/>
              </a:defRPr>
            </a:pPr>
            <a:r>
              <a:rPr lang="en-US" noProof="0" dirty="0"/>
              <a:t>Unsupervised VAD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331720"/>
            <a:ext cx="4526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Training uses normal videos.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Anomalies are detected through reconstruction or prediction errors.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Typical datasets: Ped2, Avenue, </a:t>
            </a:r>
            <a:r>
              <a:rPr lang="en-US" noProof="0" dirty="0" err="1"/>
              <a:t>ShanghaiTech</a:t>
            </a:r>
            <a:r>
              <a:rPr lang="en-US" noProof="0" dirty="0"/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169164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47857"/>
                </a:solidFill>
                <a:latin typeface="Aptos Display"/>
              </a:defRPr>
            </a:pPr>
            <a:r>
              <a:rPr lang="en-US" noProof="0" dirty="0"/>
              <a:t>Weakly Supervised VAD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2331720"/>
            <a:ext cx="4526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Training uses video-level labels.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model learns to localize anomalous segments.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Typical datasets: UCF-Crime, XD-Violence.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2FEEA8-A432-33BA-697D-136D40CF2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1">
            <a:extLst>
              <a:ext uri="{FF2B5EF4-FFF2-40B4-BE49-F238E27FC236}">
                <a16:creationId xmlns:a16="http://schemas.microsoft.com/office/drawing/2014/main" id="{94AD2C92-91B5-BEB7-D46C-7EF842908ABA}"/>
              </a:ext>
            </a:extLst>
          </p:cNvPr>
          <p:cNvSpPr txBox="1"/>
          <p:nvPr/>
        </p:nvSpPr>
        <p:spPr>
          <a:xfrm>
            <a:off x="594360" y="384048"/>
            <a:ext cx="287835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Papers to review</a:t>
            </a:r>
          </a:p>
        </p:txBody>
      </p:sp>
      <p:graphicFrame>
        <p:nvGraphicFramePr>
          <p:cNvPr id="10" name="Tabla 9">
            <a:extLst>
              <a:ext uri="{FF2B5EF4-FFF2-40B4-BE49-F238E27FC236}">
                <a16:creationId xmlns:a16="http://schemas.microsoft.com/office/drawing/2014/main" id="{E91377F1-1D28-61FD-526F-35CBCEDAB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922507"/>
              </p:ext>
            </p:extLst>
          </p:nvPr>
        </p:nvGraphicFramePr>
        <p:xfrm>
          <a:off x="805180" y="1426633"/>
          <a:ext cx="10581639" cy="4317998"/>
        </p:xfrm>
        <a:graphic>
          <a:graphicData uri="http://schemas.openxmlformats.org/drawingml/2006/table">
            <a:tbl>
              <a:tblPr/>
              <a:tblGrid>
                <a:gridCol w="6560820">
                  <a:extLst>
                    <a:ext uri="{9D8B030D-6E8A-4147-A177-3AD203B41FA5}">
                      <a16:colId xmlns:a16="http://schemas.microsoft.com/office/drawing/2014/main" val="1733263843"/>
                    </a:ext>
                  </a:extLst>
                </a:gridCol>
                <a:gridCol w="1536700">
                  <a:extLst>
                    <a:ext uri="{9D8B030D-6E8A-4147-A177-3AD203B41FA5}">
                      <a16:colId xmlns:a16="http://schemas.microsoft.com/office/drawing/2014/main" val="3710063167"/>
                    </a:ext>
                  </a:extLst>
                </a:gridCol>
                <a:gridCol w="2484119">
                  <a:extLst>
                    <a:ext uri="{9D8B030D-6E8A-4147-A177-3AD203B41FA5}">
                      <a16:colId xmlns:a16="http://schemas.microsoft.com/office/drawing/2014/main" val="731748920"/>
                    </a:ext>
                  </a:extLst>
                </a:gridCol>
              </a:tblGrid>
              <a:tr h="407772">
                <a:tc>
                  <a:txBody>
                    <a:bodyPr/>
                    <a:lstStyle/>
                    <a:p>
                      <a:r>
                        <a:rPr lang="en-US" sz="2000" b="1" noProof="0" dirty="0">
                          <a:effectLst/>
                        </a:rPr>
                        <a:t>Paper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b="1" noProof="0" dirty="0">
                          <a:effectLst/>
                        </a:rPr>
                        <a:t>Year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b="1" noProof="0" dirty="0">
                          <a:effectLst/>
                        </a:rPr>
                        <a:t>VAD Type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0830352"/>
                  </a:ext>
                </a:extLst>
              </a:tr>
              <a:tr h="744848">
                <a:tc>
                  <a:txBody>
                    <a:bodyPr/>
                    <a:lstStyle/>
                    <a:p>
                      <a:r>
                        <a:rPr lang="en-US" sz="2000" b="1" noProof="0" dirty="0">
                          <a:effectLst/>
                        </a:rPr>
                        <a:t>VADMamba</a:t>
                      </a:r>
                      <a:r>
                        <a:rPr lang="en-US" sz="2000" noProof="0" dirty="0">
                          <a:effectLst/>
                        </a:rPr>
                        <a:t>: Exploring State Space Models for Fast Video Anomaly Detection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noProof="0" dirty="0">
                          <a:effectLst/>
                        </a:rPr>
                        <a:t>2025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b="0" noProof="0" dirty="0">
                          <a:effectLst/>
                        </a:rPr>
                        <a:t>Unsupervised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2283471"/>
                  </a:ext>
                </a:extLst>
              </a:tr>
              <a:tr h="860248">
                <a:tc>
                  <a:txBody>
                    <a:bodyPr/>
                    <a:lstStyle/>
                    <a:p>
                      <a:r>
                        <a:rPr lang="en-US" sz="2000" b="1" noProof="0" dirty="0">
                          <a:effectLst/>
                        </a:rPr>
                        <a:t>STNMamba</a:t>
                      </a:r>
                      <a:r>
                        <a:rPr lang="en-US" sz="2000" noProof="0" dirty="0">
                          <a:effectLst/>
                        </a:rPr>
                        <a:t>: Mamba-based Spatial-Temporal Normality Learning for Video Anomaly Detection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noProof="0" dirty="0">
                          <a:effectLst/>
                        </a:rPr>
                        <a:t>2024/2025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b="0" noProof="0" dirty="0">
                          <a:effectLst/>
                        </a:rPr>
                        <a:t>Unsupervised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653355"/>
                  </a:ext>
                </a:extLst>
              </a:tr>
              <a:tr h="860248">
                <a:tc>
                  <a:txBody>
                    <a:bodyPr/>
                    <a:lstStyle/>
                    <a:p>
                      <a:r>
                        <a:rPr lang="en-US" sz="2000" b="1" noProof="0" dirty="0">
                          <a:effectLst/>
                        </a:rPr>
                        <a:t>M²S²L</a:t>
                      </a:r>
                      <a:r>
                        <a:rPr lang="en-US" sz="2000" noProof="0" dirty="0">
                          <a:effectLst/>
                        </a:rPr>
                        <a:t>: Mamba-based Multi-Scale Spatial-temporal Learning for Video Anomaly Detection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noProof="0" dirty="0">
                          <a:effectLst/>
                        </a:rPr>
                        <a:t>2025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b="0" noProof="0" dirty="0">
                          <a:effectLst/>
                        </a:rPr>
                        <a:t>Unsupervised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1318164"/>
                  </a:ext>
                </a:extLst>
              </a:tr>
              <a:tr h="407772">
                <a:tc>
                  <a:txBody>
                    <a:bodyPr/>
                    <a:lstStyle/>
                    <a:p>
                      <a:r>
                        <a:rPr lang="en-US" sz="2000" b="1" noProof="0" dirty="0">
                          <a:effectLst/>
                        </a:rPr>
                        <a:t>VADMamba++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noProof="0" dirty="0">
                          <a:effectLst/>
                        </a:rPr>
                        <a:t>2026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b="0" noProof="0" dirty="0">
                          <a:effectLst/>
                        </a:rPr>
                        <a:t>Unsupervised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587782"/>
                  </a:ext>
                </a:extLst>
              </a:tr>
              <a:tr h="1037110">
                <a:tc>
                  <a:txBody>
                    <a:bodyPr/>
                    <a:lstStyle/>
                    <a:p>
                      <a:r>
                        <a:rPr lang="en-US" sz="2000" b="1" noProof="0" dirty="0">
                          <a:effectLst/>
                        </a:rPr>
                        <a:t>Multilingual-Prompt-Guided</a:t>
                      </a:r>
                      <a:r>
                        <a:rPr lang="en-US" sz="2000" noProof="0" dirty="0">
                          <a:effectLst/>
                        </a:rPr>
                        <a:t> Directional Feature Learning for Weakly Supervised Video Anomaly Detection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b="0" noProof="0" dirty="0">
                          <a:effectLst/>
                        </a:rPr>
                        <a:t>2025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2000" noProof="0" dirty="0">
                          <a:effectLst/>
                        </a:rPr>
                        <a:t>Weakly Supervised</a:t>
                      </a:r>
                    </a:p>
                  </a:txBody>
                  <a:tcPr marL="69253" marR="69253" marT="31963" marB="31963" anchor="ctr">
                    <a:lnL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8790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70684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VADMamba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074920" cy="2144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It is trained only on normal videos, not weak video-level anomaly labels.</a:t>
            </a:r>
          </a:p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dirty="0"/>
              <a:t>Detects anomalies through </a:t>
            </a:r>
            <a:r>
              <a:rPr lang="en-US" altLang="ja-JP" dirty="0"/>
              <a:t>prediction and reconstruction.</a:t>
            </a:r>
            <a:endParaRPr lang="en-US" noProof="0" dirty="0"/>
          </a:p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model uses </a:t>
            </a:r>
            <a:r>
              <a:rPr lang="en-US" b="1" noProof="0" dirty="0"/>
              <a:t>frame prediction</a:t>
            </a:r>
            <a:r>
              <a:rPr lang="en-US" noProof="0" dirty="0"/>
              <a:t> and </a:t>
            </a:r>
            <a:r>
              <a:rPr lang="en-US" b="1" noProof="0" dirty="0"/>
              <a:t>optical-flow reconstruction </a:t>
            </a:r>
            <a:r>
              <a:rPr lang="en-US" noProof="0" dirty="0"/>
              <a:t>as proxy tasks.</a:t>
            </a:r>
          </a:p>
        </p:txBody>
      </p:sp>
      <p:grpSp>
        <p:nvGrpSpPr>
          <p:cNvPr id="8" name="Grupo 7">
            <a:extLst>
              <a:ext uri="{FF2B5EF4-FFF2-40B4-BE49-F238E27FC236}">
                <a16:creationId xmlns:a16="http://schemas.microsoft.com/office/drawing/2014/main" id="{37081258-1EDA-5FD2-0437-C7F02597A650}"/>
              </a:ext>
            </a:extLst>
          </p:cNvPr>
          <p:cNvGrpSpPr/>
          <p:nvPr/>
        </p:nvGrpSpPr>
        <p:grpSpPr>
          <a:xfrm>
            <a:off x="6172200" y="1143000"/>
            <a:ext cx="4754880" cy="2144177"/>
            <a:chOff x="6172200" y="1325880"/>
            <a:chExt cx="4754880" cy="3259149"/>
          </a:xfrm>
        </p:grpSpPr>
        <p:sp>
          <p:nvSpPr>
            <p:cNvPr id="4" name="Rounded Rectangle 3"/>
            <p:cNvSpPr/>
            <p:nvPr/>
          </p:nvSpPr>
          <p:spPr>
            <a:xfrm>
              <a:off x="6172200" y="1325880"/>
              <a:ext cx="4754880" cy="3259149"/>
            </a:xfrm>
            <a:prstGeom prst="roundRect">
              <a:avLst>
                <a:gd name="adj" fmla="val 8000"/>
              </a:avLst>
            </a:prstGeom>
            <a:solidFill>
              <a:srgbClr val="FEF3C7"/>
            </a:solidFill>
            <a:ln>
              <a:solidFill>
                <a:srgbClr val="FEF3C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492240" y="1455211"/>
              <a:ext cx="4114800" cy="4114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2600" b="1">
                  <a:solidFill>
                    <a:srgbClr val="B45309"/>
                  </a:solidFill>
                  <a:latin typeface="Aptos Display"/>
                </a:defRPr>
              </a:pPr>
              <a:r>
                <a:rPr lang="en-US" noProof="0" dirty="0"/>
                <a:t>Contribution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492240" y="2219920"/>
              <a:ext cx="4069080" cy="144655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>
                <a:defRPr sz="2200" b="0">
                  <a:solidFill>
                    <a:srgbClr val="4B5563"/>
                  </a:solidFill>
                  <a:latin typeface="Aptos"/>
                </a:defRPr>
              </a:pPr>
              <a:r>
                <a:rPr lang="en-US" noProof="0" dirty="0"/>
                <a:t>It shows that Mamba can replace CNN or Transformer temporal modules in efficient unsupervised VAD.</a:t>
              </a:r>
            </a:p>
          </p:txBody>
        </p:sp>
      </p:grpSp>
      <p:sp>
        <p:nvSpPr>
          <p:cNvPr id="7" name="TextBox 2">
            <a:extLst>
              <a:ext uri="{FF2B5EF4-FFF2-40B4-BE49-F238E27FC236}">
                <a16:creationId xmlns:a16="http://schemas.microsoft.com/office/drawing/2014/main" id="{8A84D128-FCD4-610A-FADE-D348ACDFFE62}"/>
              </a:ext>
            </a:extLst>
          </p:cNvPr>
          <p:cNvSpPr txBox="1"/>
          <p:nvPr/>
        </p:nvSpPr>
        <p:spPr>
          <a:xfrm>
            <a:off x="655320" y="4414748"/>
            <a:ext cx="10881360" cy="1426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b="1" dirty="0"/>
              <a:t>Prediction: </a:t>
            </a:r>
          </a:p>
          <a:p>
            <a:pPr algn="just"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b="1" dirty="0"/>
              <a:t>Reconstruction:</a:t>
            </a:r>
            <a:r>
              <a:rPr lang="en-US" dirty="0"/>
              <a:t> </a:t>
            </a:r>
            <a:r>
              <a:rPr lang="en-US" altLang="ja-JP" dirty="0"/>
              <a:t>Consists of reconstructing the input frame (or its representation). T</a:t>
            </a:r>
            <a:r>
              <a:rPr lang="en-US" altLang="ja-JP" sz="2000" dirty="0"/>
              <a:t>he model may reconstruct the anomalous frame less accurately; therefore, </a:t>
            </a:r>
            <a:r>
              <a:rPr lang="en-US" altLang="ja-JP" sz="2000" b="1" dirty="0"/>
              <a:t>a high reconstruction error indicates a higher likelihood that the frame contains anomalous content.</a:t>
            </a:r>
            <a:r>
              <a:rPr lang="en-US" b="1" dirty="0"/>
              <a:t>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VADMamba: What It Does Not Solve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07008"/>
            <a:ext cx="10424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It does not compete directly with Sultani, RTFM, VADCLIP, or other WSVAD methods.</a:t>
            </a:r>
          </a:p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It does not use CLIP-style semantic guidance.</a:t>
            </a:r>
          </a:p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It does not learn from video-level abnormal labels.</a:t>
            </a:r>
          </a:p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For WSVAD research, its value is mainly as evidence that Mamba is a useful temporal backbone.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STNMamba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166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STNMamba argues that vanilla Mamba is not enough for spatial-temporal normality learning.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It introduces a multi-scale spatial encoder for anomalies of different sizes.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It uses RGB frame differences instead of optical flow for lower-cost motion cues.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It performs multi-level spatial-temporal fusion and stores normal prototypes in memory banks.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234440"/>
            <a:ext cx="4480560" cy="749808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6309360" y="2240280"/>
            <a:ext cx="4480560" cy="749808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Rounded Rectangle 5"/>
          <p:cNvSpPr/>
          <p:nvPr/>
        </p:nvSpPr>
        <p:spPr>
          <a:xfrm>
            <a:off x="6309360" y="3246120"/>
            <a:ext cx="4480560" cy="74980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Rounded Rectangle 6"/>
          <p:cNvSpPr/>
          <p:nvPr/>
        </p:nvSpPr>
        <p:spPr>
          <a:xfrm>
            <a:off x="6309360" y="4251960"/>
            <a:ext cx="4480560" cy="749808"/>
          </a:xfrm>
          <a:prstGeom prst="roundRect">
            <a:avLst>
              <a:gd name="adj" fmla="val 8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6629400" y="142646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D4ED8"/>
                </a:solidFill>
                <a:latin typeface="Aptos Display"/>
              </a:defRPr>
            </a:pPr>
            <a:r>
              <a:rPr lang="en-US" noProof="0" dirty="0"/>
              <a:t>MS-VSSB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43230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47857"/>
                </a:solidFill>
                <a:latin typeface="Aptos Display"/>
              </a:defRPr>
            </a:pPr>
            <a:r>
              <a:rPr lang="en-US" noProof="0" dirty="0"/>
              <a:t>CA-VSSB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343814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B45309"/>
                </a:solidFill>
                <a:latin typeface="Aptos Display"/>
              </a:defRPr>
            </a:pPr>
            <a:r>
              <a:rPr lang="en-US" noProof="0" dirty="0"/>
              <a:t>STIM + STFB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44398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75985"/>
                </a:solidFill>
                <a:latin typeface="Aptos Display"/>
              </a:defRPr>
            </a:pPr>
            <a:r>
              <a:rPr lang="en-US" noProof="0" dirty="0"/>
              <a:t>Memory Banks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M2S2L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257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M2S2L extends Mamba-based VAD through explicit multi-scale learning.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Spatial scales capture small local changes, medium patterns, and larger scene structure.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Temporal scales capture short motion, medium dynamics, and long behavior.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Feature decomposition separates common, appearance-specific, and motion-specific representations.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325880"/>
            <a:ext cx="4480560" cy="9144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6400800" y="2697480"/>
            <a:ext cx="4480560" cy="91440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Rounded Rectangle 5"/>
          <p:cNvSpPr/>
          <p:nvPr/>
        </p:nvSpPr>
        <p:spPr>
          <a:xfrm>
            <a:off x="6400800" y="4069080"/>
            <a:ext cx="4480560" cy="91440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>
            <a:solidFill>
              <a:srgbClr val="FF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6656832" y="1609344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1D4ED8"/>
                </a:solidFill>
                <a:latin typeface="Aptos Display"/>
              </a:defRPr>
            </a:pPr>
            <a:r>
              <a:rPr lang="en-US" noProof="0" dirty="0"/>
              <a:t>Multi-scale spatial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56832" y="2980944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047857"/>
                </a:solidFill>
                <a:latin typeface="Aptos Display"/>
              </a:defRPr>
            </a:pPr>
            <a:r>
              <a:rPr lang="en-US" noProof="0" dirty="0"/>
              <a:t>Multi-scale temporal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56832" y="4352544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BE123C"/>
                </a:solidFill>
                <a:latin typeface="Aptos Display"/>
              </a:defRPr>
            </a:pPr>
            <a:r>
              <a:rPr lang="en-US" noProof="0" dirty="0"/>
              <a:t>Feature decomposition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VADMamba++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166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VADMamba++ changes the proxy task rather than only changing the architecture.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It replaces RGB-to-RGB reconstruction with Gray-to-RGB reasoning.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model receives grayscale frames and predicts plausible RGB frames.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This removes optical flow and converts the pipeline into a single-task framework.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325880"/>
            <a:ext cx="4663440" cy="3337560"/>
          </a:xfrm>
          <a:prstGeom prst="roundRect">
            <a:avLst>
              <a:gd name="adj" fmla="val 8000"/>
            </a:avLst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6629400" y="173736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Gray-to-RGB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2514600"/>
            <a:ext cx="39776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anomaly signal comes from both structural geometry errors and chromatic appearance errors.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VADMamba++: Hybrid Modeling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417320"/>
            <a:ext cx="3246120" cy="315468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Rounded Rectangle 3"/>
          <p:cNvSpPr/>
          <p:nvPr/>
        </p:nvSpPr>
        <p:spPr>
          <a:xfrm>
            <a:off x="4480560" y="1417320"/>
            <a:ext cx="3246120" cy="315468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8183879" y="1417320"/>
            <a:ext cx="3246120" cy="315468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051560" y="1783080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D4ED8"/>
                </a:solidFill>
                <a:latin typeface="Aptos Display"/>
              </a:defRPr>
            </a:pPr>
            <a:r>
              <a:rPr lang="en-US" noProof="0" dirty="0"/>
              <a:t>Transformer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Global context modeling.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783080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47857"/>
                </a:solidFill>
                <a:latin typeface="Aptos Display"/>
              </a:defRPr>
            </a:pPr>
            <a:r>
              <a:rPr lang="en-US" noProof="0" dirty="0"/>
              <a:t>Mamba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487168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Long-range temporal dependencies.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1783080"/>
            <a:ext cx="2697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B45309"/>
                </a:solidFill>
                <a:latin typeface="Aptos Display"/>
              </a:defRPr>
            </a:pPr>
            <a:r>
              <a:rPr lang="en-US" noProof="0" dirty="0"/>
              <a:t>CNN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2487168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Local spatial refinement.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074920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best encoder order is coarse-to-fine: Transformer, then Mamba, then CNN.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Results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4300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VADMamba proves that selective SSMs can be effective for unsupervised VAD.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STNMamba improves spatial-temporal learning while remaining lightweight.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M2S2L improves accuracy by specializing scale and modality representations.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VADMamba++ improves the accuracy-speed trade-off with Gray-to-RGB and no optical flow.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434840"/>
            <a:ext cx="2286000" cy="82296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3566160" y="4434840"/>
            <a:ext cx="2286000" cy="82296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Rounded Rectangle 5"/>
          <p:cNvSpPr/>
          <p:nvPr/>
        </p:nvSpPr>
        <p:spPr>
          <a:xfrm>
            <a:off x="6217920" y="4434840"/>
            <a:ext cx="2286000" cy="82296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Rounded Rectangle 6"/>
          <p:cNvSpPr/>
          <p:nvPr/>
        </p:nvSpPr>
        <p:spPr>
          <a:xfrm>
            <a:off x="8869680" y="4434840"/>
            <a:ext cx="2286000" cy="82296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>
            <a:solidFill>
              <a:srgbClr val="FF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1097280" y="468172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D4ED8"/>
                </a:solidFill>
                <a:latin typeface="Aptos Display"/>
              </a:defRPr>
            </a:pPr>
            <a:r>
              <a:rPr lang="en-US" noProof="0" dirty="0"/>
              <a:t>Backbone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468172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47857"/>
                </a:solidFill>
                <a:latin typeface="Aptos Display"/>
              </a:defRPr>
            </a:pPr>
            <a:r>
              <a:rPr lang="en-US" noProof="0" dirty="0"/>
              <a:t>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68172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B45309"/>
                </a:solidFill>
                <a:latin typeface="Aptos Display"/>
              </a:defRPr>
            </a:pPr>
            <a:r>
              <a:rPr lang="en-US" noProof="0" dirty="0"/>
              <a:t>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4681728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BE123C"/>
                </a:solidFill>
                <a:latin typeface="Aptos Display"/>
              </a:defRPr>
            </a:pPr>
            <a:r>
              <a:rPr lang="en-US" noProof="0" dirty="0"/>
              <a:t>Proxy task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Multilingual Prompt-Guided WSVAD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166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The final paper returns to the weakly supervised setting.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It extends CLIP-style WSVAD with multilingual prompt pools.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Adaptive Top-K selection chooses the most useful prompts for each video snippet.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Mamba and Transformer are combined for multi-granularity temporal modeling.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325880"/>
            <a:ext cx="4572000" cy="3474720"/>
          </a:xfrm>
          <a:prstGeom prst="roundRect">
            <a:avLst>
              <a:gd name="adj" fmla="val 8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6629400" y="173736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075985"/>
                </a:solidFill>
                <a:latin typeface="Aptos Display"/>
              </a:defRPr>
            </a:pPr>
            <a:r>
              <a:rPr lang="en-US" noProof="0" dirty="0"/>
              <a:t>Bridge to WSVAD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2468880"/>
            <a:ext cx="3886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Here Mamba is not the whole VAD paradigm. It is a temporal reasoning module inside a CLIP and prompt-guided pipeline.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Evolution of Ideas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874519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Rounded Rectangle 3"/>
          <p:cNvSpPr/>
          <p:nvPr/>
        </p:nvSpPr>
        <p:spPr>
          <a:xfrm>
            <a:off x="2578608" y="1874519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4745736" y="1874519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Rounded Rectangle 5"/>
          <p:cNvSpPr/>
          <p:nvPr/>
        </p:nvSpPr>
        <p:spPr>
          <a:xfrm>
            <a:off x="6912864" y="1874519"/>
            <a:ext cx="1828800" cy="1143000"/>
          </a:xfrm>
          <a:prstGeom prst="roundRect">
            <a:avLst>
              <a:gd name="adj" fmla="val 8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Rounded Rectangle 6"/>
          <p:cNvSpPr/>
          <p:nvPr/>
        </p:nvSpPr>
        <p:spPr>
          <a:xfrm>
            <a:off x="9079992" y="1874519"/>
            <a:ext cx="2697480" cy="114300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>
            <a:solidFill>
              <a:srgbClr val="FF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594360" y="222199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D4ED8"/>
                </a:solidFill>
                <a:latin typeface="Aptos Display"/>
              </a:defRPr>
            </a:pPr>
            <a:r>
              <a:rPr lang="en-US" noProof="0" dirty="0"/>
              <a:t>VADMamba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1488" y="222199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47857"/>
                </a:solidFill>
                <a:latin typeface="Aptos Display"/>
              </a:defRPr>
            </a:pPr>
            <a:r>
              <a:rPr lang="en-US" noProof="0" dirty="0"/>
              <a:t>STNMamba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28616" y="222199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B45309"/>
                </a:solidFill>
                <a:latin typeface="Aptos Display"/>
              </a:defRPr>
            </a:pPr>
            <a:r>
              <a:rPr lang="en-US" noProof="0" dirty="0"/>
              <a:t>M2S2L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95744" y="222199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75985"/>
                </a:solidFill>
                <a:latin typeface="Aptos Display"/>
              </a:defRPr>
            </a:pPr>
            <a:r>
              <a:rPr lang="en-US" noProof="0" dirty="0"/>
              <a:t>VADM++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7152" y="2221992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BE123C"/>
                </a:solidFill>
                <a:latin typeface="Aptos Display"/>
              </a:defRPr>
            </a:pPr>
            <a:r>
              <a:rPr lang="en-US" noProof="0" dirty="0"/>
              <a:t>Multilingual WSVAD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703320"/>
            <a:ext cx="1033272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From Mamba as an efficient temporal backbone.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To spatial-temporal normality learning with memory.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To multi-scale and modality-specialized reconstruction.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To simpler proxy tasks and better deployment efficiency.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To CLIP, multilingual prompts, and weakly supervised localization.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What Is Already in 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A clear distinction between unsupervised VAD and WSVAD evaluation protocols.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A map of how Mamba enters VAD: backbone, spatial-temporal fusion, memory, and prompt-guided temporal modeling.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A comparison of architectural improvements versus proxy-task improvements.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A bridge from reconstruction-based Mamba papers back to the main weakly supervised research direction.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rPr lang="en-US" noProof="0" dirty="0"/>
              <a:t>Suggested 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Build a comparison matrix separating unsupervised VAD from WSVAD methods.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For each method, record supervision type, backbone, temporal module, anomaly score, datasets, and metrics.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Decide whether the PhD direction should use Mamba as a full backbone or as a temporal module inside a CLIP/WSVAD pipeline.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rPr lang="en-US" noProof="0" dirty="0"/>
              <a:t>Use that decision to define the first implementation target and baseline set.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405</TotalTime>
  <Words>971</Words>
  <Application>Microsoft Office PowerPoint</Application>
  <PresentationFormat>Panorámica</PresentationFormat>
  <Paragraphs>128</Paragraphs>
  <Slides>16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游ゴシック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admin</cp:lastModifiedBy>
  <cp:revision>14</cp:revision>
  <dcterms:created xsi:type="dcterms:W3CDTF">2013-01-27T09:14:16Z</dcterms:created>
  <dcterms:modified xsi:type="dcterms:W3CDTF">2026-09-26T03:59:40Z</dcterms:modified>
  <cp:category/>
</cp:coreProperties>
</file>