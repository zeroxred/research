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8" d="100"/>
          <a:sy n="118" d="100"/>
        </p:scale>
        <p:origin x="27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1600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11827"/>
                </a:solidFill>
                <a:latin typeface="Aptos Display"/>
              </a:defRPr>
            </a:pPr>
            <a:r>
              <a:t>Weekly Progress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51460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B5563"/>
                </a:solidFill>
                <a:latin typeface="Aptos"/>
              </a:defRPr>
            </a:pPr>
            <a:r>
              <a:t>From VADCLIP to open-vocabulary video anomaly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3273552"/>
            <a:ext cx="2011680" cy="4572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370332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Extended the anomaly-detection block from weak supervision to open-vocabulary reasoning.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Reviewed the gap between closed-set, open-set, and open-vocabulary VAD.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Started organizing how CLIP can support both detection and semantic categorization.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Narrative of the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07008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t>Continued from the previous block on Video Swin Transformer, RTFM, and VadCLIP.</a:t>
            </a:r>
          </a:p>
          <a:p>
            <a:pPr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t>Shifted attention from weakly supervised anomaly scoring toward semantic anomaly naming.</a:t>
            </a:r>
          </a:p>
          <a:p>
            <a:pPr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t>Studied open-set and open-vocabulary formulations as the next research step.</a:t>
            </a:r>
          </a:p>
          <a:p>
            <a:pPr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t>Connected the literature to a more realistic surveillance setting where new anomalies can appear.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Why This Step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WSVAD can localize suspicious segments, but it usually stays inside the anomaly classes seen during training.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Open-set VAD improves generalization to unseen anomalies, but still leaves the anomaly type unnamed.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Open-vocabulary VAD adds semantic categorization on top of detection.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That makes the problem closer to how a real monitoring system should behave.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46520" y="1143000"/>
            <a:ext cx="4846320" cy="3566160"/>
          </a:xfrm>
          <a:prstGeom prst="roundRect">
            <a:avLst>
              <a:gd name="adj" fmla="val 8000"/>
            </a:avLst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20840" y="15361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827"/>
                </a:solidFill>
                <a:latin typeface="Aptos Display"/>
              </a:defRPr>
            </a:pPr>
            <a:r>
              <a:t>Key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2212848"/>
            <a:ext cx="4160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4B5563"/>
                </a:solidFill>
                <a:latin typeface="Aptos"/>
              </a:defRPr>
            </a:pPr>
            <a:r>
              <a:t>The research target moved from asking only whether a video is abnormal to also asking what anomaly it 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From Closed Set to Open Vocabulary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2514600" cy="1506302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520440" y="1463040"/>
            <a:ext cx="2514600" cy="1506302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0" y="1463039"/>
            <a:ext cx="2514600" cy="1506301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281160" y="1463039"/>
            <a:ext cx="2240280" cy="1417321"/>
          </a:xfrm>
          <a:prstGeom prst="roundRect">
            <a:avLst>
              <a:gd name="adj" fmla="val 8000"/>
            </a:avLst>
          </a:prstGeom>
          <a:solidFill>
            <a:srgbClr val="FFE4E6"/>
          </a:solidFill>
          <a:ln>
            <a:solidFill>
              <a:srgbClr val="FF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D4ED8"/>
                </a:solidFill>
                <a:latin typeface="Aptos Display"/>
              </a:defRPr>
            </a:pPr>
            <a:r>
              <a:t>WSVAD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267712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4B5563"/>
                </a:solidFill>
                <a:latin typeface="Aptos"/>
              </a:defRPr>
            </a:pPr>
            <a:r>
              <a:t>Detects known anomalies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67328" y="18105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47857"/>
                </a:solidFill>
                <a:latin typeface="Aptos Display"/>
              </a:defRPr>
            </a:pPr>
            <a:r>
              <a:t>Open-Set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267712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4B5563"/>
                </a:solidFill>
                <a:latin typeface="Aptos"/>
              </a:defRPr>
            </a:pPr>
            <a:r>
              <a:t>Detects unseen anomalies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2" y="18105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45309"/>
                </a:solidFill>
                <a:latin typeface="Aptos Display"/>
              </a:defRPr>
            </a:pPr>
            <a:r>
              <a:t>OV-VAD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2677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4B5563"/>
                </a:solidFill>
                <a:latin typeface="Aptos"/>
              </a:defRPr>
            </a:pPr>
            <a:r>
              <a:t>Detects and names them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18105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E123C"/>
                </a:solidFill>
                <a:latin typeface="Aptos Display"/>
              </a:defRPr>
            </a:pPr>
            <a:r>
              <a:t>CLIP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36608" y="226771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4B5563"/>
                </a:solidFill>
                <a:latin typeface="Aptos"/>
              </a:defRPr>
            </a:pPr>
            <a:r>
              <a:t>Semantic bridge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77639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t>The progression is not only about better anomaly scores, but about richer supervision and richer outputs.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274325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dirty="0" err="1"/>
              <a:t>VadCLIP</a:t>
            </a:r>
            <a:r>
              <a:rPr lang="es-MX" dirty="0"/>
              <a:t> (2023)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08110" cy="122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 err="1"/>
              <a:t>VadCLIP</a:t>
            </a:r>
            <a:r>
              <a:rPr dirty="0"/>
              <a:t> adapts CLIP to weakly supervised video anomaly detection.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It keeps the binary detection task, but adds semantic alignment between video and text.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This makes it a bridge between MIL-based WSVAD and open-vocabulary anomaly understanding.</a:t>
            </a:r>
          </a:p>
        </p:txBody>
      </p:sp>
      <p:pic>
        <p:nvPicPr>
          <p:cNvPr id="4" name="Picture 3" descr="VADCL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638" y="2363847"/>
            <a:ext cx="7108723" cy="44429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VadCLIP: Main Idea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5257800" cy="36118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2" y="1325880"/>
            <a:ext cx="5273038" cy="361188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D4ED8"/>
                </a:solidFill>
                <a:latin typeface="Aptos Display"/>
              </a:defRPr>
            </a:pPr>
            <a:r>
              <a:t>Detection Branch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4572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Uses a local-global temporal adapter to model video dynamics.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Produces anomaly confidence scores from frame-level visual features.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Keeps weak supervision through video-level labels and MIL-style reasoning.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6916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47857"/>
                </a:solidFill>
                <a:latin typeface="Aptos Display"/>
              </a:defRPr>
            </a:pPr>
            <a:r>
              <a:t>Alignment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331720"/>
            <a:ext cx="4572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Uses CLIP text embeddings for anomaly classes.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Adds learnable prompts and visual prompts to refine the class representation.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Aligns selected video snippets with semantic labels through MIL-Align.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498142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dirty="0"/>
              <a:t>Open-Vocabulary VAD</a:t>
            </a:r>
            <a:r>
              <a:rPr lang="es-MX" dirty="0"/>
              <a:t> (2024)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8136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OV-VAD aims to detect anomalies and assign semantic labels to</a:t>
            </a:r>
            <a:r>
              <a:rPr lang="es-MX" dirty="0"/>
              <a:t> </a:t>
            </a:r>
            <a:r>
              <a:rPr dirty="0"/>
              <a:t>seen and unseen categories.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The model is built on CLIP to reuse its image-text alignment capability.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The detection branch produces frame-level anomaly confidence scores.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The categorization branch matches video features with text embeddings.</a:t>
            </a:r>
          </a:p>
        </p:txBody>
      </p:sp>
      <p:pic>
        <p:nvPicPr>
          <p:cNvPr id="4" name="Picture 3" descr="OVVAD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888" y="2674965"/>
            <a:ext cx="6602224" cy="41263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dirty="0"/>
              <a:t>Overall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5299611" cy="384048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06590" y="1325880"/>
            <a:ext cx="5314849" cy="384048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75985"/>
                </a:solidFill>
                <a:latin typeface="Aptos Display"/>
              </a:defRPr>
            </a:pPr>
            <a:r>
              <a:t>Detection Branch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4572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rPr dirty="0"/>
              <a:t>Video frames go through CLIP's image encoder.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rPr dirty="0"/>
              <a:t>Temporal Adapter injects video dynamics.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rPr dirty="0"/>
              <a:t>Semantic Knowledge Injection enriches visual features.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rPr dirty="0"/>
              <a:t>A binary detector outputs frame-level anomaly scores.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6916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47857"/>
                </a:solidFill>
                <a:latin typeface="Aptos Display"/>
              </a:defRPr>
            </a:pPr>
            <a:r>
              <a:t>Categorization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331720"/>
            <a:ext cx="4572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rPr dirty="0"/>
              <a:t>Video features are aggregated into a compact representation.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rPr dirty="0"/>
              <a:t>Category names are encoded with CLIP's text encoder.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rPr dirty="0"/>
              <a:t>Cross-modal alignment predicts the anomaly category.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rPr dirty="0"/>
              <a:t>This is the semantic layer that closed-set WSVAD lacks.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5E3EB48-1021-0A3E-5FC0-DC7E857C6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494" y="1121775"/>
            <a:ext cx="7783011" cy="1571844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0AB664FF-2705-5A59-F030-656AA4DEC8B8}"/>
              </a:ext>
            </a:extLst>
          </p:cNvPr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dirty="0"/>
              <a:t>Overall Framework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594360" y="2999232"/>
            <a:ext cx="5394960" cy="3474720"/>
          </a:xfrm>
          <a:prstGeom prst="roundRect">
            <a:avLst>
              <a:gd name="adj" fmla="val 8000"/>
            </a:avLst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4"/>
          <p:cNvSpPr txBox="1"/>
          <p:nvPr/>
        </p:nvSpPr>
        <p:spPr>
          <a:xfrm>
            <a:off x="960120" y="3392424"/>
            <a:ext cx="44805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11827"/>
                </a:solidFill>
                <a:latin typeface="Aptos Display"/>
              </a:defRPr>
            </a:pPr>
            <a:r>
              <a:rPr lang="es-MX" altLang="ja-JP" dirty="0"/>
              <a:t>Temporal </a:t>
            </a:r>
            <a:r>
              <a:rPr lang="es-MX" altLang="ja-JP" dirty="0" err="1"/>
              <a:t>Adapter</a:t>
            </a:r>
            <a:endParaRPr dirty="0"/>
          </a:p>
        </p:txBody>
      </p:sp>
      <p:sp>
        <p:nvSpPr>
          <p:cNvPr id="7" name="TextBox 5"/>
          <p:cNvSpPr txBox="1"/>
          <p:nvPr/>
        </p:nvSpPr>
        <p:spPr>
          <a:xfrm>
            <a:off x="960120" y="4050792"/>
            <a:ext cx="452628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4B5563"/>
                </a:solidFill>
                <a:latin typeface="Aptos"/>
              </a:defRPr>
            </a:pPr>
            <a:r>
              <a:rPr lang="en-US" altLang="ja-JP" sz="2200" dirty="0"/>
              <a:t>The Temporal Adapter efficiently models local temporal relationships while preserving CLIP's pretrained knowledge, adding temporal context with minimal parameters to improve generalization.</a:t>
            </a:r>
            <a:endParaRPr dirty="0"/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7BFA227C-C78D-359B-0A59-6AD686B629E7}"/>
              </a:ext>
            </a:extLst>
          </p:cNvPr>
          <p:cNvSpPr/>
          <p:nvPr/>
        </p:nvSpPr>
        <p:spPr>
          <a:xfrm>
            <a:off x="6172200" y="2999232"/>
            <a:ext cx="5394960" cy="3474720"/>
          </a:xfrm>
          <a:prstGeom prst="roundRect">
            <a:avLst>
              <a:gd name="adj" fmla="val 8000"/>
            </a:avLst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F98926A4-0789-3B5A-764D-8CA2BCC58B14}"/>
              </a:ext>
            </a:extLst>
          </p:cNvPr>
          <p:cNvSpPr txBox="1"/>
          <p:nvPr/>
        </p:nvSpPr>
        <p:spPr>
          <a:xfrm>
            <a:off x="6490621" y="3098445"/>
            <a:ext cx="462095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s-MX" altLang="ja-JP" dirty="0" err="1"/>
              <a:t>Semantic</a:t>
            </a:r>
            <a:r>
              <a:rPr lang="es-MX" altLang="ja-JP" dirty="0"/>
              <a:t> </a:t>
            </a:r>
            <a:r>
              <a:rPr lang="es-MX" altLang="ja-JP" dirty="0" err="1"/>
              <a:t>Knowledge</a:t>
            </a:r>
            <a:r>
              <a:rPr lang="es-MX" altLang="ja-JP" dirty="0"/>
              <a:t> </a:t>
            </a:r>
            <a:r>
              <a:rPr lang="es-MX" altLang="ja-JP" dirty="0" err="1"/>
              <a:t>Injection</a:t>
            </a:r>
            <a:endParaRPr lang="es-MX" altLang="ja-JP" dirty="0"/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09F4DE17-BAD0-1C30-AFDE-18C611B65817}"/>
              </a:ext>
            </a:extLst>
          </p:cNvPr>
          <p:cNvSpPr txBox="1"/>
          <p:nvPr/>
        </p:nvSpPr>
        <p:spPr>
          <a:xfrm>
            <a:off x="6537960" y="4050792"/>
            <a:ext cx="452628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4B5563"/>
                </a:solidFill>
                <a:latin typeface="Aptos"/>
              </a:defRPr>
            </a:pPr>
            <a:r>
              <a:rPr lang="en-US" altLang="ja-JP" sz="2200" dirty="0"/>
              <a:t>SKI injects anomaly-related semantic knowledge into visual features, enabling the model to understand event types rather than performing only binary anomaly detection.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5554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Novel Anomaly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NAS generates synthetic anomalies to help the model handle novel classes.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LLM-guided descriptions are turned into visual content and inserted into normal videos.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This gives the model a way to see categories that were not present in the original training set.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1A2CCA8-665B-AFF3-D214-5F53290A6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28999"/>
            <a:ext cx="10615578" cy="17822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Results and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515600" cy="6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sz="1600" dirty="0"/>
              <a:t>The reported results show that the proposed method is competitive with closed-set baselines.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sz="1600" dirty="0"/>
              <a:t>The gain is most relevant on novel anomaly categories, which is the main point of the open-vocabulary setting.</a:t>
            </a:r>
          </a:p>
        </p:txBody>
      </p:sp>
      <p:pic>
        <p:nvPicPr>
          <p:cNvPr id="4" name="Picture 3" descr="OVVAD_TABL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84649"/>
            <a:ext cx="10881360" cy="50678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Evolution of Ideas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4939B5CF-6D2D-2EDD-E777-25557D759C3E}"/>
              </a:ext>
            </a:extLst>
          </p:cNvPr>
          <p:cNvGrpSpPr/>
          <p:nvPr/>
        </p:nvGrpSpPr>
        <p:grpSpPr>
          <a:xfrm>
            <a:off x="1363980" y="1874519"/>
            <a:ext cx="9464039" cy="1143000"/>
            <a:chOff x="548640" y="1874519"/>
            <a:chExt cx="9464039" cy="114300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874519"/>
              <a:ext cx="2057400" cy="1143000"/>
            </a:xfrm>
            <a:prstGeom prst="roundRect">
              <a:avLst>
                <a:gd name="adj" fmla="val 8000"/>
              </a:avLst>
            </a:prstGeom>
            <a:solidFill>
              <a:srgbClr val="DBEAFE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3017520" y="1874519"/>
              <a:ext cx="2057400" cy="1143000"/>
            </a:xfrm>
            <a:prstGeom prst="roundRect">
              <a:avLst>
                <a:gd name="adj" fmla="val 8000"/>
              </a:avLst>
            </a:prstGeom>
            <a:solidFill>
              <a:srgbClr val="D1FAE5"/>
            </a:solidFill>
            <a:ln>
              <a:solidFill>
                <a:srgbClr val="D1FAE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5486400" y="1874519"/>
              <a:ext cx="2057400" cy="1143000"/>
            </a:xfrm>
            <a:prstGeom prst="roundRect">
              <a:avLst>
                <a:gd name="adj" fmla="val 8000"/>
              </a:avLst>
            </a:prstGeom>
            <a:solidFill>
              <a:srgbClr val="FEF3C7"/>
            </a:solidFill>
            <a:ln>
              <a:solidFill>
                <a:srgbClr val="FEF3C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955279" y="1874519"/>
              <a:ext cx="2057400" cy="1143000"/>
            </a:xfrm>
            <a:prstGeom prst="roundRect">
              <a:avLst>
                <a:gd name="adj" fmla="val 8000"/>
              </a:avLst>
            </a:prstGeom>
            <a:solidFill>
              <a:srgbClr val="E0F2FE"/>
            </a:solidFill>
            <a:ln>
              <a:solidFill>
                <a:srgbClr val="E0F2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77240" y="2221992"/>
              <a:ext cx="155448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000" b="1">
                  <a:solidFill>
                    <a:srgbClr val="1D4ED8"/>
                  </a:solidFill>
                  <a:latin typeface="Aptos Display"/>
                </a:defRPr>
              </a:pPr>
              <a:r>
                <a:t>WSVAD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200400" y="2221992"/>
              <a:ext cx="1600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000" b="1">
                  <a:solidFill>
                    <a:srgbClr val="047857"/>
                  </a:solidFill>
                  <a:latin typeface="Aptos Display"/>
                </a:defRPr>
              </a:pPr>
              <a:r>
                <a:t>VadCLIP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669280" y="2221992"/>
              <a:ext cx="1600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000" b="1">
                  <a:solidFill>
                    <a:srgbClr val="B45309"/>
                  </a:solidFill>
                  <a:latin typeface="Aptos Display"/>
                </a:defRPr>
              </a:pPr>
              <a:r>
                <a:t>Open-Set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092440" y="2221992"/>
              <a:ext cx="1600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000" b="1">
                  <a:solidFill>
                    <a:srgbClr val="075985"/>
                  </a:solidFill>
                  <a:latin typeface="Aptos Display"/>
                </a:defRPr>
              </a:pPr>
              <a:r>
                <a:t>OV-VAD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914400" y="3749039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From weakly supervised anomaly localization.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To CLIP-based visual-language anomaly modeling.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To open-set generalization.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To open-vocabulary detection and semantic categorization.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What Is Already in 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A coherent path from action recognition to anomaly detection.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A weakly supervised baseline centered on MIL-based reasoning.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A CLIP-based method that already connects visual and textual representations.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A clear next step toward open-vocabulary anomaly understanding.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Suggested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Move to state space models and Mamba as the next temporal modeling block.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Compare Mamba with the CLIP-based VAD line to see where it can improve sequence efficiency.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Identify how a state-space backbone could fit into weakly supervised or open-vocabulary VAD.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Prepare the next weekly summary around this transition instead of staying only on OV-VAD.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733</Words>
  <Application>Microsoft Office PowerPoint</Application>
  <PresentationFormat>Panorámica</PresentationFormat>
  <Paragraphs>87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</cp:lastModifiedBy>
  <cp:revision>15</cp:revision>
  <dcterms:created xsi:type="dcterms:W3CDTF">2013-01-27T09:14:16Z</dcterms:created>
  <dcterms:modified xsi:type="dcterms:W3CDTF">2026-07-13T03:12:58Z</dcterms:modified>
  <cp:category/>
</cp:coreProperties>
</file>