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660" y="8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ptos Display"/>
              </a:defRPr>
            </a:pPr>
            <a:r>
              <a:t>Weekly Progress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Mamba-based video anomaly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273552"/>
            <a:ext cx="2011680" cy="4572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3703320"/>
            <a:ext cx="1014984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Started the </a:t>
            </a:r>
            <a:r>
              <a:rPr b="1" dirty="0"/>
              <a:t>Mamba-for-VAD</a:t>
            </a:r>
            <a:r>
              <a:rPr dirty="0"/>
              <a:t> block after the general Video Mamba foundation.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Reviewed </a:t>
            </a:r>
            <a:r>
              <a:rPr b="1" dirty="0"/>
              <a:t>unsupervised</a:t>
            </a:r>
            <a:r>
              <a:rPr dirty="0"/>
              <a:t> </a:t>
            </a:r>
            <a:r>
              <a:rPr b="1" dirty="0"/>
              <a:t>VAD</a:t>
            </a:r>
            <a:r>
              <a:rPr dirty="0"/>
              <a:t> papers that use Mamba as an efficient temporal backbone.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b="1" dirty="0"/>
              <a:t>Connected</a:t>
            </a:r>
            <a:r>
              <a:rPr dirty="0"/>
              <a:t> the Mamba line back </a:t>
            </a:r>
            <a:r>
              <a:rPr b="1" dirty="0"/>
              <a:t>to</a:t>
            </a:r>
            <a:r>
              <a:rPr dirty="0"/>
              <a:t> </a:t>
            </a:r>
            <a:r>
              <a:rPr b="1" dirty="0"/>
              <a:t>WSVAD</a:t>
            </a:r>
            <a:r>
              <a:rPr dirty="0"/>
              <a:t> through multilingual prompt-guided learning.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Narrative of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dirty="0"/>
              <a:t>The previous block established why Mamba is attractive for long video sequences.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dirty="0"/>
              <a:t>This block asks a more specific question: </a:t>
            </a:r>
            <a:r>
              <a:rPr b="1" dirty="0"/>
              <a:t>how is Mamba used in video anomaly detection</a:t>
            </a:r>
            <a:r>
              <a:rPr dirty="0"/>
              <a:t>?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dirty="0"/>
              <a:t>The first papers are mostly </a:t>
            </a:r>
            <a:r>
              <a:rPr b="1" dirty="0"/>
              <a:t>unsupervised</a:t>
            </a:r>
            <a:r>
              <a:rPr dirty="0"/>
              <a:t>: they learn normality and detect deviations.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b="1" dirty="0"/>
              <a:t>The final paper reconnects</a:t>
            </a:r>
            <a:r>
              <a:rPr dirty="0"/>
              <a:t> the discussion to </a:t>
            </a:r>
            <a:r>
              <a:rPr b="1" dirty="0"/>
              <a:t>weak supervision</a:t>
            </a:r>
            <a:r>
              <a:rPr dirty="0"/>
              <a:t>, CLIP, prompts, and temporal reasoning.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Why This Step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VAD requires temporal memory because anomalies may unfold slowly or appear briefly.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Transformers provide global reasoning but can be expensive for long surveillance videos.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Mamba offers linear-time sequence modeling and a practical path for long-range temporal context.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The key </a:t>
            </a:r>
            <a:r>
              <a:rPr b="1" dirty="0"/>
              <a:t>is deciding whether Mamba should replace, complement, or simply strengthen existing VAD pipelines</a:t>
            </a:r>
            <a:r>
              <a:rPr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46520" y="1143000"/>
            <a:ext cx="4846320" cy="35661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208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11827"/>
                </a:solidFill>
                <a:latin typeface="Aptos Display"/>
              </a:defRPr>
            </a:pPr>
            <a:r>
              <a:t>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212848"/>
            <a:ext cx="4160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4B5563"/>
                </a:solidFill>
                <a:latin typeface="Aptos"/>
              </a:defRPr>
            </a:pPr>
            <a:r>
              <a:rPr dirty="0"/>
              <a:t>The work shifts from understanding Mamba as a video backbone to evaluating Mamba as a VAD design choice.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Two VAD Directions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7920" y="132588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6916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D4ED8"/>
                </a:solidFill>
                <a:latin typeface="Aptos Display"/>
              </a:defRPr>
            </a:pPr>
            <a:r>
              <a:t>Unsupervised VAD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4526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Training uses normal videos.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Anomalies are detected through reconstruction or prediction errors.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Typical datasets: Ped2, Avenue, ShanghaiTech.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6916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47857"/>
                </a:solidFill>
                <a:latin typeface="Aptos Display"/>
              </a:defRPr>
            </a:pPr>
            <a:r>
              <a:t>Weakly Supervised VAD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31720"/>
            <a:ext cx="4526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Training uses video-level labels.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The model learns to localize anomalous segments.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Typical datasets: UCF-Crime, XD-Violence.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69EB57F6-56C9-01E4-D971-D90CB1503036}"/>
              </a:ext>
            </a:extLst>
          </p:cNvPr>
          <p:cNvSpPr txBox="1"/>
          <p:nvPr/>
        </p:nvSpPr>
        <p:spPr>
          <a:xfrm>
            <a:off x="594360" y="384048"/>
            <a:ext cx="287835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dirty="0"/>
              <a:t>Papers to review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7AE13753-EFE1-EA95-830D-24CC42180C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2213453"/>
              </p:ext>
            </p:extLst>
          </p:nvPr>
        </p:nvGraphicFramePr>
        <p:xfrm>
          <a:off x="805180" y="1426633"/>
          <a:ext cx="10581639" cy="4317998"/>
        </p:xfrm>
        <a:graphic>
          <a:graphicData uri="http://schemas.openxmlformats.org/drawingml/2006/table">
            <a:tbl>
              <a:tblPr/>
              <a:tblGrid>
                <a:gridCol w="6560820">
                  <a:extLst>
                    <a:ext uri="{9D8B030D-6E8A-4147-A177-3AD203B41FA5}">
                      <a16:colId xmlns:a16="http://schemas.microsoft.com/office/drawing/2014/main" val="1733263843"/>
                    </a:ext>
                  </a:extLst>
                </a:gridCol>
                <a:gridCol w="1536700">
                  <a:extLst>
                    <a:ext uri="{9D8B030D-6E8A-4147-A177-3AD203B41FA5}">
                      <a16:colId xmlns:a16="http://schemas.microsoft.com/office/drawing/2014/main" val="3710063167"/>
                    </a:ext>
                  </a:extLst>
                </a:gridCol>
                <a:gridCol w="2484119">
                  <a:extLst>
                    <a:ext uri="{9D8B030D-6E8A-4147-A177-3AD203B41FA5}">
                      <a16:colId xmlns:a16="http://schemas.microsoft.com/office/drawing/2014/main" val="731748920"/>
                    </a:ext>
                  </a:extLst>
                </a:gridCol>
              </a:tblGrid>
              <a:tr h="407772">
                <a:tc>
                  <a:txBody>
                    <a:bodyPr/>
                    <a:lstStyle/>
                    <a:p>
                      <a:r>
                        <a:rPr lang="es-MX" sz="2000" b="1" dirty="0" err="1">
                          <a:effectLst/>
                        </a:rPr>
                        <a:t>Paper</a:t>
                      </a:r>
                      <a:endParaRPr lang="es-MX" sz="2000" b="1" dirty="0">
                        <a:effectLst/>
                      </a:endParaRP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 b="1">
                          <a:effectLst/>
                        </a:rPr>
                        <a:t>Year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 b="1" dirty="0">
                          <a:effectLst/>
                        </a:rPr>
                        <a:t>VAD </a:t>
                      </a:r>
                      <a:r>
                        <a:rPr lang="es-MX" sz="2000" b="1" dirty="0" err="1">
                          <a:effectLst/>
                        </a:rPr>
                        <a:t>Type</a:t>
                      </a:r>
                      <a:endParaRPr lang="es-MX" sz="2000" b="1" dirty="0">
                        <a:effectLst/>
                      </a:endParaRP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830352"/>
                  </a:ext>
                </a:extLst>
              </a:tr>
              <a:tr h="744848"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effectLst/>
                        </a:rPr>
                        <a:t>VADMamba</a:t>
                      </a:r>
                      <a:r>
                        <a:rPr lang="en-US" sz="2000" dirty="0">
                          <a:effectLst/>
                        </a:rPr>
                        <a:t>: Exploring State Space Models for Fast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 b="0" dirty="0" err="1">
                          <a:effectLst/>
                        </a:rPr>
                        <a:t>Unsupervised</a:t>
                      </a:r>
                      <a:endParaRPr lang="es-MX" sz="2000" b="0" dirty="0">
                        <a:effectLst/>
                      </a:endParaRP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283471"/>
                  </a:ext>
                </a:extLst>
              </a:tr>
              <a:tr h="860248">
                <a:tc>
                  <a:txBody>
                    <a:bodyPr/>
                    <a:lstStyle/>
                    <a:p>
                      <a:r>
                        <a:rPr lang="en-US" sz="2000" b="1" dirty="0" err="1">
                          <a:effectLst/>
                        </a:rPr>
                        <a:t>STNMamba</a:t>
                      </a:r>
                      <a:r>
                        <a:rPr lang="en-US" sz="2000" dirty="0">
                          <a:effectLst/>
                        </a:rPr>
                        <a:t>: Mamba-based Spatial-Temporal Normality Learning for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>
                          <a:effectLst/>
                        </a:rPr>
                        <a:t>2024/2025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 b="0" dirty="0" err="1">
                          <a:effectLst/>
                        </a:rPr>
                        <a:t>Unsupervised</a:t>
                      </a:r>
                      <a:endParaRPr lang="es-MX" sz="2000" b="0" dirty="0">
                        <a:effectLst/>
                      </a:endParaRP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653355"/>
                  </a:ext>
                </a:extLst>
              </a:tr>
              <a:tr h="860248">
                <a:tc>
                  <a:txBody>
                    <a:bodyPr/>
                    <a:lstStyle/>
                    <a:p>
                      <a:r>
                        <a:rPr lang="en-US" sz="2000" b="1" dirty="0">
                          <a:effectLst/>
                        </a:rPr>
                        <a:t>M²S²L</a:t>
                      </a:r>
                      <a:r>
                        <a:rPr lang="en-US" sz="2000" dirty="0">
                          <a:effectLst/>
                        </a:rPr>
                        <a:t>: Mamba-based Multi-Scale Spatial-temporal Learning for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 b="0" dirty="0" err="1">
                          <a:effectLst/>
                        </a:rPr>
                        <a:t>Unsupervised</a:t>
                      </a:r>
                      <a:endParaRPr lang="es-MX" sz="2000" b="0" dirty="0">
                        <a:effectLst/>
                      </a:endParaRP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318164"/>
                  </a:ext>
                </a:extLst>
              </a:tr>
              <a:tr h="407772">
                <a:tc>
                  <a:txBody>
                    <a:bodyPr/>
                    <a:lstStyle/>
                    <a:p>
                      <a:r>
                        <a:rPr lang="es-MX" sz="2000" b="1" dirty="0" err="1">
                          <a:effectLst/>
                        </a:rPr>
                        <a:t>VADMamba</a:t>
                      </a:r>
                      <a:r>
                        <a:rPr lang="es-MX" sz="2000" b="1" dirty="0">
                          <a:effectLst/>
                        </a:rPr>
                        <a:t>++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>
                          <a:effectLst/>
                        </a:rPr>
                        <a:t>2026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 b="0" dirty="0" err="1">
                          <a:effectLst/>
                        </a:rPr>
                        <a:t>Unsupervised</a:t>
                      </a:r>
                      <a:endParaRPr lang="es-MX" sz="2000" b="0" dirty="0">
                        <a:effectLst/>
                      </a:endParaRP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587782"/>
                  </a:ext>
                </a:extLst>
              </a:tr>
              <a:tr h="1037110">
                <a:tc>
                  <a:txBody>
                    <a:bodyPr/>
                    <a:lstStyle/>
                    <a:p>
                      <a:r>
                        <a:rPr lang="en-US" sz="2000" b="1" dirty="0">
                          <a:effectLst/>
                        </a:rPr>
                        <a:t>Multilingual-Prompt-Guided</a:t>
                      </a:r>
                      <a:r>
                        <a:rPr lang="en-US" sz="2000" dirty="0">
                          <a:effectLst/>
                        </a:rPr>
                        <a:t> Directional Feature Learning for Weakly Supervised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 b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MX" sz="2000" dirty="0" err="1">
                          <a:effectLst/>
                        </a:rPr>
                        <a:t>Weakly</a:t>
                      </a:r>
                      <a:r>
                        <a:rPr lang="es-MX" sz="2000" dirty="0">
                          <a:effectLst/>
                        </a:rPr>
                        <a:t> </a:t>
                      </a:r>
                      <a:r>
                        <a:rPr lang="es-MX" sz="2000" dirty="0" err="1">
                          <a:effectLst/>
                        </a:rPr>
                        <a:t>Supervised</a:t>
                      </a:r>
                      <a:endParaRPr lang="es-MX" sz="2000" dirty="0">
                        <a:effectLst/>
                      </a:endParaRP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879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9778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 err="1"/>
              <a:t>VADMamba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074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 err="1"/>
              <a:t>VADMamba</a:t>
            </a:r>
            <a:r>
              <a:rPr dirty="0"/>
              <a:t> applies Mamba to reconstruction- and prediction-based VAD.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It is trained only on normal videos, not weak video-level anomaly labels.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The model uses frame prediction and optical-flow reconstruction as proxy tasks.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At inference time, larger reconstruction or prediction errors become anomaly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72200" y="1325880"/>
            <a:ext cx="4754880" cy="347472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92240" y="16916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45309"/>
                </a:solidFill>
                <a:latin typeface="Aptos Display"/>
              </a:defRPr>
            </a:pPr>
            <a:r>
              <a:t>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423160"/>
            <a:ext cx="4069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4B5563"/>
                </a:solidFill>
                <a:latin typeface="Aptos"/>
              </a:defRPr>
            </a:pPr>
            <a:r>
              <a:t>It shows that Mamba can replace CNN or Transformer temporal modules in efficient unsupervised VAD.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VADMamba: What It Does Not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It does not compete directly with Sultani, RTFM, VADCLIP, or other WSVAD methods.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It does not use CLIP-style semantic guidance.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It does not learn from video-level abnormal labels.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For WSVAD research, its value is mainly as evidence that Mamba is a useful temporal backbone.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STNMamba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STNMamba argues that vanilla Mamba is not enough for spatial-temporal normality learning.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introduces a multi-scale spatial encoder for anomalies of different sizes.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uses RGB frame differences instead of optical flow for lower-cost motion cues.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performs multi-level spatial-temporal fusion and stores normal prototypes in memory banks.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23444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224028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309360" y="324612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09360" y="425196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42646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D4ED8"/>
                </a:solidFill>
                <a:latin typeface="Aptos Display"/>
              </a:defRPr>
            </a:pPr>
            <a:r>
              <a:t>MS-VSSB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43230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47857"/>
                </a:solidFill>
                <a:latin typeface="Aptos Display"/>
              </a:defRPr>
            </a:pPr>
            <a:r>
              <a:t>CA-VSSB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438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5309"/>
                </a:solidFill>
                <a:latin typeface="Aptos Display"/>
              </a:defRPr>
            </a:pPr>
            <a:r>
              <a:t>STIM + STFB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44398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75985"/>
                </a:solidFill>
                <a:latin typeface="Aptos Display"/>
              </a:defRPr>
            </a:pPr>
            <a:r>
              <a:t>Memory Banks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M2S2L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M2S2L extends Mamba-based VAD through explicit multi-scale learning.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Spatial scales capture small local changes, medium patterns, and larger scene structure.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Temporal scales capture short motion, medium dynamics, and long behavior.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Feature decomposition separates common, appearance-specific, and motion-specific representations.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3258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0" y="26974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0" y="40690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56832" y="16093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D4ED8"/>
                </a:solidFill>
                <a:latin typeface="Aptos Display"/>
              </a:defRPr>
            </a:pPr>
            <a:r>
              <a:t>Multi-scale spatial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6832" y="29809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47857"/>
                </a:solidFill>
                <a:latin typeface="Aptos Display"/>
              </a:defRPr>
            </a:pPr>
            <a:r>
              <a:t>Multi-scale temporal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43525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BE123C"/>
                </a:solidFill>
                <a:latin typeface="Aptos Display"/>
              </a:defRPr>
            </a:pPr>
            <a:r>
              <a:t>Feature decomposition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VADMamba++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VADMamba++ changes the proxy task rather than only changing the architecture.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replaces RGB-to-RGB reconstruction with Gray-to-RGB reasoning.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model receives grayscale frames and predicts plausible RGB frames.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This removes optical flow and converts the pipeline into a single-task framework.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25880"/>
            <a:ext cx="4663440" cy="33375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Aptos Display"/>
              </a:defRPr>
            </a:pPr>
            <a:r>
              <a:t>Gray-to-RGB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2514600"/>
            <a:ext cx="39776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4B5563"/>
                </a:solidFill>
                <a:latin typeface="Aptos"/>
              </a:defRPr>
            </a:pPr>
            <a:r>
              <a:t>The anomaly signal comes from both structural geometry errors and chromatic appearance errors.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VADMamba++: Hybrid Modeling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48056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183879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D4ED8"/>
                </a:solidFill>
                <a:latin typeface="Aptos Display"/>
              </a:defRPr>
            </a:pPr>
            <a:r>
              <a:t>Transformer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Global context modeling.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47857"/>
                </a:solidFill>
                <a:latin typeface="Aptos Display"/>
              </a:defRPr>
            </a:pPr>
            <a:r>
              <a:t>Mamba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Long-range temporal dependencies.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B45309"/>
                </a:solidFill>
                <a:latin typeface="Aptos Display"/>
              </a:defRPr>
            </a:pPr>
            <a:r>
              <a:t>CNN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Local spatial refinement.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best encoder order is coarse-to-fine: Transformer, then Mamba, then CNN.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Results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VADMamba proves that selective SSMs can be effective for unsupervised VAD.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STNMamba improves spatial-temporal learning while remaining lightweight.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M2S2L improves accuracy by specializing scale and modality representations.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VADMamba++ improves the accuracy-speed trade-off with Gray-to-RGB and no optical 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6616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86968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  <a:latin typeface="Aptos Display"/>
              </a:defRPr>
            </a:pPr>
            <a:r>
              <a:t>Backbone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47857"/>
                </a:solidFill>
                <a:latin typeface="Aptos Display"/>
              </a:defRPr>
            </a:pPr>
            <a:r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5309"/>
                </a:solidFill>
                <a:latin typeface="Aptos Display"/>
              </a:defRPr>
            </a:pPr>
            <a:r>
              <a:t>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E123C"/>
                </a:solidFill>
                <a:latin typeface="Aptos Display"/>
              </a:defRPr>
            </a:pPr>
            <a:r>
              <a:t>Proxy task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Multilingual Prompt-Guided WSVAD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final paper returns to the weakly supervised setting.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extends CLIP-style WSVAD with multilingual prompt pools.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Adaptive Top-K selection chooses the most useful prompts for each video snippet.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Mamba and Transformer are combined for multi-granularity temporal modeling.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25880"/>
            <a:ext cx="4572000" cy="347472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75985"/>
                </a:solidFill>
                <a:latin typeface="Aptos Display"/>
              </a:defRPr>
            </a:pPr>
            <a:r>
              <a:t>Bridge to WSVAD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2468880"/>
            <a:ext cx="3886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Here Mamba is not the whole VAD paradigm. It is a temporal reasoning module inside a CLIP and prompt-guided pipeline.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Evolution of Ideas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578608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745736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912864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079992" y="1874519"/>
            <a:ext cx="2697480" cy="11430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  <a:latin typeface="Aptos Display"/>
              </a:defRPr>
            </a:pPr>
            <a:r>
              <a:t>VADMamba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47857"/>
                </a:solidFill>
                <a:latin typeface="Aptos Display"/>
              </a:defRPr>
            </a:pPr>
            <a:r>
              <a:t>STNMamba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8616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5309"/>
                </a:solidFill>
                <a:latin typeface="Aptos Display"/>
              </a:defRPr>
            </a:pPr>
            <a:r>
              <a:t>M2S2L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75985"/>
                </a:solidFill>
                <a:latin typeface="Aptos Display"/>
              </a:defRPr>
            </a:pPr>
            <a:r>
              <a:t>VADM++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7152" y="222199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BE123C"/>
                </a:solidFill>
                <a:latin typeface="Aptos Display"/>
              </a:defRPr>
            </a:pPr>
            <a:r>
              <a:t>Multilingual WSVAD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03320"/>
            <a:ext cx="10332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From Mamba as an efficient temporal backbone.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spatial-temporal normality learning with memory.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multi-scale and modality-specialized reconstruction.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simpler proxy tasks and better deployment efficiency.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CLIP, multilingual prompts, and weakly supervised localization.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What Is Already in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clear distinction between unsupervised VAD and WSVAD evaluation protocols.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map of how Mamba enters VAD: backbone, spatial-temporal fusion, memory, and prompt-guided temporal modeling.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comparison of architectural improvements versus proxy-task improvements.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bridge from reconstruction-based Mamba papers back to the main weakly supervised research direction.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Suggested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Build a comparison matrix separating unsupervised VAD from WSVAD methods.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For each method, record supervision type, backbone, temporal module, anomaly score, datasets, and metrics.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Decide whether the PhD direction should use Mamba as a full backbone or as a temporal module inside a CLIP/WSVAD pipeline.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Use that decision to define the first implementation target and baseline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943</Words>
  <Application>Microsoft Office PowerPoint</Application>
  <PresentationFormat>Panorámica</PresentationFormat>
  <Paragraphs>126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Maximo Pacheco</cp:lastModifiedBy>
  <cp:revision>7</cp:revision>
  <dcterms:created xsi:type="dcterms:W3CDTF">2013-01-27T09:14:16Z</dcterms:created>
  <dcterms:modified xsi:type="dcterms:W3CDTF">2026-09-23T12:19:36Z</dcterms:modified>
  <cp:category/>
</cp:coreProperties>
</file>