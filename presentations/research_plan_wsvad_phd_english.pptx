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8" r:id="rId3"/>
    <p:sldId id="257" r:id="rId4"/>
    <p:sldId id="267" r:id="rId5"/>
    <p:sldId id="259" r:id="rId6"/>
    <p:sldId id="260" r:id="rId7"/>
    <p:sldId id="261" r:id="rId8"/>
    <p:sldId id="263" r:id="rId9"/>
    <p:sldId id="269" r:id="rId10"/>
    <p:sldId id="265" r:id="rId11"/>
    <p:sldId id="266"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1" autoAdjust="0"/>
  </p:normalViewPr>
  <p:slideViewPr>
    <p:cSldViewPr snapToGrid="0" snapToObjects="1">
      <p:cViewPr varScale="1">
        <p:scale>
          <a:sx n="78" d="100"/>
          <a:sy n="78" d="100"/>
        </p:scale>
        <p:origin x="878"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753520-9148-4373-BAA4-B078924F91BA}" type="datetimeFigureOut">
              <a:rPr lang="es-MX" smtClean="0"/>
              <a:t>19/08/2026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E4209E-5173-4C4C-9180-36907F06149C}" type="slidenum">
              <a:rPr lang="es-MX" smtClean="0"/>
              <a:t>‹Nº›</a:t>
            </a:fld>
            <a:endParaRPr lang="es-MX"/>
          </a:p>
        </p:txBody>
      </p:sp>
    </p:spTree>
    <p:extLst>
      <p:ext uri="{BB962C8B-B14F-4D97-AF65-F5344CB8AC3E}">
        <p14:creationId xmlns:p14="http://schemas.microsoft.com/office/powerpoint/2010/main" val="4117332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0AE4209E-5173-4C4C-9180-36907F06149C}" type="slidenum">
              <a:rPr lang="es-MX" smtClean="0"/>
              <a:t>8</a:t>
            </a:fld>
            <a:endParaRPr lang="es-MX"/>
          </a:p>
        </p:txBody>
      </p:sp>
    </p:spTree>
    <p:extLst>
      <p:ext uri="{BB962C8B-B14F-4D97-AF65-F5344CB8AC3E}">
        <p14:creationId xmlns:p14="http://schemas.microsoft.com/office/powerpoint/2010/main" val="2680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8DB436E-925D-4F89-B73C-C97BBB73A2F1}" type="datetime1">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5206AFD-ECC1-4DF3-BF86-122EFFD5514E}" type="datetime1">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7F0C0A-E3BB-4895-9CFB-BED0E9FC9D04}" type="datetime1">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61435A-07AE-438E-AF20-E4E6BBC17193}" type="datetime1">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32B9363-547B-4541-B5EA-F83F9CCB3EE3}" type="datetime1">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7C36C21-FE8D-4478-8A69-59AD09E664D5}" type="datetime1">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05C467-F8EA-4F3E-B0E3-01A2354294BA}" type="datetime1">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B99298-B17F-440A-894A-5EC2820DB843}" type="datetime1">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A746ACC-82C2-45E3-ABB3-54CA1D88603E}" type="datetime1">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3EB1BB-3A36-4D6D-A0FD-7206E2A10C1E}" type="datetime1">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FA8361-70E0-46C6-8194-13E8F23ED013}" type="datetime1">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644CAE-3B49-40FB-A78F-EB1FCDBA88A7}" type="datetime1">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601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848600" y="0"/>
            <a:ext cx="4342447" cy="68580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7848600" y="0"/>
            <a:ext cx="133350" cy="6858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400050" y="400050"/>
            <a:ext cx="3429000" cy="285750"/>
          </a:xfrm>
          <a:prstGeom prst="rect">
            <a:avLst/>
          </a:prstGeom>
          <a:noFill/>
        </p:spPr>
        <p:txBody>
          <a:bodyPr wrap="square" lIns="0" tIns="0" rIns="0" bIns="0">
            <a:normAutofit/>
          </a:bodyPr>
          <a:lstStyle/>
          <a:p>
            <a:pPr algn="l">
              <a:spcAft>
                <a:spcPts val="400"/>
              </a:spcAft>
              <a:defRPr sz="1400" b="1">
                <a:solidFill>
                  <a:srgbClr val="555555"/>
                </a:solidFill>
                <a:latin typeface="Helvetica Neue"/>
              </a:defRPr>
            </a:pPr>
            <a:r>
              <a:rPr dirty="0"/>
              <a:t>Research Plan</a:t>
            </a:r>
          </a:p>
        </p:txBody>
      </p:sp>
      <p:sp>
        <p:nvSpPr>
          <p:cNvPr id="5" name="TextBox 4"/>
          <p:cNvSpPr txBox="1"/>
          <p:nvPr/>
        </p:nvSpPr>
        <p:spPr>
          <a:xfrm>
            <a:off x="400050" y="1466850"/>
            <a:ext cx="7239000" cy="2362200"/>
          </a:xfrm>
          <a:prstGeom prst="rect">
            <a:avLst/>
          </a:prstGeom>
          <a:noFill/>
        </p:spPr>
        <p:txBody>
          <a:bodyPr wrap="square" lIns="0" tIns="0" rIns="0" bIns="0">
            <a:normAutofit lnSpcReduction="10000"/>
          </a:bodyPr>
          <a:lstStyle/>
          <a:p>
            <a:pPr algn="l">
              <a:spcAft>
                <a:spcPts val="400"/>
              </a:spcAft>
              <a:defRPr sz="3900" b="1">
                <a:solidFill>
                  <a:srgbClr val="000000"/>
                </a:solidFill>
                <a:latin typeface="Helvetica Neue"/>
              </a:defRPr>
            </a:pPr>
            <a:r>
              <a:rPr dirty="0"/>
              <a:t>Robust Temporal Representation Learning for Weakly Supervised Video Anomaly Detection</a:t>
            </a:r>
          </a:p>
        </p:txBody>
      </p:sp>
      <p:sp>
        <p:nvSpPr>
          <p:cNvPr id="6" name="TextBox 5"/>
          <p:cNvSpPr txBox="1"/>
          <p:nvPr/>
        </p:nvSpPr>
        <p:spPr>
          <a:xfrm>
            <a:off x="400050" y="4362450"/>
            <a:ext cx="6191250" cy="876300"/>
          </a:xfrm>
          <a:prstGeom prst="rect">
            <a:avLst/>
          </a:prstGeom>
          <a:noFill/>
        </p:spPr>
        <p:txBody>
          <a:bodyPr wrap="square" lIns="0" tIns="0" rIns="0" bIns="0">
            <a:normAutofit/>
          </a:bodyPr>
          <a:lstStyle/>
          <a:p>
            <a:pPr algn="l">
              <a:spcAft>
                <a:spcPts val="400"/>
              </a:spcAft>
              <a:defRPr sz="1800" b="0">
                <a:solidFill>
                  <a:srgbClr val="555555"/>
                </a:solidFill>
                <a:latin typeface="Helvetica Neue"/>
              </a:defRPr>
            </a:pPr>
            <a:r>
              <a:rPr dirty="0"/>
              <a:t>A doctoral research plan focused on efficient temporal models, vision-language semantics, and generalization to unseen anomalies.</a:t>
            </a:r>
          </a:p>
        </p:txBody>
      </p:sp>
      <p:sp>
        <p:nvSpPr>
          <p:cNvPr id="7" name="TextBox 6"/>
          <p:cNvSpPr txBox="1"/>
          <p:nvPr/>
        </p:nvSpPr>
        <p:spPr>
          <a:xfrm>
            <a:off x="400050" y="6000750"/>
            <a:ext cx="3619500" cy="342900"/>
          </a:xfrm>
          <a:prstGeom prst="rect">
            <a:avLst/>
          </a:prstGeom>
          <a:noFill/>
        </p:spPr>
        <p:txBody>
          <a:bodyPr wrap="square" lIns="0" tIns="0" rIns="0" bIns="0">
            <a:normAutofit/>
          </a:bodyPr>
          <a:lstStyle/>
          <a:p>
            <a:pPr algn="l">
              <a:spcAft>
                <a:spcPts val="400"/>
              </a:spcAft>
              <a:defRPr sz="1500" b="1">
                <a:solidFill>
                  <a:srgbClr val="000000"/>
                </a:solidFill>
                <a:latin typeface="Helvetica Neue"/>
              </a:defRPr>
            </a:pPr>
            <a:r>
              <a:rPr dirty="0"/>
              <a:t>Presented to the doctoral jury</a:t>
            </a:r>
          </a:p>
        </p:txBody>
      </p:sp>
      <p:sp>
        <p:nvSpPr>
          <p:cNvPr id="8" name="TextBox 7"/>
          <p:cNvSpPr txBox="1"/>
          <p:nvPr/>
        </p:nvSpPr>
        <p:spPr>
          <a:xfrm>
            <a:off x="8477250" y="5619750"/>
            <a:ext cx="2857500" cy="400050"/>
          </a:xfrm>
          <a:prstGeom prst="rect">
            <a:avLst/>
          </a:prstGeom>
          <a:noFill/>
        </p:spPr>
        <p:txBody>
          <a:bodyPr wrap="square" lIns="0" tIns="0" rIns="0" bIns="0">
            <a:normAutofit/>
          </a:bodyPr>
          <a:lstStyle/>
          <a:p>
            <a:pPr algn="l">
              <a:spcAft>
                <a:spcPts val="400"/>
              </a:spcAft>
              <a:defRPr sz="2100" b="1">
                <a:solidFill>
                  <a:srgbClr val="000000"/>
                </a:solidFill>
                <a:latin typeface="Helvetica Neue"/>
              </a:defRPr>
            </a:pPr>
            <a:r>
              <a:rPr dirty="0"/>
              <a:t>WSVAD | SSMs | VLMs</a:t>
            </a:r>
          </a:p>
        </p:txBody>
      </p:sp>
      <p:sp>
        <p:nvSpPr>
          <p:cNvPr id="10" name="Marcador de número de diapositiva 9">
            <a:extLst>
              <a:ext uri="{FF2B5EF4-FFF2-40B4-BE49-F238E27FC236}">
                <a16:creationId xmlns:a16="http://schemas.microsoft.com/office/drawing/2014/main" id="{BA9D6A69-99D0-1A4C-0900-7DDD7954D19A}"/>
              </a:ext>
            </a:extLst>
          </p:cNvPr>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00050" y="914399"/>
            <a:ext cx="4095750" cy="990599"/>
          </a:xfrm>
          <a:prstGeom prst="rect">
            <a:avLst/>
          </a:prstGeom>
          <a:noFill/>
        </p:spPr>
        <p:txBody>
          <a:bodyPr wrap="square" lIns="0" tIns="0" rIns="0" bIns="0">
            <a:normAutofit/>
          </a:bodyPr>
          <a:lstStyle/>
          <a:p>
            <a:pPr algn="l">
              <a:spcAft>
                <a:spcPts val="400"/>
              </a:spcAft>
              <a:defRPr sz="3200" b="1">
                <a:solidFill>
                  <a:srgbClr val="000000"/>
                </a:solidFill>
                <a:latin typeface="Helvetica Neue"/>
              </a:defRPr>
            </a:pPr>
            <a:r>
              <a:rPr dirty="0"/>
              <a:t>Defense Roadmap</a:t>
            </a:r>
          </a:p>
        </p:txBody>
      </p:sp>
      <p:grpSp>
        <p:nvGrpSpPr>
          <p:cNvPr id="22" name="Grupo 21">
            <a:extLst>
              <a:ext uri="{FF2B5EF4-FFF2-40B4-BE49-F238E27FC236}">
                <a16:creationId xmlns:a16="http://schemas.microsoft.com/office/drawing/2014/main" id="{6A4D8632-1EF3-CAF3-36F5-F97BCC893C92}"/>
              </a:ext>
            </a:extLst>
          </p:cNvPr>
          <p:cNvGrpSpPr/>
          <p:nvPr/>
        </p:nvGrpSpPr>
        <p:grpSpPr>
          <a:xfrm>
            <a:off x="5905500" y="1652587"/>
            <a:ext cx="5334000" cy="3571875"/>
            <a:chOff x="5905500" y="857250"/>
            <a:chExt cx="5334000" cy="3571875"/>
          </a:xfrm>
        </p:grpSpPr>
        <p:sp>
          <p:nvSpPr>
            <p:cNvPr id="3" name="TextBox 2"/>
            <p:cNvSpPr txBox="1"/>
            <p:nvPr/>
          </p:nvSpPr>
          <p:spPr>
            <a:xfrm>
              <a:off x="5905500" y="857250"/>
              <a:ext cx="647700" cy="419100"/>
            </a:xfrm>
            <a:prstGeom prst="rect">
              <a:avLst/>
            </a:prstGeom>
            <a:noFill/>
          </p:spPr>
          <p:txBody>
            <a:bodyPr wrap="square" lIns="0" tIns="0" rIns="0" bIns="0">
              <a:normAutofit/>
            </a:bodyPr>
            <a:lstStyle/>
            <a:p>
              <a:pPr algn="l">
                <a:spcAft>
                  <a:spcPts val="400"/>
                </a:spcAft>
                <a:defRPr sz="2500" b="1">
                  <a:solidFill>
                    <a:srgbClr val="FF6B35"/>
                  </a:solidFill>
                  <a:latin typeface="Helvetica Neue"/>
                </a:defRPr>
              </a:pPr>
              <a:r>
                <a:t>01</a:t>
              </a:r>
            </a:p>
          </p:txBody>
        </p:sp>
        <p:sp>
          <p:nvSpPr>
            <p:cNvPr id="4" name="TextBox 3"/>
            <p:cNvSpPr txBox="1"/>
            <p:nvPr/>
          </p:nvSpPr>
          <p:spPr>
            <a:xfrm>
              <a:off x="6762750" y="857250"/>
              <a:ext cx="4476750" cy="457200"/>
            </a:xfrm>
            <a:prstGeom prst="rect">
              <a:avLst/>
            </a:prstGeom>
            <a:noFill/>
          </p:spPr>
          <p:txBody>
            <a:bodyPr wrap="square" lIns="0" tIns="0" rIns="0" bIns="0">
              <a:normAutofit/>
            </a:bodyPr>
            <a:lstStyle/>
            <a:p>
              <a:pPr algn="l">
                <a:spcAft>
                  <a:spcPts val="400"/>
                </a:spcAft>
                <a:defRPr sz="2300" b="0">
                  <a:solidFill>
                    <a:srgbClr val="000000"/>
                  </a:solidFill>
                  <a:latin typeface="Helvetica Neue"/>
                </a:defRPr>
              </a:pPr>
              <a:r>
                <a:rPr lang="en-US" dirty="0"/>
                <a:t>Academic</a:t>
              </a:r>
              <a:r>
                <a:rPr dirty="0"/>
                <a:t> background</a:t>
              </a:r>
            </a:p>
          </p:txBody>
        </p:sp>
        <p:sp>
          <p:nvSpPr>
            <p:cNvPr id="5" name="Rectangle 4"/>
            <p:cNvSpPr/>
            <p:nvPr/>
          </p:nvSpPr>
          <p:spPr>
            <a:xfrm>
              <a:off x="5905500" y="1447800"/>
              <a:ext cx="5334000" cy="9525"/>
            </a:xfrm>
            <a:prstGeom prst="rect">
              <a:avLst/>
            </a:prstGeom>
            <a:solidFill>
              <a:srgbClr val="B8B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05500" y="1847850"/>
              <a:ext cx="647700" cy="419100"/>
            </a:xfrm>
            <a:prstGeom prst="rect">
              <a:avLst/>
            </a:prstGeom>
            <a:noFill/>
          </p:spPr>
          <p:txBody>
            <a:bodyPr wrap="square" lIns="0" tIns="0" rIns="0" bIns="0">
              <a:normAutofit/>
            </a:bodyPr>
            <a:lstStyle/>
            <a:p>
              <a:pPr algn="l">
                <a:spcAft>
                  <a:spcPts val="400"/>
                </a:spcAft>
                <a:defRPr sz="2500" b="1">
                  <a:solidFill>
                    <a:srgbClr val="FF6B35"/>
                  </a:solidFill>
                  <a:latin typeface="Helvetica Neue"/>
                </a:defRPr>
              </a:pPr>
              <a:r>
                <a:rPr dirty="0"/>
                <a:t>02</a:t>
              </a:r>
            </a:p>
          </p:txBody>
        </p:sp>
        <p:sp>
          <p:nvSpPr>
            <p:cNvPr id="7" name="TextBox 6"/>
            <p:cNvSpPr txBox="1"/>
            <p:nvPr/>
          </p:nvSpPr>
          <p:spPr>
            <a:xfrm>
              <a:off x="6762750" y="1847850"/>
              <a:ext cx="4476750" cy="457200"/>
            </a:xfrm>
            <a:prstGeom prst="rect">
              <a:avLst/>
            </a:prstGeom>
            <a:noFill/>
          </p:spPr>
          <p:txBody>
            <a:bodyPr wrap="square" lIns="0" tIns="0" rIns="0" bIns="0">
              <a:normAutofit/>
            </a:bodyPr>
            <a:lstStyle/>
            <a:p>
              <a:pPr algn="l">
                <a:spcAft>
                  <a:spcPts val="400"/>
                </a:spcAft>
                <a:defRPr sz="2300" b="0">
                  <a:solidFill>
                    <a:srgbClr val="000000"/>
                  </a:solidFill>
                  <a:latin typeface="Helvetica Neue"/>
                </a:defRPr>
              </a:pPr>
              <a:r>
                <a:rPr dirty="0"/>
                <a:t>Context and research problem</a:t>
              </a:r>
            </a:p>
          </p:txBody>
        </p:sp>
        <p:sp>
          <p:nvSpPr>
            <p:cNvPr id="8" name="Rectangle 7"/>
            <p:cNvSpPr/>
            <p:nvPr/>
          </p:nvSpPr>
          <p:spPr>
            <a:xfrm>
              <a:off x="5905500" y="2438400"/>
              <a:ext cx="5334000" cy="9525"/>
            </a:xfrm>
            <a:prstGeom prst="rect">
              <a:avLst/>
            </a:prstGeom>
            <a:solidFill>
              <a:srgbClr val="B8B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05500" y="2838450"/>
              <a:ext cx="647700" cy="419100"/>
            </a:xfrm>
            <a:prstGeom prst="rect">
              <a:avLst/>
            </a:prstGeom>
            <a:noFill/>
          </p:spPr>
          <p:txBody>
            <a:bodyPr wrap="square" lIns="0" tIns="0" rIns="0" bIns="0">
              <a:normAutofit/>
            </a:bodyPr>
            <a:lstStyle/>
            <a:p>
              <a:pPr algn="l">
                <a:spcAft>
                  <a:spcPts val="400"/>
                </a:spcAft>
                <a:defRPr sz="2500" b="1">
                  <a:solidFill>
                    <a:srgbClr val="FF6B35"/>
                  </a:solidFill>
                  <a:latin typeface="Helvetica Neue"/>
                </a:defRPr>
              </a:pPr>
              <a:r>
                <a:t>03</a:t>
              </a:r>
            </a:p>
          </p:txBody>
        </p:sp>
        <p:sp>
          <p:nvSpPr>
            <p:cNvPr id="10" name="TextBox 9"/>
            <p:cNvSpPr txBox="1"/>
            <p:nvPr/>
          </p:nvSpPr>
          <p:spPr>
            <a:xfrm>
              <a:off x="6762750" y="2838450"/>
              <a:ext cx="4476750" cy="457200"/>
            </a:xfrm>
            <a:prstGeom prst="rect">
              <a:avLst/>
            </a:prstGeom>
            <a:noFill/>
          </p:spPr>
          <p:txBody>
            <a:bodyPr wrap="square" lIns="0" tIns="0" rIns="0" bIns="0">
              <a:normAutofit fontScale="77500" lnSpcReduction="20000"/>
            </a:bodyPr>
            <a:lstStyle/>
            <a:p>
              <a:pPr algn="l">
                <a:spcAft>
                  <a:spcPts val="400"/>
                </a:spcAft>
                <a:defRPr sz="2300" b="0">
                  <a:solidFill>
                    <a:srgbClr val="000000"/>
                  </a:solidFill>
                  <a:latin typeface="Helvetica Neue"/>
                </a:defRPr>
              </a:pPr>
              <a:r>
                <a:rPr dirty="0"/>
                <a:t>Scientific gap</a:t>
              </a:r>
              <a:r>
                <a:rPr lang="es-MX" dirty="0"/>
                <a:t>, </a:t>
              </a:r>
              <a:r>
                <a:rPr lang="en-US" dirty="0"/>
                <a:t>objective</a:t>
              </a:r>
              <a:r>
                <a:rPr dirty="0"/>
                <a:t> and central hypothesis</a:t>
              </a:r>
            </a:p>
          </p:txBody>
        </p:sp>
        <p:sp>
          <p:nvSpPr>
            <p:cNvPr id="11" name="Rectangle 10"/>
            <p:cNvSpPr/>
            <p:nvPr/>
          </p:nvSpPr>
          <p:spPr>
            <a:xfrm>
              <a:off x="5905500" y="3429000"/>
              <a:ext cx="5334000" cy="9525"/>
            </a:xfrm>
            <a:prstGeom prst="rect">
              <a:avLst/>
            </a:prstGeom>
            <a:solidFill>
              <a:srgbClr val="B8B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05500" y="3829050"/>
              <a:ext cx="647700" cy="419100"/>
            </a:xfrm>
            <a:prstGeom prst="rect">
              <a:avLst/>
            </a:prstGeom>
            <a:noFill/>
          </p:spPr>
          <p:txBody>
            <a:bodyPr wrap="square" lIns="0" tIns="0" rIns="0" bIns="0">
              <a:normAutofit/>
            </a:bodyPr>
            <a:lstStyle/>
            <a:p>
              <a:pPr algn="l">
                <a:spcAft>
                  <a:spcPts val="400"/>
                </a:spcAft>
                <a:defRPr sz="2500" b="1">
                  <a:solidFill>
                    <a:srgbClr val="FF6B35"/>
                  </a:solidFill>
                  <a:latin typeface="Helvetica Neue"/>
                </a:defRPr>
              </a:pPr>
              <a:r>
                <a:rPr dirty="0"/>
                <a:t>0</a:t>
              </a:r>
              <a:r>
                <a:rPr lang="es-MX" dirty="0"/>
                <a:t>4</a:t>
              </a:r>
              <a:endParaRPr dirty="0"/>
            </a:p>
          </p:txBody>
        </p:sp>
        <p:sp>
          <p:nvSpPr>
            <p:cNvPr id="16" name="TextBox 15"/>
            <p:cNvSpPr txBox="1"/>
            <p:nvPr/>
          </p:nvSpPr>
          <p:spPr>
            <a:xfrm>
              <a:off x="6762750" y="3829050"/>
              <a:ext cx="4476750" cy="457200"/>
            </a:xfrm>
            <a:prstGeom prst="rect">
              <a:avLst/>
            </a:prstGeom>
            <a:noFill/>
          </p:spPr>
          <p:txBody>
            <a:bodyPr wrap="square" lIns="0" tIns="0" rIns="0" bIns="0">
              <a:normAutofit fontScale="70000" lnSpcReduction="20000"/>
            </a:bodyPr>
            <a:lstStyle/>
            <a:p>
              <a:pPr algn="l">
                <a:spcAft>
                  <a:spcPts val="400"/>
                </a:spcAft>
                <a:defRPr sz="2300" b="0">
                  <a:solidFill>
                    <a:srgbClr val="000000"/>
                  </a:solidFill>
                  <a:latin typeface="Helvetica Neue"/>
                </a:defRPr>
              </a:pPr>
              <a:r>
                <a:rPr dirty="0"/>
                <a:t>Three-stage methodology,</a:t>
              </a:r>
              <a:r>
                <a:rPr lang="es-MX" dirty="0"/>
                <a:t> </a:t>
              </a:r>
              <a:r>
                <a:rPr lang="en-US" dirty="0"/>
                <a:t>previous research</a:t>
              </a:r>
              <a:r>
                <a:rPr lang="es-MX" dirty="0"/>
                <a:t>, </a:t>
              </a:r>
              <a:r>
                <a:rPr dirty="0"/>
                <a:t> evaluation, and expected contributions</a:t>
              </a:r>
            </a:p>
          </p:txBody>
        </p:sp>
        <p:sp>
          <p:nvSpPr>
            <p:cNvPr id="17" name="Rectangle 16"/>
            <p:cNvSpPr/>
            <p:nvPr/>
          </p:nvSpPr>
          <p:spPr>
            <a:xfrm>
              <a:off x="5905500" y="4419600"/>
              <a:ext cx="5334000" cy="9525"/>
            </a:xfrm>
            <a:prstGeom prst="rect">
              <a:avLst/>
            </a:prstGeom>
            <a:solidFill>
              <a:srgbClr val="B8B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24" name="Marcador de número de diapositiva 23">
            <a:extLst>
              <a:ext uri="{FF2B5EF4-FFF2-40B4-BE49-F238E27FC236}">
                <a16:creationId xmlns:a16="http://schemas.microsoft.com/office/drawing/2014/main" id="{59949F2A-477F-C68F-D222-AD51E741129F}"/>
              </a:ext>
            </a:extLst>
          </p:cNvPr>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00050" y="400050"/>
            <a:ext cx="3619500" cy="266700"/>
          </a:xfrm>
          <a:prstGeom prst="rect">
            <a:avLst/>
          </a:prstGeom>
          <a:noFill/>
        </p:spPr>
        <p:txBody>
          <a:bodyPr wrap="square" lIns="0" tIns="0" rIns="0" bIns="0">
            <a:normAutofit/>
          </a:bodyPr>
          <a:lstStyle/>
          <a:p>
            <a:pPr algn="l">
              <a:spcAft>
                <a:spcPts val="400"/>
              </a:spcAft>
              <a:defRPr sz="1200" b="1">
                <a:solidFill>
                  <a:srgbClr val="555555"/>
                </a:solidFill>
                <a:latin typeface="Helvetica Neue"/>
              </a:defRPr>
            </a:pPr>
            <a:r>
              <a:rPr dirty="0"/>
              <a:t>DOCTORAL RESEARCH PLAN</a:t>
            </a:r>
          </a:p>
        </p:txBody>
      </p:sp>
      <p:sp>
        <p:nvSpPr>
          <p:cNvPr id="3" name="TextBox 2"/>
          <p:cNvSpPr txBox="1"/>
          <p:nvPr/>
        </p:nvSpPr>
        <p:spPr>
          <a:xfrm>
            <a:off x="400050" y="781050"/>
            <a:ext cx="7334250" cy="819150"/>
          </a:xfrm>
          <a:prstGeom prst="rect">
            <a:avLst/>
          </a:prstGeom>
          <a:noFill/>
        </p:spPr>
        <p:txBody>
          <a:bodyPr wrap="square" lIns="0" tIns="0" rIns="0" bIns="0">
            <a:normAutofit/>
          </a:bodyPr>
          <a:lstStyle/>
          <a:p>
            <a:pPr algn="l">
              <a:spcAft>
                <a:spcPts val="400"/>
              </a:spcAft>
              <a:defRPr sz="3200" b="1">
                <a:solidFill>
                  <a:srgbClr val="000000"/>
                </a:solidFill>
                <a:latin typeface="Helvetica Neue"/>
              </a:defRPr>
            </a:pPr>
            <a:r>
              <a:rPr lang="en-US" dirty="0"/>
              <a:t>Academic</a:t>
            </a:r>
            <a:r>
              <a:rPr dirty="0"/>
              <a:t> Background</a:t>
            </a:r>
          </a:p>
        </p:txBody>
      </p:sp>
      <p:sp>
        <p:nvSpPr>
          <p:cNvPr id="4" name="TextBox 3"/>
          <p:cNvSpPr txBox="1"/>
          <p:nvPr/>
        </p:nvSpPr>
        <p:spPr>
          <a:xfrm>
            <a:off x="400050" y="1377043"/>
            <a:ext cx="11010900" cy="329692"/>
          </a:xfrm>
          <a:prstGeom prst="rect">
            <a:avLst/>
          </a:prstGeom>
          <a:noFill/>
        </p:spPr>
        <p:txBody>
          <a:bodyPr wrap="square" lIns="0" tIns="0" rIns="0" bIns="0">
            <a:noAutofit/>
          </a:bodyPr>
          <a:lstStyle/>
          <a:p>
            <a:pPr>
              <a:spcAft>
                <a:spcPts val="400"/>
              </a:spcAft>
              <a:defRPr sz="1700" b="0">
                <a:solidFill>
                  <a:srgbClr val="555555"/>
                </a:solidFill>
                <a:latin typeface="Helvetica Neue"/>
              </a:defRPr>
            </a:pPr>
            <a:r>
              <a:rPr sz="1200" dirty="0"/>
              <a:t>Maximo Enrique Pacheco Martinez | Mexican | </a:t>
            </a:r>
            <a:r>
              <a:rPr lang="es-MX" sz="1200" dirty="0"/>
              <a:t>BUAP | </a:t>
            </a:r>
            <a:r>
              <a:rPr sz="1200" dirty="0"/>
              <a:t>Computer science researcher with work</a:t>
            </a:r>
            <a:r>
              <a:rPr lang="es-MX" sz="1200" dirty="0"/>
              <a:t> in</a:t>
            </a:r>
            <a:r>
              <a:rPr sz="1200" dirty="0"/>
              <a:t> </a:t>
            </a:r>
            <a:r>
              <a:rPr lang="es-MX" sz="1200" dirty="0"/>
              <a:t>artificial intelligence</a:t>
            </a:r>
            <a:r>
              <a:rPr sz="1200" dirty="0"/>
              <a:t> </a:t>
            </a:r>
            <a:r>
              <a:rPr lang="en-US" sz="1200" dirty="0"/>
              <a:t>particularly</a:t>
            </a:r>
            <a:r>
              <a:rPr lang="es-MX" sz="1200" dirty="0"/>
              <a:t> in </a:t>
            </a:r>
            <a:r>
              <a:rPr lang="es-MX" sz="1200" dirty="0" err="1"/>
              <a:t>metaheuristics</a:t>
            </a:r>
            <a:r>
              <a:rPr lang="es-MX" sz="1200" dirty="0"/>
              <a:t> and NLP</a:t>
            </a:r>
            <a:r>
              <a:rPr sz="1200" dirty="0"/>
              <a:t>.</a:t>
            </a:r>
          </a:p>
        </p:txBody>
      </p:sp>
      <p:grpSp>
        <p:nvGrpSpPr>
          <p:cNvPr id="43" name="Grupo 42">
            <a:extLst>
              <a:ext uri="{FF2B5EF4-FFF2-40B4-BE49-F238E27FC236}">
                <a16:creationId xmlns:a16="http://schemas.microsoft.com/office/drawing/2014/main" id="{EB7A461A-7F3F-51BC-A102-349C1D915CF3}"/>
              </a:ext>
            </a:extLst>
          </p:cNvPr>
          <p:cNvGrpSpPr/>
          <p:nvPr/>
        </p:nvGrpSpPr>
        <p:grpSpPr>
          <a:xfrm>
            <a:off x="400050" y="1821911"/>
            <a:ext cx="3730680" cy="1651821"/>
            <a:chOff x="400050" y="1821911"/>
            <a:chExt cx="3730680" cy="1651821"/>
          </a:xfrm>
        </p:grpSpPr>
        <p:sp>
          <p:nvSpPr>
            <p:cNvPr id="6" name="Rectangle 5"/>
            <p:cNvSpPr/>
            <p:nvPr/>
          </p:nvSpPr>
          <p:spPr>
            <a:xfrm>
              <a:off x="400050" y="1821911"/>
              <a:ext cx="3730680" cy="1651821"/>
            </a:xfrm>
            <a:prstGeom prst="rect">
              <a:avLst/>
            </a:prstGeom>
            <a:solidFill>
              <a:srgbClr val="FFF0EA"/>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p:cNvSpPr txBox="1"/>
            <p:nvPr/>
          </p:nvSpPr>
          <p:spPr>
            <a:xfrm>
              <a:off x="495300" y="1906054"/>
              <a:ext cx="3238500" cy="342900"/>
            </a:xfrm>
            <a:prstGeom prst="rect">
              <a:avLst/>
            </a:prstGeom>
            <a:noFill/>
          </p:spPr>
          <p:txBody>
            <a:bodyPr wrap="square" lIns="0" tIns="0" rIns="0" bIns="0">
              <a:normAutofit/>
            </a:bodyPr>
            <a:lstStyle/>
            <a:p>
              <a:pPr algn="l">
                <a:spcAft>
                  <a:spcPts val="400"/>
                </a:spcAft>
                <a:defRPr sz="2200" b="1">
                  <a:solidFill>
                    <a:srgbClr val="FF6B35"/>
                  </a:solidFill>
                  <a:latin typeface="Helvetica Neue"/>
                </a:defRPr>
              </a:pPr>
              <a:r>
                <a:rPr dirty="0"/>
                <a:t>Profile</a:t>
              </a:r>
            </a:p>
          </p:txBody>
        </p:sp>
        <p:sp>
          <p:nvSpPr>
            <p:cNvPr id="8" name="TextBox 7"/>
            <p:cNvSpPr txBox="1"/>
            <p:nvPr/>
          </p:nvSpPr>
          <p:spPr>
            <a:xfrm>
              <a:off x="495300" y="2302728"/>
              <a:ext cx="3524250" cy="1116883"/>
            </a:xfrm>
            <a:prstGeom prst="rect">
              <a:avLst/>
            </a:prstGeom>
            <a:noFill/>
          </p:spPr>
          <p:txBody>
            <a:bodyPr wrap="square" lIns="0" tIns="0" rIns="0" bIns="0">
              <a:normAutofit fontScale="77500" lnSpcReduction="20000"/>
            </a:bodyPr>
            <a:lstStyle/>
            <a:p>
              <a:pPr algn="just">
                <a:spcAft>
                  <a:spcPts val="400"/>
                </a:spcAft>
                <a:defRPr sz="1600" b="0">
                  <a:solidFill>
                    <a:srgbClr val="000000"/>
                  </a:solidFill>
                  <a:latin typeface="Helvetica Neue"/>
                </a:defRPr>
              </a:pPr>
              <a:r>
                <a:rPr lang="en-US" dirty="0"/>
                <a:t>My previous work provided a strong foundation in machine learning, representation learning, and sequence modeling. These experiences motivated my transition from Natural Language Processing to Computer Vision, where temporal representation learning has become the main focus of my PhD.</a:t>
              </a:r>
              <a:endParaRPr dirty="0"/>
            </a:p>
          </p:txBody>
        </p:sp>
      </p:grpSp>
      <p:grpSp>
        <p:nvGrpSpPr>
          <p:cNvPr id="36" name="Grupo 35">
            <a:extLst>
              <a:ext uri="{FF2B5EF4-FFF2-40B4-BE49-F238E27FC236}">
                <a16:creationId xmlns:a16="http://schemas.microsoft.com/office/drawing/2014/main" id="{42655FEB-3341-2310-3A96-154E7022421D}"/>
              </a:ext>
            </a:extLst>
          </p:cNvPr>
          <p:cNvGrpSpPr/>
          <p:nvPr/>
        </p:nvGrpSpPr>
        <p:grpSpPr>
          <a:xfrm>
            <a:off x="4225980" y="1821910"/>
            <a:ext cx="7143750" cy="1651822"/>
            <a:chOff x="4225980" y="1821910"/>
            <a:chExt cx="7143750" cy="1651822"/>
          </a:xfrm>
        </p:grpSpPr>
        <p:sp>
          <p:nvSpPr>
            <p:cNvPr id="11" name="Rectangle 10"/>
            <p:cNvSpPr/>
            <p:nvPr/>
          </p:nvSpPr>
          <p:spPr>
            <a:xfrm>
              <a:off x="4225980" y="1821910"/>
              <a:ext cx="7143750" cy="1651821"/>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nvGrpSpPr>
            <p:cNvPr id="33" name="Grupo 32">
              <a:extLst>
                <a:ext uri="{FF2B5EF4-FFF2-40B4-BE49-F238E27FC236}">
                  <a16:creationId xmlns:a16="http://schemas.microsoft.com/office/drawing/2014/main" id="{DD2F8C24-8B48-627E-8378-D8C5D011D984}"/>
                </a:ext>
              </a:extLst>
            </p:cNvPr>
            <p:cNvGrpSpPr/>
            <p:nvPr/>
          </p:nvGrpSpPr>
          <p:grpSpPr>
            <a:xfrm>
              <a:off x="4443412" y="1907374"/>
              <a:ext cx="6791325" cy="1566358"/>
              <a:chOff x="4486274" y="2348593"/>
              <a:chExt cx="6791325" cy="1680526"/>
            </a:xfrm>
          </p:grpSpPr>
          <p:sp>
            <p:nvSpPr>
              <p:cNvPr id="12" name="Rectangle 11"/>
              <p:cNvSpPr/>
              <p:nvPr/>
            </p:nvSpPr>
            <p:spPr>
              <a:xfrm>
                <a:off x="4514850" y="2419350"/>
                <a:ext cx="152400" cy="1524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TextBox 12"/>
              <p:cNvSpPr txBox="1"/>
              <p:nvPr/>
            </p:nvSpPr>
            <p:spPr>
              <a:xfrm>
                <a:off x="4762500" y="2348593"/>
                <a:ext cx="2838450" cy="323850"/>
              </a:xfrm>
              <a:prstGeom prst="rect">
                <a:avLst/>
              </a:prstGeom>
              <a:noFill/>
            </p:spPr>
            <p:txBody>
              <a:bodyPr wrap="square" lIns="0" tIns="0" rIns="0" bIns="0">
                <a:normAutofit/>
              </a:bodyPr>
              <a:lstStyle/>
              <a:p>
                <a:pPr algn="l">
                  <a:spcAft>
                    <a:spcPts val="400"/>
                  </a:spcAft>
                  <a:defRPr sz="1800" b="1">
                    <a:solidFill>
                      <a:srgbClr val="000000"/>
                    </a:solidFill>
                    <a:latin typeface="Helvetica Neue"/>
                  </a:defRPr>
                </a:pPr>
                <a:r>
                  <a:rPr dirty="0"/>
                  <a:t>Publications</a:t>
                </a:r>
              </a:p>
            </p:txBody>
          </p:sp>
          <p:sp>
            <p:nvSpPr>
              <p:cNvPr id="14" name="TextBox 13"/>
              <p:cNvSpPr txBox="1"/>
              <p:nvPr/>
            </p:nvSpPr>
            <p:spPr>
              <a:xfrm>
                <a:off x="4486274" y="2718751"/>
                <a:ext cx="6791325" cy="1310368"/>
              </a:xfrm>
              <a:prstGeom prst="rect">
                <a:avLst/>
              </a:prstGeom>
              <a:noFill/>
            </p:spPr>
            <p:txBody>
              <a:bodyPr wrap="square" lIns="0" tIns="0" rIns="0" bIns="0">
                <a:normAutofit/>
              </a:bodyPr>
              <a:lstStyle/>
              <a:p>
                <a:pPr algn="just">
                  <a:spcAft>
                    <a:spcPts val="400"/>
                  </a:spcAft>
                  <a:defRPr sz="1400" b="0">
                    <a:solidFill>
                      <a:srgbClr val="555555"/>
                    </a:solidFill>
                    <a:latin typeface="Helvetica Neue"/>
                  </a:defRPr>
                </a:pPr>
                <a:r>
                  <a:rPr lang="en-US" dirty="0"/>
                  <a:t>Binary harmonic search for </a:t>
                </a:r>
                <a:r>
                  <a:rPr lang="en-US" b="1" dirty="0"/>
                  <a:t>attribute selection</a:t>
                </a:r>
                <a:r>
                  <a:rPr lang="en-US" dirty="0"/>
                  <a:t>. Research in Computing Science, Ciudad de México, México, August 2022</a:t>
                </a:r>
              </a:p>
              <a:p>
                <a:pPr algn="just">
                  <a:spcAft>
                    <a:spcPts val="400"/>
                  </a:spcAft>
                  <a:defRPr sz="1400" b="0">
                    <a:solidFill>
                      <a:srgbClr val="555555"/>
                    </a:solidFill>
                    <a:latin typeface="Helvetica Neue"/>
                  </a:defRPr>
                </a:pPr>
                <a:r>
                  <a:rPr lang="es-MX" dirty="0"/>
                  <a:t>Harmony </a:t>
                </a:r>
                <a:r>
                  <a:rPr lang="es-MX" dirty="0" err="1"/>
                  <a:t>search</a:t>
                </a:r>
                <a:r>
                  <a:rPr lang="es-MX" dirty="0"/>
                  <a:t> </a:t>
                </a:r>
                <a:r>
                  <a:rPr lang="es-MX" dirty="0" err="1"/>
                  <a:t>for</a:t>
                </a:r>
                <a:r>
                  <a:rPr lang="es-MX" dirty="0"/>
                  <a:t> </a:t>
                </a:r>
                <a:r>
                  <a:rPr lang="es-MX" b="1" dirty="0" err="1"/>
                  <a:t>hyperparameters</a:t>
                </a:r>
                <a:r>
                  <a:rPr lang="es-MX" b="1" dirty="0"/>
                  <a:t> </a:t>
                </a:r>
                <a:r>
                  <a:rPr lang="es-MX" b="1" dirty="0" err="1"/>
                  <a:t>optimization</a:t>
                </a:r>
                <a:r>
                  <a:rPr lang="es-MX" b="1" dirty="0"/>
                  <a:t> </a:t>
                </a:r>
                <a:r>
                  <a:rPr lang="es-MX" dirty="0" err="1"/>
                  <a:t>of</a:t>
                </a:r>
                <a:r>
                  <a:rPr lang="es-MX" dirty="0"/>
                  <a:t> a </a:t>
                </a:r>
                <a:r>
                  <a:rPr lang="es-MX" dirty="0" err="1"/>
                  <a:t>low</a:t>
                </a:r>
                <a:r>
                  <a:rPr lang="es-MX" dirty="0"/>
                  <a:t> </a:t>
                </a:r>
                <a:r>
                  <a:rPr lang="es-MX" dirty="0" err="1"/>
                  <a:t>resource</a:t>
                </a:r>
                <a:r>
                  <a:rPr lang="es-MX" dirty="0"/>
                  <a:t> </a:t>
                </a:r>
                <a:r>
                  <a:rPr lang="es-MX" dirty="0" err="1"/>
                  <a:t>language</a:t>
                </a:r>
                <a:r>
                  <a:rPr lang="es-MX" dirty="0"/>
                  <a:t> </a:t>
                </a:r>
                <a:r>
                  <a:rPr lang="es-MX" b="1" dirty="0" err="1"/>
                  <a:t>transformer</a:t>
                </a:r>
                <a:r>
                  <a:rPr lang="es-MX" dirty="0"/>
                  <a:t> </a:t>
                </a:r>
                <a:r>
                  <a:rPr lang="es-MX" dirty="0" err="1"/>
                  <a:t>model</a:t>
                </a:r>
                <a:r>
                  <a:rPr lang="es-MX" dirty="0"/>
                  <a:t> </a:t>
                </a:r>
                <a:r>
                  <a:rPr lang="es-MX" dirty="0" err="1"/>
                  <a:t>trained</a:t>
                </a:r>
                <a:r>
                  <a:rPr lang="es-MX" dirty="0"/>
                  <a:t> </a:t>
                </a:r>
                <a:r>
                  <a:rPr lang="es-MX" dirty="0" err="1"/>
                  <a:t>with</a:t>
                </a:r>
                <a:r>
                  <a:rPr lang="es-MX" dirty="0"/>
                  <a:t> a novel </a:t>
                </a:r>
                <a:r>
                  <a:rPr lang="es-MX" dirty="0" err="1"/>
                  <a:t>parallel</a:t>
                </a:r>
                <a:r>
                  <a:rPr lang="es-MX" dirty="0"/>
                  <a:t> corpus Ocelotl </a:t>
                </a:r>
                <a:r>
                  <a:rPr lang="es-MX" b="1" dirty="0" err="1"/>
                  <a:t>Nahuatl</a:t>
                </a:r>
                <a:r>
                  <a:rPr lang="es-MX" b="1" dirty="0"/>
                  <a:t> – </a:t>
                </a:r>
                <a:r>
                  <a:rPr lang="es-MX" b="1" dirty="0" err="1"/>
                  <a:t>Spanish</a:t>
                </a:r>
                <a:r>
                  <a:rPr lang="es-MX" b="1" dirty="0"/>
                  <a:t>. </a:t>
                </a:r>
                <a:r>
                  <a:rPr lang="es-MX" dirty="0"/>
                  <a:t>Systems and Soft Computing, </a:t>
                </a:r>
                <a:r>
                  <a:rPr lang="es-MX" dirty="0" err="1"/>
                  <a:t>Netherlands</a:t>
                </a:r>
                <a:r>
                  <a:rPr lang="es-MX" dirty="0"/>
                  <a:t>, </a:t>
                </a:r>
                <a:r>
                  <a:rPr lang="es-MX" dirty="0" err="1"/>
                  <a:t>December</a:t>
                </a:r>
                <a:r>
                  <a:rPr lang="es-MX" dirty="0"/>
                  <a:t> 2024</a:t>
                </a:r>
                <a:endParaRPr dirty="0"/>
              </a:p>
            </p:txBody>
          </p:sp>
        </p:grpSp>
      </p:grpSp>
      <p:grpSp>
        <p:nvGrpSpPr>
          <p:cNvPr id="30" name="Grupo 29">
            <a:extLst>
              <a:ext uri="{FF2B5EF4-FFF2-40B4-BE49-F238E27FC236}">
                <a16:creationId xmlns:a16="http://schemas.microsoft.com/office/drawing/2014/main" id="{35C14CE7-6B03-612A-246A-EE2841FF8D4D}"/>
              </a:ext>
            </a:extLst>
          </p:cNvPr>
          <p:cNvGrpSpPr/>
          <p:nvPr/>
        </p:nvGrpSpPr>
        <p:grpSpPr>
          <a:xfrm>
            <a:off x="427539" y="4767003"/>
            <a:ext cx="2930010" cy="1814415"/>
            <a:chOff x="495300" y="4637606"/>
            <a:chExt cx="3188930" cy="1814415"/>
          </a:xfrm>
        </p:grpSpPr>
        <p:sp>
          <p:nvSpPr>
            <p:cNvPr id="28" name="Rectangle 18">
              <a:extLst>
                <a:ext uri="{FF2B5EF4-FFF2-40B4-BE49-F238E27FC236}">
                  <a16:creationId xmlns:a16="http://schemas.microsoft.com/office/drawing/2014/main" id="{BDEFAB3D-FB70-67DB-C1AC-2A473F339477}"/>
                </a:ext>
              </a:extLst>
            </p:cNvPr>
            <p:cNvSpPr/>
            <p:nvPr/>
          </p:nvSpPr>
          <p:spPr>
            <a:xfrm>
              <a:off x="495300" y="4637606"/>
              <a:ext cx="3188930" cy="1814415"/>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p:cNvSpPr txBox="1"/>
            <p:nvPr/>
          </p:nvSpPr>
          <p:spPr>
            <a:xfrm>
              <a:off x="1028702" y="4798603"/>
              <a:ext cx="2527231" cy="232294"/>
            </a:xfrm>
            <a:prstGeom prst="rect">
              <a:avLst/>
            </a:prstGeom>
            <a:noFill/>
          </p:spPr>
          <p:txBody>
            <a:bodyPr wrap="square" lIns="0" tIns="0" rIns="0" bIns="0">
              <a:normAutofit/>
            </a:bodyPr>
            <a:lstStyle/>
            <a:p>
              <a:pPr algn="l">
                <a:spcAft>
                  <a:spcPts val="400"/>
                </a:spcAft>
                <a:defRPr sz="1500" b="1">
                  <a:solidFill>
                    <a:srgbClr val="000000"/>
                  </a:solidFill>
                  <a:latin typeface="Helvetica Neue"/>
                </a:defRPr>
              </a:pPr>
              <a:r>
                <a:rPr dirty="0"/>
                <a:t>Scholarships and awards</a:t>
              </a:r>
            </a:p>
          </p:txBody>
        </p:sp>
        <p:sp>
          <p:nvSpPr>
            <p:cNvPr id="10" name="TextBox 9"/>
            <p:cNvSpPr txBox="1"/>
            <p:nvPr/>
          </p:nvSpPr>
          <p:spPr>
            <a:xfrm>
              <a:off x="645753" y="5142335"/>
              <a:ext cx="2910180" cy="1275593"/>
            </a:xfrm>
            <a:prstGeom prst="rect">
              <a:avLst/>
            </a:prstGeom>
            <a:noFill/>
          </p:spPr>
          <p:txBody>
            <a:bodyPr wrap="square" lIns="0" tIns="0" rIns="0" bIns="0">
              <a:normAutofit lnSpcReduction="10000"/>
            </a:bodyPr>
            <a:lstStyle/>
            <a:p>
              <a:pPr>
                <a:spcAft>
                  <a:spcPts val="400"/>
                </a:spcAft>
                <a:defRPr sz="1200" b="0">
                  <a:solidFill>
                    <a:srgbClr val="555555"/>
                  </a:solidFill>
                  <a:latin typeface="Helvetica Neue"/>
                </a:defRPr>
              </a:pPr>
              <a:r>
                <a:rPr lang="en-US" dirty="0"/>
                <a:t>CONCYTEP Young Researchers Program, 2014</a:t>
              </a:r>
              <a:endParaRPr dirty="0"/>
            </a:p>
            <a:p>
              <a:pPr algn="l">
                <a:spcAft>
                  <a:spcPts val="400"/>
                </a:spcAft>
                <a:defRPr sz="1200" b="0">
                  <a:solidFill>
                    <a:srgbClr val="555555"/>
                  </a:solidFill>
                  <a:latin typeface="Helvetica Neue"/>
                </a:defRPr>
              </a:pPr>
              <a:r>
                <a:rPr dirty="0"/>
                <a:t>CONCYTEP Thesis Scholarship, 2018</a:t>
              </a:r>
              <a:endParaRPr lang="es-MX" dirty="0"/>
            </a:p>
            <a:p>
              <a:pPr algn="l">
                <a:spcAft>
                  <a:spcPts val="400"/>
                </a:spcAft>
                <a:defRPr sz="1200" b="0">
                  <a:solidFill>
                    <a:srgbClr val="555555"/>
                  </a:solidFill>
                  <a:latin typeface="Helvetica Neue"/>
                </a:defRPr>
              </a:pPr>
              <a:r>
                <a:rPr lang="es-MX" dirty="0"/>
                <a:t>CONACYT </a:t>
              </a:r>
              <a:r>
                <a:rPr lang="es-MX" dirty="0" err="1"/>
                <a:t>Graduate</a:t>
              </a:r>
              <a:r>
                <a:rPr lang="es-MX" dirty="0"/>
                <a:t> </a:t>
              </a:r>
              <a:r>
                <a:rPr lang="es-MX" dirty="0" err="1"/>
                <a:t>Scholarship</a:t>
              </a:r>
              <a:r>
                <a:rPr lang="es-MX" dirty="0"/>
                <a:t>, 2021-2023</a:t>
              </a:r>
            </a:p>
            <a:p>
              <a:pPr>
                <a:spcAft>
                  <a:spcPts val="400"/>
                </a:spcAft>
                <a:defRPr sz="1200" b="0">
                  <a:solidFill>
                    <a:srgbClr val="555555"/>
                  </a:solidFill>
                  <a:latin typeface="Helvetica Neue"/>
                </a:defRPr>
              </a:pPr>
              <a:r>
                <a:rPr lang="es-MX" b="1" dirty="0"/>
                <a:t>MEXT</a:t>
              </a:r>
              <a:r>
                <a:rPr lang="es-MX" dirty="0"/>
                <a:t> – </a:t>
              </a:r>
              <a:r>
                <a:rPr lang="es-MX" dirty="0" err="1"/>
                <a:t>Research</a:t>
              </a:r>
              <a:r>
                <a:rPr lang="es-MX" dirty="0"/>
                <a:t> - </a:t>
              </a:r>
              <a:r>
                <a:rPr lang="es-MX" dirty="0" err="1"/>
                <a:t>Current</a:t>
              </a:r>
              <a:endParaRPr lang="es-MX" dirty="0"/>
            </a:p>
            <a:p>
              <a:pPr algn="l">
                <a:spcAft>
                  <a:spcPts val="400"/>
                </a:spcAft>
                <a:defRPr sz="1200" b="0">
                  <a:solidFill>
                    <a:srgbClr val="555555"/>
                  </a:solidFill>
                  <a:latin typeface="Helvetica Neue"/>
                </a:defRPr>
              </a:pPr>
              <a:endParaRPr lang="es-MX" dirty="0"/>
            </a:p>
            <a:p>
              <a:pPr algn="l">
                <a:spcAft>
                  <a:spcPts val="400"/>
                </a:spcAft>
                <a:defRPr sz="1200" b="0">
                  <a:solidFill>
                    <a:srgbClr val="555555"/>
                  </a:solidFill>
                  <a:latin typeface="Helvetica Neue"/>
                </a:defRPr>
              </a:pPr>
              <a:endParaRPr dirty="0"/>
            </a:p>
          </p:txBody>
        </p:sp>
        <p:sp>
          <p:nvSpPr>
            <p:cNvPr id="20" name="Rectangle 19"/>
            <p:cNvSpPr/>
            <p:nvPr/>
          </p:nvSpPr>
          <p:spPr>
            <a:xfrm>
              <a:off x="712627" y="4827817"/>
              <a:ext cx="152400" cy="152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40" name="Grupo 39">
            <a:extLst>
              <a:ext uri="{FF2B5EF4-FFF2-40B4-BE49-F238E27FC236}">
                <a16:creationId xmlns:a16="http://schemas.microsoft.com/office/drawing/2014/main" id="{04F616E0-DAAA-E6A8-7A4C-96A7CC4DA75D}"/>
              </a:ext>
            </a:extLst>
          </p:cNvPr>
          <p:cNvGrpSpPr/>
          <p:nvPr/>
        </p:nvGrpSpPr>
        <p:grpSpPr>
          <a:xfrm>
            <a:off x="5834906" y="3609943"/>
            <a:ext cx="5534824" cy="1028903"/>
            <a:chOff x="5834906" y="3609943"/>
            <a:chExt cx="5534824" cy="1028903"/>
          </a:xfrm>
        </p:grpSpPr>
        <p:grpSp>
          <p:nvGrpSpPr>
            <p:cNvPr id="37" name="Grupo 36">
              <a:extLst>
                <a:ext uri="{FF2B5EF4-FFF2-40B4-BE49-F238E27FC236}">
                  <a16:creationId xmlns:a16="http://schemas.microsoft.com/office/drawing/2014/main" id="{6A4CD8F4-7992-0456-C13D-45BBBB9F7934}"/>
                </a:ext>
              </a:extLst>
            </p:cNvPr>
            <p:cNvGrpSpPr/>
            <p:nvPr/>
          </p:nvGrpSpPr>
          <p:grpSpPr>
            <a:xfrm>
              <a:off x="5834906" y="3609943"/>
              <a:ext cx="5534824" cy="1028903"/>
              <a:chOff x="5834906" y="3609943"/>
              <a:chExt cx="5534824" cy="1028903"/>
            </a:xfrm>
          </p:grpSpPr>
          <p:sp>
            <p:nvSpPr>
              <p:cNvPr id="23" name="Rectangle 22"/>
              <p:cNvSpPr/>
              <p:nvPr/>
            </p:nvSpPr>
            <p:spPr>
              <a:xfrm>
                <a:off x="5834906" y="3609943"/>
                <a:ext cx="5534824" cy="1028903"/>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5" name="TextBox 24"/>
              <p:cNvSpPr txBox="1"/>
              <p:nvPr/>
            </p:nvSpPr>
            <p:spPr>
              <a:xfrm>
                <a:off x="6215702" y="3743599"/>
                <a:ext cx="2140365" cy="325826"/>
              </a:xfrm>
              <a:prstGeom prst="rect">
                <a:avLst/>
              </a:prstGeom>
              <a:noFill/>
            </p:spPr>
            <p:txBody>
              <a:bodyPr wrap="square" lIns="0" tIns="0" rIns="0" bIns="0">
                <a:normAutofit/>
              </a:bodyPr>
              <a:lstStyle/>
              <a:p>
                <a:pPr algn="l">
                  <a:spcAft>
                    <a:spcPts val="400"/>
                  </a:spcAft>
                  <a:defRPr sz="1800" b="1">
                    <a:solidFill>
                      <a:srgbClr val="000000"/>
                    </a:solidFill>
                    <a:latin typeface="Helvetica Neue"/>
                  </a:defRPr>
                </a:pPr>
                <a:r>
                  <a:rPr dirty="0"/>
                  <a:t>Master's </a:t>
                </a:r>
                <a:r>
                  <a:rPr lang="es-MX" dirty="0" err="1"/>
                  <a:t>thesis</a:t>
                </a:r>
                <a:endParaRPr dirty="0"/>
              </a:p>
            </p:txBody>
          </p:sp>
          <p:sp>
            <p:nvSpPr>
              <p:cNvPr id="26" name="TextBox 25"/>
              <p:cNvSpPr txBox="1"/>
              <p:nvPr/>
            </p:nvSpPr>
            <p:spPr>
              <a:xfrm>
                <a:off x="5974581" y="4115945"/>
                <a:ext cx="5303019" cy="346343"/>
              </a:xfrm>
              <a:prstGeom prst="rect">
                <a:avLst/>
              </a:prstGeom>
              <a:noFill/>
            </p:spPr>
            <p:txBody>
              <a:bodyPr wrap="square" lIns="0" tIns="0" rIns="0" bIns="0">
                <a:normAutofit/>
              </a:bodyPr>
              <a:lstStyle/>
              <a:p>
                <a:pPr algn="l">
                  <a:spcAft>
                    <a:spcPts val="400"/>
                  </a:spcAft>
                  <a:defRPr sz="1400" b="0">
                    <a:solidFill>
                      <a:srgbClr val="555555"/>
                    </a:solidFill>
                    <a:latin typeface="Helvetica Neue"/>
                  </a:defRPr>
                </a:pPr>
                <a:r>
                  <a:rPr b="1" dirty="0"/>
                  <a:t>Machine translator </a:t>
                </a:r>
                <a:r>
                  <a:rPr dirty="0"/>
                  <a:t>from Nahuatl to Spanish</a:t>
                </a:r>
                <a:r>
                  <a:rPr lang="es-MX" dirty="0"/>
                  <a:t> (</a:t>
                </a:r>
                <a:r>
                  <a:rPr dirty="0"/>
                  <a:t>2023</a:t>
                </a:r>
                <a:r>
                  <a:rPr lang="es-MX" dirty="0"/>
                  <a:t>)</a:t>
                </a:r>
                <a:endParaRPr dirty="0"/>
              </a:p>
            </p:txBody>
          </p:sp>
        </p:grpSp>
        <p:sp>
          <p:nvSpPr>
            <p:cNvPr id="24" name="Rectangle 23"/>
            <p:cNvSpPr/>
            <p:nvPr/>
          </p:nvSpPr>
          <p:spPr>
            <a:xfrm>
              <a:off x="5974581" y="3808050"/>
              <a:ext cx="138088" cy="15333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41" name="Grupo 40">
            <a:extLst>
              <a:ext uri="{FF2B5EF4-FFF2-40B4-BE49-F238E27FC236}">
                <a16:creationId xmlns:a16="http://schemas.microsoft.com/office/drawing/2014/main" id="{0F1183A3-50E3-8952-A62A-F51E4F685F7D}"/>
              </a:ext>
            </a:extLst>
          </p:cNvPr>
          <p:cNvGrpSpPr/>
          <p:nvPr/>
        </p:nvGrpSpPr>
        <p:grpSpPr>
          <a:xfrm>
            <a:off x="421326" y="3609943"/>
            <a:ext cx="5324153" cy="1081362"/>
            <a:chOff x="421326" y="3609943"/>
            <a:chExt cx="5324153" cy="1081362"/>
          </a:xfrm>
        </p:grpSpPr>
        <p:grpSp>
          <p:nvGrpSpPr>
            <p:cNvPr id="35" name="Grupo 34">
              <a:extLst>
                <a:ext uri="{FF2B5EF4-FFF2-40B4-BE49-F238E27FC236}">
                  <a16:creationId xmlns:a16="http://schemas.microsoft.com/office/drawing/2014/main" id="{9D5E8508-434B-10C5-04CC-BFD43C2054D2}"/>
                </a:ext>
              </a:extLst>
            </p:cNvPr>
            <p:cNvGrpSpPr/>
            <p:nvPr/>
          </p:nvGrpSpPr>
          <p:grpSpPr>
            <a:xfrm>
              <a:off x="421326" y="3609943"/>
              <a:ext cx="5324153" cy="1081362"/>
              <a:chOff x="421326" y="3609943"/>
              <a:chExt cx="5324153" cy="1081362"/>
            </a:xfrm>
          </p:grpSpPr>
          <p:sp>
            <p:nvSpPr>
              <p:cNvPr id="19" name="Rectangle 18"/>
              <p:cNvSpPr/>
              <p:nvPr/>
            </p:nvSpPr>
            <p:spPr>
              <a:xfrm>
                <a:off x="421326" y="3609943"/>
                <a:ext cx="5324153" cy="1034175"/>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1" name="TextBox 20"/>
              <p:cNvSpPr txBox="1"/>
              <p:nvPr/>
            </p:nvSpPr>
            <p:spPr>
              <a:xfrm>
                <a:off x="1109954" y="3765378"/>
                <a:ext cx="2715286" cy="323850"/>
              </a:xfrm>
              <a:prstGeom prst="rect">
                <a:avLst/>
              </a:prstGeom>
              <a:noFill/>
            </p:spPr>
            <p:txBody>
              <a:bodyPr wrap="square" lIns="0" tIns="0" rIns="0" bIns="0">
                <a:normAutofit/>
              </a:bodyPr>
              <a:lstStyle/>
              <a:p>
                <a:pPr algn="l">
                  <a:spcAft>
                    <a:spcPts val="400"/>
                  </a:spcAft>
                  <a:defRPr sz="1800" b="1">
                    <a:solidFill>
                      <a:srgbClr val="000000"/>
                    </a:solidFill>
                    <a:latin typeface="Helvetica Neue"/>
                  </a:defRPr>
                </a:pPr>
                <a:r>
                  <a:rPr lang="es-MX" dirty="0" err="1"/>
                  <a:t>Undergraduate</a:t>
                </a:r>
                <a:r>
                  <a:rPr lang="es-MX" dirty="0"/>
                  <a:t> </a:t>
                </a:r>
                <a:r>
                  <a:rPr lang="es-MX" dirty="0" err="1"/>
                  <a:t>thesis</a:t>
                </a:r>
                <a:endParaRPr dirty="0"/>
              </a:p>
            </p:txBody>
          </p:sp>
          <p:sp>
            <p:nvSpPr>
              <p:cNvPr id="22" name="TextBox 21"/>
              <p:cNvSpPr txBox="1"/>
              <p:nvPr/>
            </p:nvSpPr>
            <p:spPr>
              <a:xfrm>
                <a:off x="554160" y="4124844"/>
                <a:ext cx="5130360" cy="566461"/>
              </a:xfrm>
              <a:prstGeom prst="rect">
                <a:avLst/>
              </a:prstGeom>
              <a:noFill/>
            </p:spPr>
            <p:txBody>
              <a:bodyPr wrap="square" lIns="0" tIns="0" rIns="0" bIns="0">
                <a:normAutofit/>
              </a:bodyPr>
              <a:lstStyle/>
              <a:p>
                <a:pPr algn="l">
                  <a:spcAft>
                    <a:spcPts val="400"/>
                  </a:spcAft>
                  <a:defRPr sz="1400" b="0">
                    <a:solidFill>
                      <a:srgbClr val="555555"/>
                    </a:solidFill>
                    <a:latin typeface="Helvetica Neue"/>
                  </a:defRPr>
                </a:pPr>
                <a:r>
                  <a:rPr lang="en-US" b="1" dirty="0"/>
                  <a:t>Recurrent neural networks </a:t>
                </a:r>
                <a:r>
                  <a:rPr lang="en-US" dirty="0"/>
                  <a:t>applied </a:t>
                </a:r>
                <a:r>
                  <a:rPr lang="en-US" b="1" dirty="0"/>
                  <a:t>to speech recognition </a:t>
                </a:r>
                <a:r>
                  <a:rPr lang="en-US" dirty="0"/>
                  <a:t>and </a:t>
                </a:r>
                <a:r>
                  <a:rPr lang="en-US" b="1" dirty="0"/>
                  <a:t>machine translation </a:t>
                </a:r>
                <a:r>
                  <a:rPr lang="en-US" dirty="0"/>
                  <a:t>from Spanish to Japanese (2019)</a:t>
                </a:r>
                <a:endParaRPr dirty="0"/>
              </a:p>
            </p:txBody>
          </p:sp>
        </p:grpSp>
        <p:sp>
          <p:nvSpPr>
            <p:cNvPr id="29" name="Rectangle 19">
              <a:extLst>
                <a:ext uri="{FF2B5EF4-FFF2-40B4-BE49-F238E27FC236}">
                  <a16:creationId xmlns:a16="http://schemas.microsoft.com/office/drawing/2014/main" id="{8910E77F-F99E-7EBC-FE43-C38ECA954D3A}"/>
                </a:ext>
              </a:extLst>
            </p:cNvPr>
            <p:cNvSpPr/>
            <p:nvPr/>
          </p:nvSpPr>
          <p:spPr>
            <a:xfrm>
              <a:off x="721876" y="3812033"/>
              <a:ext cx="158155" cy="152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34" name="TextBox 1">
            <a:extLst>
              <a:ext uri="{FF2B5EF4-FFF2-40B4-BE49-F238E27FC236}">
                <a16:creationId xmlns:a16="http://schemas.microsoft.com/office/drawing/2014/main" id="{40A62D8C-8CAF-479E-0256-E5193AE18156}"/>
              </a:ext>
            </a:extLst>
          </p:cNvPr>
          <p:cNvSpPr txBox="1"/>
          <p:nvPr/>
        </p:nvSpPr>
        <p:spPr>
          <a:xfrm>
            <a:off x="9041130" y="400050"/>
            <a:ext cx="2750820" cy="247650"/>
          </a:xfrm>
          <a:prstGeom prst="rect">
            <a:avLst/>
          </a:prstGeom>
          <a:noFill/>
        </p:spPr>
        <p:txBody>
          <a:bodyPr wrap="square" lIns="0" tIns="0" rIns="0" bIns="0">
            <a:normAutofit/>
          </a:bodyPr>
          <a:lstStyle/>
          <a:p>
            <a:pPr algn="l">
              <a:spcAft>
                <a:spcPts val="400"/>
              </a:spcAft>
              <a:defRPr sz="2300" b="0">
                <a:solidFill>
                  <a:srgbClr val="000000"/>
                </a:solidFill>
                <a:latin typeface="Helvetica Neue"/>
              </a:defRPr>
            </a:pPr>
            <a:r>
              <a:rPr lang="en-US" sz="1300" b="1" i="1" dirty="0">
                <a:solidFill>
                  <a:srgbClr val="555555"/>
                </a:solidFill>
                <a:latin typeface="Helvetica Neue"/>
              </a:rPr>
              <a:t>01 Academic background</a:t>
            </a:r>
          </a:p>
        </p:txBody>
      </p:sp>
      <p:grpSp>
        <p:nvGrpSpPr>
          <p:cNvPr id="42" name="Grupo 41">
            <a:extLst>
              <a:ext uri="{FF2B5EF4-FFF2-40B4-BE49-F238E27FC236}">
                <a16:creationId xmlns:a16="http://schemas.microsoft.com/office/drawing/2014/main" id="{94932A80-6A49-667B-9808-4F3466C16217}"/>
              </a:ext>
            </a:extLst>
          </p:cNvPr>
          <p:cNvGrpSpPr/>
          <p:nvPr/>
        </p:nvGrpSpPr>
        <p:grpSpPr>
          <a:xfrm>
            <a:off x="3557230" y="4779502"/>
            <a:ext cx="7875712" cy="1802561"/>
            <a:chOff x="3557230" y="4779502"/>
            <a:chExt cx="7875712" cy="1802561"/>
          </a:xfrm>
        </p:grpSpPr>
        <p:grpSp>
          <p:nvGrpSpPr>
            <p:cNvPr id="38" name="Grupo 37">
              <a:extLst>
                <a:ext uri="{FF2B5EF4-FFF2-40B4-BE49-F238E27FC236}">
                  <a16:creationId xmlns:a16="http://schemas.microsoft.com/office/drawing/2014/main" id="{8FA5BE62-E8A4-1D2F-E43E-4C73C687E5AA}"/>
                </a:ext>
              </a:extLst>
            </p:cNvPr>
            <p:cNvGrpSpPr/>
            <p:nvPr/>
          </p:nvGrpSpPr>
          <p:grpSpPr>
            <a:xfrm>
              <a:off x="3557230" y="4779502"/>
              <a:ext cx="7875712" cy="1802561"/>
              <a:chOff x="3557230" y="4779502"/>
              <a:chExt cx="7875712" cy="1802561"/>
            </a:xfrm>
          </p:grpSpPr>
          <p:sp>
            <p:nvSpPr>
              <p:cNvPr id="15" name="Rectangle 14"/>
              <p:cNvSpPr/>
              <p:nvPr/>
            </p:nvSpPr>
            <p:spPr>
              <a:xfrm>
                <a:off x="3557230" y="4779502"/>
                <a:ext cx="7875712" cy="1802561"/>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17050" y="4877112"/>
                <a:ext cx="1985010" cy="323850"/>
              </a:xfrm>
              <a:prstGeom prst="rect">
                <a:avLst/>
              </a:prstGeom>
              <a:noFill/>
            </p:spPr>
            <p:txBody>
              <a:bodyPr wrap="square" lIns="0" tIns="0" rIns="0" bIns="0">
                <a:normAutofit/>
              </a:bodyPr>
              <a:lstStyle/>
              <a:p>
                <a:pPr algn="l">
                  <a:spcAft>
                    <a:spcPts val="400"/>
                  </a:spcAft>
                  <a:defRPr sz="1800" b="1">
                    <a:solidFill>
                      <a:srgbClr val="000000"/>
                    </a:solidFill>
                    <a:latin typeface="Helvetica Neue"/>
                  </a:defRPr>
                </a:pPr>
                <a:r>
                  <a:rPr dirty="0"/>
                  <a:t>Conference Work</a:t>
                </a:r>
              </a:p>
            </p:txBody>
          </p:sp>
          <p:sp>
            <p:nvSpPr>
              <p:cNvPr id="18" name="TextBox 17"/>
              <p:cNvSpPr txBox="1"/>
              <p:nvPr/>
            </p:nvSpPr>
            <p:spPr>
              <a:xfrm>
                <a:off x="3586874" y="5240295"/>
                <a:ext cx="6483718" cy="1315445"/>
              </a:xfrm>
              <a:prstGeom prst="rect">
                <a:avLst/>
              </a:prstGeom>
              <a:noFill/>
            </p:spPr>
            <p:txBody>
              <a:bodyPr wrap="square" lIns="0" tIns="0" rIns="0" bIns="0">
                <a:normAutofit/>
              </a:bodyPr>
              <a:lstStyle/>
              <a:p>
                <a:pPr algn="l">
                  <a:spcAft>
                    <a:spcPts val="400"/>
                  </a:spcAft>
                  <a:defRPr sz="1400" b="0">
                    <a:solidFill>
                      <a:srgbClr val="555555"/>
                    </a:solidFill>
                    <a:latin typeface="Helvetica Neue"/>
                  </a:defRPr>
                </a:pPr>
                <a:r>
                  <a:rPr dirty="0"/>
                  <a:t>Binary Harmony Search for Attribute Selection, CONACIC</a:t>
                </a:r>
                <a:r>
                  <a:rPr lang="es-MX" dirty="0"/>
                  <a:t> (</a:t>
                </a:r>
                <a:r>
                  <a:rPr dirty="0"/>
                  <a:t>2022</a:t>
                </a:r>
                <a:r>
                  <a:rPr lang="es-MX" dirty="0"/>
                  <a:t>)</a:t>
                </a:r>
              </a:p>
              <a:p>
                <a:pPr algn="l">
                  <a:spcAft>
                    <a:spcPts val="400"/>
                  </a:spcAft>
                  <a:defRPr sz="1400" b="0">
                    <a:solidFill>
                      <a:srgbClr val="555555"/>
                    </a:solidFill>
                    <a:latin typeface="Helvetica Neue"/>
                  </a:defRPr>
                </a:pPr>
                <a:r>
                  <a:rPr lang="en-US" dirty="0"/>
                  <a:t>Ocelotl translator </a:t>
                </a:r>
                <a:r>
                  <a:rPr lang="en-US" dirty="0" err="1"/>
                  <a:t>nahuatl</a:t>
                </a:r>
                <a:r>
                  <a:rPr lang="en-US" dirty="0"/>
                  <a:t> – </a:t>
                </a:r>
                <a:r>
                  <a:rPr lang="en-US" dirty="0" err="1"/>
                  <a:t>spanish</a:t>
                </a:r>
                <a:r>
                  <a:rPr lang="en-US" dirty="0"/>
                  <a:t>, 4th International Conference on Natural Language Processing for Indigenous Languages (2024)</a:t>
                </a:r>
                <a:endParaRPr dirty="0"/>
              </a:p>
              <a:p>
                <a:pPr>
                  <a:spcAft>
                    <a:spcPts val="400"/>
                  </a:spcAft>
                  <a:defRPr sz="1400" b="0">
                    <a:solidFill>
                      <a:srgbClr val="555555"/>
                    </a:solidFill>
                    <a:latin typeface="Helvetica Neue"/>
                  </a:defRPr>
                </a:pPr>
                <a:r>
                  <a:rPr dirty="0"/>
                  <a:t>Ocelotl parallel corpus</a:t>
                </a:r>
                <a:r>
                  <a:rPr lang="en-US" dirty="0"/>
                  <a:t>, 5th International Conference on Natural Language Processing for Indigenous Languages (2025)</a:t>
                </a:r>
              </a:p>
              <a:p>
                <a:pPr algn="l">
                  <a:spcAft>
                    <a:spcPts val="400"/>
                  </a:spcAft>
                  <a:defRPr sz="1400" b="0">
                    <a:solidFill>
                      <a:srgbClr val="555555"/>
                    </a:solidFill>
                    <a:latin typeface="Helvetica Neue"/>
                  </a:defRPr>
                </a:pPr>
                <a:endParaRPr dirty="0"/>
              </a:p>
            </p:txBody>
          </p:sp>
        </p:grpSp>
        <p:sp>
          <p:nvSpPr>
            <p:cNvPr id="16" name="Rectangle 15"/>
            <p:cNvSpPr/>
            <p:nvPr/>
          </p:nvSpPr>
          <p:spPr>
            <a:xfrm>
              <a:off x="3642094" y="4938453"/>
              <a:ext cx="152400" cy="152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44" name="Marcador de número de diapositiva 43">
            <a:extLst>
              <a:ext uri="{FF2B5EF4-FFF2-40B4-BE49-F238E27FC236}">
                <a16:creationId xmlns:a16="http://schemas.microsoft.com/office/drawing/2014/main" id="{607FDFFE-48F8-05CA-0736-8425CFC49B97}"/>
              </a:ext>
            </a:extLst>
          </p:cNvPr>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50" y="400050"/>
            <a:ext cx="3619500" cy="266700"/>
          </a:xfrm>
          <a:prstGeom prst="rect">
            <a:avLst/>
          </a:prstGeom>
          <a:noFill/>
        </p:spPr>
        <p:txBody>
          <a:bodyPr wrap="square" lIns="0" tIns="0" rIns="0" bIns="0">
            <a:normAutofit/>
          </a:bodyPr>
          <a:lstStyle/>
          <a:p>
            <a:pPr algn="l">
              <a:spcAft>
                <a:spcPts val="400"/>
              </a:spcAft>
              <a:defRPr sz="1200" b="1">
                <a:solidFill>
                  <a:srgbClr val="555555"/>
                </a:solidFill>
                <a:latin typeface="Helvetica Neue"/>
              </a:defRPr>
            </a:pPr>
            <a:r>
              <a:rPr lang="es-MX" dirty="0"/>
              <a:t>DOCTORAL RESEARCH PLAN</a:t>
            </a:r>
          </a:p>
        </p:txBody>
      </p:sp>
      <p:sp>
        <p:nvSpPr>
          <p:cNvPr id="3" name="TextBox 2"/>
          <p:cNvSpPr txBox="1"/>
          <p:nvPr/>
        </p:nvSpPr>
        <p:spPr>
          <a:xfrm>
            <a:off x="400050" y="781050"/>
            <a:ext cx="9444990" cy="819150"/>
          </a:xfrm>
          <a:prstGeom prst="rect">
            <a:avLst/>
          </a:prstGeom>
          <a:noFill/>
        </p:spPr>
        <p:txBody>
          <a:bodyPr wrap="square" lIns="0" tIns="0" rIns="0" bIns="0">
            <a:normAutofit/>
          </a:bodyPr>
          <a:lstStyle/>
          <a:p>
            <a:pPr algn="l">
              <a:spcAft>
                <a:spcPts val="400"/>
              </a:spcAft>
              <a:defRPr sz="3200" b="1">
                <a:solidFill>
                  <a:srgbClr val="000000"/>
                </a:solidFill>
                <a:latin typeface="Helvetica Neue"/>
              </a:defRPr>
            </a:pPr>
            <a:r>
              <a:rPr lang="es-MX" dirty="0" err="1"/>
              <a:t>What</a:t>
            </a:r>
            <a:r>
              <a:rPr lang="es-MX" dirty="0"/>
              <a:t> </a:t>
            </a:r>
            <a:r>
              <a:rPr lang="es-MX" dirty="0" err="1"/>
              <a:t>is</a:t>
            </a:r>
            <a:r>
              <a:rPr dirty="0"/>
              <a:t> </a:t>
            </a:r>
            <a:r>
              <a:rPr lang="es-MX" dirty="0"/>
              <a:t>Video </a:t>
            </a:r>
            <a:r>
              <a:rPr lang="en-US" dirty="0"/>
              <a:t>Anomaly</a:t>
            </a:r>
            <a:r>
              <a:rPr lang="es-MX" dirty="0"/>
              <a:t> </a:t>
            </a:r>
            <a:r>
              <a:rPr lang="en-US" dirty="0"/>
              <a:t>Detection</a:t>
            </a:r>
            <a:r>
              <a:rPr lang="es-MX" dirty="0"/>
              <a:t> (</a:t>
            </a:r>
            <a:r>
              <a:rPr dirty="0"/>
              <a:t>VAD</a:t>
            </a:r>
            <a:r>
              <a:rPr lang="es-MX" dirty="0"/>
              <a:t>)?</a:t>
            </a:r>
            <a:endParaRPr dirty="0"/>
          </a:p>
        </p:txBody>
      </p:sp>
      <p:sp>
        <p:nvSpPr>
          <p:cNvPr id="6" name="Rectangle 5"/>
          <p:cNvSpPr/>
          <p:nvPr/>
        </p:nvSpPr>
        <p:spPr>
          <a:xfrm>
            <a:off x="400050" y="2085976"/>
            <a:ext cx="10877550" cy="3238499"/>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a:xfrm>
            <a:off x="647700" y="2396490"/>
            <a:ext cx="152400" cy="1524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914400" y="2353308"/>
            <a:ext cx="2838450" cy="323850"/>
          </a:xfrm>
          <a:prstGeom prst="rect">
            <a:avLst/>
          </a:prstGeom>
          <a:noFill/>
        </p:spPr>
        <p:txBody>
          <a:bodyPr wrap="square" lIns="0" tIns="0" rIns="0" bIns="0">
            <a:normAutofit/>
          </a:bodyPr>
          <a:lstStyle/>
          <a:p>
            <a:pPr algn="l">
              <a:spcAft>
                <a:spcPts val="400"/>
              </a:spcAft>
              <a:defRPr sz="1800" b="1">
                <a:solidFill>
                  <a:srgbClr val="000000"/>
                </a:solidFill>
                <a:latin typeface="Helvetica Neue"/>
              </a:defRPr>
            </a:pPr>
            <a:r>
              <a:rPr lang="es-MX" dirty="0"/>
              <a:t>VAD</a:t>
            </a:r>
            <a:endParaRPr dirty="0"/>
          </a:p>
        </p:txBody>
      </p:sp>
      <p:sp>
        <p:nvSpPr>
          <p:cNvPr id="9" name="TextBox 8"/>
          <p:cNvSpPr txBox="1"/>
          <p:nvPr/>
        </p:nvSpPr>
        <p:spPr>
          <a:xfrm>
            <a:off x="647700" y="3200400"/>
            <a:ext cx="10410190" cy="1962149"/>
          </a:xfrm>
          <a:prstGeom prst="rect">
            <a:avLst/>
          </a:prstGeom>
          <a:noFill/>
        </p:spPr>
        <p:txBody>
          <a:bodyPr wrap="square" lIns="0" tIns="0" rIns="0" bIns="0">
            <a:normAutofit/>
          </a:bodyPr>
          <a:lstStyle/>
          <a:p>
            <a:pPr algn="just">
              <a:spcAft>
                <a:spcPts val="400"/>
              </a:spcAft>
              <a:defRPr sz="1400" b="0">
                <a:solidFill>
                  <a:srgbClr val="555555"/>
                </a:solidFill>
                <a:latin typeface="Helvetica Neue"/>
              </a:defRPr>
            </a:pPr>
            <a:r>
              <a:rPr lang="en-US" sz="2000" dirty="0"/>
              <a:t>Video Anomaly Detection (VAD) is a computer vision task that aims to </a:t>
            </a:r>
            <a:r>
              <a:rPr lang="en-US" sz="2000" b="1" dirty="0"/>
              <a:t>identify</a:t>
            </a:r>
            <a:r>
              <a:rPr lang="en-US" sz="2000" dirty="0"/>
              <a:t> </a:t>
            </a:r>
            <a:r>
              <a:rPr lang="en-US" sz="2000" b="1" dirty="0"/>
              <a:t>events</a:t>
            </a:r>
            <a:r>
              <a:rPr lang="en-US" sz="2000" dirty="0"/>
              <a:t> in a </a:t>
            </a:r>
            <a:r>
              <a:rPr lang="en-US" sz="2000" b="1" dirty="0"/>
              <a:t>video</a:t>
            </a:r>
            <a:r>
              <a:rPr lang="en-US" sz="2000" dirty="0"/>
              <a:t> that </a:t>
            </a:r>
            <a:r>
              <a:rPr lang="en-US" sz="2000" b="1" dirty="0"/>
              <a:t>differ</a:t>
            </a:r>
            <a:r>
              <a:rPr lang="en-US" sz="2000" dirty="0"/>
              <a:t> </a:t>
            </a:r>
            <a:r>
              <a:rPr lang="en-US" sz="2000" b="1" dirty="0"/>
              <a:t>significantly from learned normal patterns</a:t>
            </a:r>
            <a:r>
              <a:rPr lang="en-US" sz="2000" dirty="0"/>
              <a:t>. The challenge lies in the rarity and diversity of anomalous events, making it difficult to model all possible abnormal behaviors.</a:t>
            </a:r>
          </a:p>
        </p:txBody>
      </p:sp>
      <p:sp>
        <p:nvSpPr>
          <p:cNvPr id="20" name="TextBox 1">
            <a:extLst>
              <a:ext uri="{FF2B5EF4-FFF2-40B4-BE49-F238E27FC236}">
                <a16:creationId xmlns:a16="http://schemas.microsoft.com/office/drawing/2014/main" id="{5D098F25-AB74-B692-F4ED-2D7F47683097}"/>
              </a:ext>
            </a:extLst>
          </p:cNvPr>
          <p:cNvSpPr txBox="1"/>
          <p:nvPr/>
        </p:nvSpPr>
        <p:spPr>
          <a:xfrm>
            <a:off x="9041130" y="400050"/>
            <a:ext cx="2750820" cy="247650"/>
          </a:xfrm>
          <a:prstGeom prst="rect">
            <a:avLst/>
          </a:prstGeom>
          <a:noFill/>
        </p:spPr>
        <p:txBody>
          <a:bodyPr wrap="square" lIns="0" tIns="0" rIns="0" bIns="0">
            <a:normAutofit/>
          </a:bodyPr>
          <a:lstStyle/>
          <a:p>
            <a:pPr algn="l">
              <a:spcAft>
                <a:spcPts val="400"/>
              </a:spcAft>
              <a:defRPr sz="2300" b="0">
                <a:solidFill>
                  <a:srgbClr val="000000"/>
                </a:solidFill>
                <a:latin typeface="Helvetica Neue"/>
              </a:defRPr>
            </a:pPr>
            <a:r>
              <a:rPr lang="en-US" sz="1300" b="1" i="1" dirty="0">
                <a:solidFill>
                  <a:srgbClr val="555555"/>
                </a:solidFill>
                <a:latin typeface="Helvetica Neue"/>
              </a:rPr>
              <a:t>02 Context and research problem</a:t>
            </a:r>
          </a:p>
        </p:txBody>
      </p:sp>
      <p:sp>
        <p:nvSpPr>
          <p:cNvPr id="4" name="Marcador de número de diapositiva 3">
            <a:extLst>
              <a:ext uri="{FF2B5EF4-FFF2-40B4-BE49-F238E27FC236}">
                <a16:creationId xmlns:a16="http://schemas.microsoft.com/office/drawing/2014/main" id="{71085384-6FB7-824C-CFA4-B93A4A8CEAD0}"/>
              </a:ext>
            </a:extLst>
          </p:cNvPr>
          <p:cNvSpPr>
            <a:spLocks noGrp="1"/>
          </p:cNvSpPr>
          <p:nvPr>
            <p:ph type="sldNum" sz="quarter" idx="12"/>
          </p:nvPr>
        </p:nvSpPr>
        <p:spPr/>
        <p:txBody>
          <a:bodyPr/>
          <a:lstStyle/>
          <a:p>
            <a:fld id="{C1FF6DA9-008F-8B48-92A6-B652298478BF}" type="slidenum">
              <a:rPr lang="en-US" smtClean="0"/>
              <a:t>4</a:t>
            </a:fld>
            <a:endParaRPr lang="en-US"/>
          </a:p>
        </p:txBody>
      </p:sp>
    </p:spTree>
    <p:extLst>
      <p:ext uri="{BB962C8B-B14F-4D97-AF65-F5344CB8AC3E}">
        <p14:creationId xmlns:p14="http://schemas.microsoft.com/office/powerpoint/2010/main" val="102926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00050" y="400050"/>
            <a:ext cx="3619500" cy="266700"/>
          </a:xfrm>
          <a:prstGeom prst="rect">
            <a:avLst/>
          </a:prstGeom>
          <a:noFill/>
        </p:spPr>
        <p:txBody>
          <a:bodyPr wrap="square" lIns="0" tIns="0" rIns="0" bIns="0">
            <a:normAutofit/>
          </a:bodyPr>
          <a:lstStyle/>
          <a:p>
            <a:pPr algn="l">
              <a:spcAft>
                <a:spcPts val="400"/>
              </a:spcAft>
              <a:defRPr sz="1200" b="1">
                <a:solidFill>
                  <a:srgbClr val="555555"/>
                </a:solidFill>
                <a:latin typeface="Helvetica Neue"/>
              </a:defRPr>
            </a:pPr>
            <a:r>
              <a:rPr lang="es-MX" dirty="0"/>
              <a:t>DOCTORAL RESEARCH PLAN</a:t>
            </a:r>
          </a:p>
        </p:txBody>
      </p:sp>
      <p:sp>
        <p:nvSpPr>
          <p:cNvPr id="3" name="TextBox 2"/>
          <p:cNvSpPr txBox="1"/>
          <p:nvPr/>
        </p:nvSpPr>
        <p:spPr>
          <a:xfrm>
            <a:off x="400050" y="781050"/>
            <a:ext cx="9444990" cy="819150"/>
          </a:xfrm>
          <a:prstGeom prst="rect">
            <a:avLst/>
          </a:prstGeom>
          <a:noFill/>
        </p:spPr>
        <p:txBody>
          <a:bodyPr wrap="square" lIns="0" tIns="0" rIns="0" bIns="0">
            <a:normAutofit/>
          </a:bodyPr>
          <a:lstStyle/>
          <a:p>
            <a:pPr algn="l">
              <a:spcAft>
                <a:spcPts val="400"/>
              </a:spcAft>
              <a:defRPr sz="3200" b="1">
                <a:solidFill>
                  <a:srgbClr val="000000"/>
                </a:solidFill>
                <a:latin typeface="Helvetica Neue"/>
              </a:defRPr>
            </a:pPr>
            <a:r>
              <a:rPr dirty="0"/>
              <a:t>Why </a:t>
            </a:r>
            <a:r>
              <a:rPr lang="es-MX" dirty="0"/>
              <a:t>Video </a:t>
            </a:r>
            <a:r>
              <a:rPr lang="en-US" dirty="0"/>
              <a:t>Anomaly</a:t>
            </a:r>
            <a:r>
              <a:rPr lang="es-MX" dirty="0"/>
              <a:t> </a:t>
            </a:r>
            <a:r>
              <a:rPr lang="en-US" dirty="0"/>
              <a:t>Detection</a:t>
            </a:r>
            <a:r>
              <a:rPr lang="es-MX" dirty="0"/>
              <a:t> (</a:t>
            </a:r>
            <a:r>
              <a:rPr dirty="0"/>
              <a:t>VAD</a:t>
            </a:r>
            <a:r>
              <a:rPr lang="es-MX" dirty="0"/>
              <a:t>)</a:t>
            </a:r>
            <a:r>
              <a:rPr dirty="0"/>
              <a:t> Matters</a:t>
            </a:r>
            <a:r>
              <a:rPr lang="es-MX" dirty="0"/>
              <a:t>?</a:t>
            </a:r>
            <a:endParaRPr dirty="0"/>
          </a:p>
        </p:txBody>
      </p:sp>
      <p:sp>
        <p:nvSpPr>
          <p:cNvPr id="6" name="Rectangle 5"/>
          <p:cNvSpPr/>
          <p:nvPr/>
        </p:nvSpPr>
        <p:spPr>
          <a:xfrm>
            <a:off x="400050" y="2085976"/>
            <a:ext cx="3333750" cy="3238499"/>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a:xfrm>
            <a:off x="647700" y="2396490"/>
            <a:ext cx="152400" cy="1524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647700" y="2714625"/>
            <a:ext cx="2838450" cy="323850"/>
          </a:xfrm>
          <a:prstGeom prst="rect">
            <a:avLst/>
          </a:prstGeom>
          <a:noFill/>
        </p:spPr>
        <p:txBody>
          <a:bodyPr wrap="square" lIns="0" tIns="0" rIns="0" bIns="0">
            <a:normAutofit/>
          </a:bodyPr>
          <a:lstStyle/>
          <a:p>
            <a:pPr algn="l">
              <a:spcAft>
                <a:spcPts val="400"/>
              </a:spcAft>
              <a:defRPr sz="1800" b="1">
                <a:solidFill>
                  <a:srgbClr val="000000"/>
                </a:solidFill>
                <a:latin typeface="Helvetica Neue"/>
              </a:defRPr>
            </a:pPr>
            <a:r>
              <a:rPr dirty="0"/>
              <a:t>Applications</a:t>
            </a:r>
          </a:p>
        </p:txBody>
      </p:sp>
      <p:sp>
        <p:nvSpPr>
          <p:cNvPr id="9" name="TextBox 8"/>
          <p:cNvSpPr txBox="1"/>
          <p:nvPr/>
        </p:nvSpPr>
        <p:spPr>
          <a:xfrm>
            <a:off x="647700" y="3200400"/>
            <a:ext cx="2838450" cy="1962149"/>
          </a:xfrm>
          <a:prstGeom prst="rect">
            <a:avLst/>
          </a:prstGeom>
          <a:noFill/>
        </p:spPr>
        <p:txBody>
          <a:bodyPr wrap="square" lIns="0" tIns="0" rIns="0" bIns="0">
            <a:normAutofit/>
          </a:bodyPr>
          <a:lstStyle/>
          <a:p>
            <a:pPr marL="285750" indent="-285750" algn="l">
              <a:spcAft>
                <a:spcPts val="400"/>
              </a:spcAft>
              <a:buFont typeface="Arial" panose="020B0604020202020204" pitchFamily="34" charset="0"/>
              <a:buChar char="•"/>
              <a:defRPr sz="1400" b="0">
                <a:solidFill>
                  <a:srgbClr val="555555"/>
                </a:solidFill>
                <a:latin typeface="Helvetica Neue"/>
              </a:defRPr>
            </a:pPr>
            <a:r>
              <a:rPr sz="1600" dirty="0"/>
              <a:t>Intelligent surveillance</a:t>
            </a:r>
            <a:r>
              <a:rPr lang="es-MX" sz="1600" dirty="0"/>
              <a:t> </a:t>
            </a:r>
            <a:r>
              <a:rPr lang="es-MX" sz="1600" dirty="0" err="1"/>
              <a:t>for</a:t>
            </a:r>
            <a:r>
              <a:rPr lang="es-MX" sz="1600" dirty="0"/>
              <a:t> p</a:t>
            </a:r>
            <a:r>
              <a:rPr sz="1600" dirty="0" err="1"/>
              <a:t>ublic</a:t>
            </a:r>
            <a:r>
              <a:rPr sz="1600" dirty="0"/>
              <a:t> safety</a:t>
            </a:r>
            <a:endParaRPr lang="es-MX" sz="1600" dirty="0"/>
          </a:p>
          <a:p>
            <a:pPr marL="285750" indent="-285750" algn="l">
              <a:spcAft>
                <a:spcPts val="400"/>
              </a:spcAft>
              <a:buFont typeface="Arial" panose="020B0604020202020204" pitchFamily="34" charset="0"/>
              <a:buChar char="•"/>
              <a:defRPr sz="1400" b="0">
                <a:solidFill>
                  <a:srgbClr val="555555"/>
                </a:solidFill>
                <a:latin typeface="Helvetica Neue"/>
              </a:defRPr>
            </a:pPr>
            <a:r>
              <a:rPr lang="es-MX" sz="1600" dirty="0"/>
              <a:t>I</a:t>
            </a:r>
            <a:r>
              <a:rPr sz="1600" dirty="0" err="1"/>
              <a:t>ndustrial</a:t>
            </a:r>
            <a:r>
              <a:rPr sz="1600" dirty="0"/>
              <a:t> inspection</a:t>
            </a:r>
            <a:endParaRPr lang="es-MX" sz="1600" dirty="0"/>
          </a:p>
          <a:p>
            <a:pPr marL="285750" indent="-285750" algn="l">
              <a:spcAft>
                <a:spcPts val="400"/>
              </a:spcAft>
              <a:buFont typeface="Arial" panose="020B0604020202020204" pitchFamily="34" charset="0"/>
              <a:buChar char="•"/>
              <a:defRPr sz="1400" b="0">
                <a:solidFill>
                  <a:srgbClr val="555555"/>
                </a:solidFill>
                <a:latin typeface="Helvetica Neue"/>
              </a:defRPr>
            </a:pPr>
            <a:r>
              <a:rPr lang="es-MX" sz="1600" dirty="0"/>
              <a:t>A</a:t>
            </a:r>
            <a:r>
              <a:rPr sz="1600" dirty="0" err="1"/>
              <a:t>utonomous</a:t>
            </a:r>
            <a:r>
              <a:rPr lang="en-US" sz="1600" dirty="0"/>
              <a:t> systems</a:t>
            </a:r>
          </a:p>
        </p:txBody>
      </p:sp>
      <p:sp>
        <p:nvSpPr>
          <p:cNvPr id="10" name="Rectangle 9"/>
          <p:cNvSpPr/>
          <p:nvPr/>
        </p:nvSpPr>
        <p:spPr>
          <a:xfrm>
            <a:off x="4438650" y="2095499"/>
            <a:ext cx="3333750" cy="32385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a:xfrm>
            <a:off x="4686300" y="2362200"/>
            <a:ext cx="152400" cy="152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p:cNvSpPr txBox="1"/>
          <p:nvPr/>
        </p:nvSpPr>
        <p:spPr>
          <a:xfrm>
            <a:off x="4686300" y="2686050"/>
            <a:ext cx="2838450" cy="323850"/>
          </a:xfrm>
          <a:prstGeom prst="rect">
            <a:avLst/>
          </a:prstGeom>
          <a:noFill/>
        </p:spPr>
        <p:txBody>
          <a:bodyPr wrap="square" lIns="0" tIns="0" rIns="0" bIns="0">
            <a:normAutofit/>
          </a:bodyPr>
          <a:lstStyle/>
          <a:p>
            <a:pPr algn="l">
              <a:spcAft>
                <a:spcPts val="400"/>
              </a:spcAft>
              <a:defRPr sz="1800" b="1">
                <a:solidFill>
                  <a:srgbClr val="000000"/>
                </a:solidFill>
                <a:latin typeface="Helvetica Neue"/>
              </a:defRPr>
            </a:pPr>
            <a:r>
              <a:rPr lang="en-US" dirty="0"/>
              <a:t>Challenges</a:t>
            </a:r>
          </a:p>
        </p:txBody>
      </p:sp>
      <p:sp>
        <p:nvSpPr>
          <p:cNvPr id="13" name="TextBox 12"/>
          <p:cNvSpPr txBox="1"/>
          <p:nvPr/>
        </p:nvSpPr>
        <p:spPr>
          <a:xfrm>
            <a:off x="4686300" y="3124200"/>
            <a:ext cx="2838450" cy="2038349"/>
          </a:xfrm>
          <a:prstGeom prst="rect">
            <a:avLst/>
          </a:prstGeom>
          <a:noFill/>
        </p:spPr>
        <p:txBody>
          <a:bodyPr wrap="square" lIns="0" tIns="0" rIns="0" bIns="0">
            <a:normAutofit/>
          </a:bodyPr>
          <a:lstStyle/>
          <a:p>
            <a:pPr marL="285750" indent="-285750" algn="l">
              <a:spcAft>
                <a:spcPts val="400"/>
              </a:spcAft>
              <a:buFont typeface="Arial" panose="020B0604020202020204" pitchFamily="34" charset="0"/>
              <a:buChar char="•"/>
              <a:defRPr sz="1400" b="0">
                <a:solidFill>
                  <a:srgbClr val="555555"/>
                </a:solidFill>
                <a:latin typeface="Helvetica Neue"/>
              </a:defRPr>
            </a:pPr>
            <a:r>
              <a:rPr lang="en-US" sz="1600" dirty="0"/>
              <a:t>Learning </a:t>
            </a:r>
            <a:r>
              <a:rPr lang="en-US" sz="1600" b="1" dirty="0"/>
              <a:t>effective</a:t>
            </a:r>
            <a:r>
              <a:rPr lang="en-US" sz="1600" dirty="0"/>
              <a:t> temporal representations</a:t>
            </a:r>
          </a:p>
          <a:p>
            <a:pPr marL="285750" indent="-285750" algn="l">
              <a:spcAft>
                <a:spcPts val="400"/>
              </a:spcAft>
              <a:buFont typeface="Arial" panose="020B0604020202020204" pitchFamily="34" charset="0"/>
              <a:buChar char="•"/>
              <a:defRPr sz="1400" b="0">
                <a:solidFill>
                  <a:srgbClr val="555555"/>
                </a:solidFill>
                <a:latin typeface="Helvetica Neue"/>
              </a:defRPr>
            </a:pPr>
            <a:r>
              <a:rPr lang="en-US" sz="1600" b="1" dirty="0"/>
              <a:t>Generalizing</a:t>
            </a:r>
            <a:r>
              <a:rPr lang="en-US" sz="1600" dirty="0"/>
              <a:t> to unseen anomalies</a:t>
            </a:r>
          </a:p>
          <a:p>
            <a:pPr marL="285750" indent="-285750" algn="l">
              <a:spcAft>
                <a:spcPts val="400"/>
              </a:spcAft>
              <a:buFont typeface="Arial" panose="020B0604020202020204" pitchFamily="34" charset="0"/>
              <a:buChar char="•"/>
              <a:defRPr sz="1400" b="0">
                <a:solidFill>
                  <a:srgbClr val="555555"/>
                </a:solidFill>
                <a:latin typeface="Helvetica Neue"/>
              </a:defRPr>
            </a:pPr>
            <a:r>
              <a:rPr lang="en-US" sz="1600" b="1" dirty="0"/>
              <a:t>Efficiently</a:t>
            </a:r>
            <a:r>
              <a:rPr lang="en-US" sz="1600" dirty="0"/>
              <a:t> modeling long video sequences</a:t>
            </a:r>
          </a:p>
        </p:txBody>
      </p:sp>
      <p:sp>
        <p:nvSpPr>
          <p:cNvPr id="14" name="Rectangle 13"/>
          <p:cNvSpPr/>
          <p:nvPr/>
        </p:nvSpPr>
        <p:spPr>
          <a:xfrm>
            <a:off x="8477250" y="2095500"/>
            <a:ext cx="3333750" cy="3228976"/>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MX" dirty="0"/>
          </a:p>
        </p:txBody>
      </p:sp>
      <p:sp>
        <p:nvSpPr>
          <p:cNvPr id="15" name="Rectangle 14"/>
          <p:cNvSpPr/>
          <p:nvPr/>
        </p:nvSpPr>
        <p:spPr>
          <a:xfrm>
            <a:off x="8724900" y="2363470"/>
            <a:ext cx="152400" cy="152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6" name="TextBox 15"/>
          <p:cNvSpPr txBox="1"/>
          <p:nvPr/>
        </p:nvSpPr>
        <p:spPr>
          <a:xfrm>
            <a:off x="8724900" y="2686050"/>
            <a:ext cx="2838450" cy="323850"/>
          </a:xfrm>
          <a:prstGeom prst="rect">
            <a:avLst/>
          </a:prstGeom>
          <a:noFill/>
        </p:spPr>
        <p:txBody>
          <a:bodyPr wrap="square" lIns="0" tIns="0" rIns="0" bIns="0">
            <a:normAutofit/>
          </a:bodyPr>
          <a:lstStyle/>
          <a:p>
            <a:pPr algn="l">
              <a:spcAft>
                <a:spcPts val="400"/>
              </a:spcAft>
              <a:defRPr sz="1800" b="1">
                <a:solidFill>
                  <a:srgbClr val="000000"/>
                </a:solidFill>
                <a:latin typeface="Helvetica Neue"/>
              </a:defRPr>
            </a:pPr>
            <a:r>
              <a:rPr dirty="0"/>
              <a:t>Practical Difficulty</a:t>
            </a:r>
          </a:p>
        </p:txBody>
      </p:sp>
      <p:sp>
        <p:nvSpPr>
          <p:cNvPr id="17" name="TextBox 16"/>
          <p:cNvSpPr txBox="1"/>
          <p:nvPr/>
        </p:nvSpPr>
        <p:spPr>
          <a:xfrm>
            <a:off x="8724900" y="3139124"/>
            <a:ext cx="2838450" cy="2023425"/>
          </a:xfrm>
          <a:prstGeom prst="rect">
            <a:avLst/>
          </a:prstGeom>
          <a:noFill/>
        </p:spPr>
        <p:txBody>
          <a:bodyPr wrap="square" lIns="0" tIns="0" rIns="0" bIns="0">
            <a:normAutofit/>
          </a:bodyPr>
          <a:lstStyle/>
          <a:p>
            <a:pPr algn="l">
              <a:spcAft>
                <a:spcPts val="400"/>
              </a:spcAft>
              <a:defRPr sz="1400" b="0">
                <a:solidFill>
                  <a:srgbClr val="555555"/>
                </a:solidFill>
                <a:latin typeface="Helvetica Neue"/>
              </a:defRPr>
            </a:pPr>
            <a:r>
              <a:rPr dirty="0"/>
              <a:t>Anomalies are diverse, ambiguous, and rare; temporal and semantic robustness become decisive.</a:t>
            </a:r>
          </a:p>
        </p:txBody>
      </p:sp>
      <p:sp>
        <p:nvSpPr>
          <p:cNvPr id="20" name="TextBox 1">
            <a:extLst>
              <a:ext uri="{FF2B5EF4-FFF2-40B4-BE49-F238E27FC236}">
                <a16:creationId xmlns:a16="http://schemas.microsoft.com/office/drawing/2014/main" id="{5D098F25-AB74-B692-F4ED-2D7F47683097}"/>
              </a:ext>
            </a:extLst>
          </p:cNvPr>
          <p:cNvSpPr txBox="1"/>
          <p:nvPr/>
        </p:nvSpPr>
        <p:spPr>
          <a:xfrm>
            <a:off x="9041130" y="400050"/>
            <a:ext cx="2750820" cy="247650"/>
          </a:xfrm>
          <a:prstGeom prst="rect">
            <a:avLst/>
          </a:prstGeom>
          <a:noFill/>
        </p:spPr>
        <p:txBody>
          <a:bodyPr wrap="square" lIns="0" tIns="0" rIns="0" bIns="0">
            <a:normAutofit/>
          </a:bodyPr>
          <a:lstStyle/>
          <a:p>
            <a:pPr algn="l">
              <a:spcAft>
                <a:spcPts val="400"/>
              </a:spcAft>
              <a:defRPr sz="2300" b="0">
                <a:solidFill>
                  <a:srgbClr val="000000"/>
                </a:solidFill>
                <a:latin typeface="Helvetica Neue"/>
              </a:defRPr>
            </a:pPr>
            <a:r>
              <a:rPr lang="en-US" sz="1300" b="1" i="1" dirty="0">
                <a:solidFill>
                  <a:srgbClr val="555555"/>
                </a:solidFill>
                <a:latin typeface="Helvetica Neue"/>
              </a:rPr>
              <a:t>02 Context and research problem</a:t>
            </a:r>
          </a:p>
        </p:txBody>
      </p:sp>
      <p:sp>
        <p:nvSpPr>
          <p:cNvPr id="22" name="CuadroTexto 21">
            <a:extLst>
              <a:ext uri="{FF2B5EF4-FFF2-40B4-BE49-F238E27FC236}">
                <a16:creationId xmlns:a16="http://schemas.microsoft.com/office/drawing/2014/main" id="{FE5CAA20-3C82-7EDF-9FED-4253E4CF3E83}"/>
              </a:ext>
            </a:extLst>
          </p:cNvPr>
          <p:cNvSpPr txBox="1"/>
          <p:nvPr/>
        </p:nvSpPr>
        <p:spPr>
          <a:xfrm>
            <a:off x="864931" y="4474941"/>
            <a:ext cx="2403987" cy="707886"/>
          </a:xfrm>
          <a:prstGeom prst="rect">
            <a:avLst/>
          </a:prstGeom>
          <a:noFill/>
        </p:spPr>
        <p:txBody>
          <a:bodyPr wrap="square">
            <a:spAutoFit/>
          </a:bodyPr>
          <a:lstStyle/>
          <a:p>
            <a:r>
              <a:rPr lang="es-MX" sz="4000" dirty="0"/>
              <a:t>📹🏭🚗</a:t>
            </a:r>
          </a:p>
        </p:txBody>
      </p:sp>
      <p:sp>
        <p:nvSpPr>
          <p:cNvPr id="24" name="CuadroTexto 23">
            <a:extLst>
              <a:ext uri="{FF2B5EF4-FFF2-40B4-BE49-F238E27FC236}">
                <a16:creationId xmlns:a16="http://schemas.microsoft.com/office/drawing/2014/main" id="{BE302A66-E557-A799-D15A-5A834BA6EDB5}"/>
              </a:ext>
            </a:extLst>
          </p:cNvPr>
          <p:cNvSpPr txBox="1"/>
          <p:nvPr/>
        </p:nvSpPr>
        <p:spPr>
          <a:xfrm>
            <a:off x="9721338" y="4327259"/>
            <a:ext cx="845574" cy="707886"/>
          </a:xfrm>
          <a:prstGeom prst="rect">
            <a:avLst/>
          </a:prstGeom>
          <a:noFill/>
        </p:spPr>
        <p:txBody>
          <a:bodyPr wrap="square">
            <a:spAutoFit/>
          </a:bodyPr>
          <a:lstStyle/>
          <a:p>
            <a:r>
              <a:rPr lang="es-MX" sz="4000" dirty="0"/>
              <a:t>⚠️</a:t>
            </a:r>
          </a:p>
        </p:txBody>
      </p:sp>
      <p:sp>
        <p:nvSpPr>
          <p:cNvPr id="26" name="CuadroTexto 25">
            <a:extLst>
              <a:ext uri="{FF2B5EF4-FFF2-40B4-BE49-F238E27FC236}">
                <a16:creationId xmlns:a16="http://schemas.microsoft.com/office/drawing/2014/main" id="{86D124FD-3B1C-C296-641C-473F67F80EA1}"/>
              </a:ext>
            </a:extLst>
          </p:cNvPr>
          <p:cNvSpPr txBox="1"/>
          <p:nvPr/>
        </p:nvSpPr>
        <p:spPr>
          <a:xfrm>
            <a:off x="381000" y="5626985"/>
            <a:ext cx="11410950" cy="923330"/>
          </a:xfrm>
          <a:prstGeom prst="rect">
            <a:avLst/>
          </a:prstGeom>
          <a:noFill/>
        </p:spPr>
        <p:txBody>
          <a:bodyPr wrap="square">
            <a:spAutoFit/>
          </a:bodyPr>
          <a:lstStyle/>
          <a:p>
            <a:pPr algn="just">
              <a:spcAft>
                <a:spcPts val="400"/>
              </a:spcAft>
              <a:defRPr sz="1400" b="0">
                <a:solidFill>
                  <a:srgbClr val="555555"/>
                </a:solidFill>
                <a:latin typeface="Helvetica Neue"/>
              </a:defRPr>
            </a:pPr>
            <a:r>
              <a:rPr lang="en-US" sz="1800" b="1" dirty="0"/>
              <a:t>Weak Supervision: </a:t>
            </a:r>
            <a:r>
              <a:rPr lang="en-US" sz="1800" dirty="0"/>
              <a:t>In WSVAD, </a:t>
            </a:r>
            <a:r>
              <a:rPr lang="en-US" sz="1800" b="1" dirty="0"/>
              <a:t>only video-level labels </a:t>
            </a:r>
            <a:r>
              <a:rPr lang="en-US" sz="1800" dirty="0"/>
              <a:t>are available during training, making the task even more </a:t>
            </a:r>
            <a:r>
              <a:rPr lang="en-US" sz="1800" b="1" dirty="0"/>
              <a:t>challenging</a:t>
            </a:r>
            <a:r>
              <a:rPr lang="en-US" sz="1800" dirty="0"/>
              <a:t> because the model must </a:t>
            </a:r>
            <a:r>
              <a:rPr lang="en-US" sz="1800" b="1" dirty="0"/>
              <a:t>infer</a:t>
            </a:r>
            <a:r>
              <a:rPr lang="en-US" sz="1800" dirty="0"/>
              <a:t> which temporal </a:t>
            </a:r>
            <a:r>
              <a:rPr lang="en-US" sz="1800" b="1" dirty="0"/>
              <a:t>segments</a:t>
            </a:r>
            <a:r>
              <a:rPr lang="en-US" sz="1800" dirty="0"/>
              <a:t> are responsible </a:t>
            </a:r>
            <a:r>
              <a:rPr lang="en-US" sz="1800" b="1" dirty="0"/>
              <a:t>for</a:t>
            </a:r>
            <a:r>
              <a:rPr lang="en-US" sz="1800" dirty="0"/>
              <a:t> the </a:t>
            </a:r>
            <a:r>
              <a:rPr lang="en-US" sz="1800" b="1" dirty="0"/>
              <a:t>anomalous</a:t>
            </a:r>
            <a:r>
              <a:rPr lang="en-US" sz="1800" dirty="0"/>
              <a:t> event.</a:t>
            </a:r>
          </a:p>
        </p:txBody>
      </p:sp>
      <p:sp>
        <p:nvSpPr>
          <p:cNvPr id="27" name="Marcador de número de diapositiva 26">
            <a:extLst>
              <a:ext uri="{FF2B5EF4-FFF2-40B4-BE49-F238E27FC236}">
                <a16:creationId xmlns:a16="http://schemas.microsoft.com/office/drawing/2014/main" id="{86320075-22C6-4E47-8E03-85740E784739}"/>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00050" y="400050"/>
            <a:ext cx="3619500" cy="266700"/>
          </a:xfrm>
          <a:prstGeom prst="rect">
            <a:avLst/>
          </a:prstGeom>
          <a:noFill/>
        </p:spPr>
        <p:txBody>
          <a:bodyPr wrap="square" lIns="0" tIns="0" rIns="0" bIns="0">
            <a:normAutofit/>
          </a:bodyPr>
          <a:lstStyle/>
          <a:p>
            <a:pPr algn="l">
              <a:spcAft>
                <a:spcPts val="400"/>
              </a:spcAft>
              <a:defRPr sz="1200" b="1">
                <a:solidFill>
                  <a:srgbClr val="555555"/>
                </a:solidFill>
                <a:latin typeface="Helvetica Neue"/>
              </a:defRPr>
            </a:pPr>
            <a:r>
              <a:rPr dirty="0"/>
              <a:t>DOCTORAL RESEARCH PLAN</a:t>
            </a:r>
          </a:p>
        </p:txBody>
      </p:sp>
      <p:sp>
        <p:nvSpPr>
          <p:cNvPr id="3" name="TextBox 2"/>
          <p:cNvSpPr txBox="1"/>
          <p:nvPr/>
        </p:nvSpPr>
        <p:spPr>
          <a:xfrm>
            <a:off x="400050" y="781050"/>
            <a:ext cx="7334250" cy="819150"/>
          </a:xfrm>
          <a:prstGeom prst="rect">
            <a:avLst/>
          </a:prstGeom>
          <a:noFill/>
        </p:spPr>
        <p:txBody>
          <a:bodyPr wrap="square" lIns="0" tIns="0" rIns="0" bIns="0">
            <a:normAutofit/>
          </a:bodyPr>
          <a:lstStyle/>
          <a:p>
            <a:pPr algn="l">
              <a:spcAft>
                <a:spcPts val="400"/>
              </a:spcAft>
              <a:defRPr sz="3200" b="1">
                <a:solidFill>
                  <a:srgbClr val="000000"/>
                </a:solidFill>
                <a:latin typeface="Helvetica Neue"/>
              </a:defRPr>
            </a:pPr>
            <a:r>
              <a:rPr dirty="0"/>
              <a:t>Research Gap</a:t>
            </a:r>
          </a:p>
        </p:txBody>
      </p:sp>
      <p:sp>
        <p:nvSpPr>
          <p:cNvPr id="6" name="TextBox 5"/>
          <p:cNvSpPr txBox="1"/>
          <p:nvPr/>
        </p:nvSpPr>
        <p:spPr>
          <a:xfrm>
            <a:off x="400050" y="1885950"/>
            <a:ext cx="6286500" cy="1695450"/>
          </a:xfrm>
          <a:prstGeom prst="rect">
            <a:avLst/>
          </a:prstGeom>
          <a:noFill/>
        </p:spPr>
        <p:txBody>
          <a:bodyPr wrap="square" lIns="0" tIns="0" rIns="0" bIns="0">
            <a:normAutofit fontScale="77500" lnSpcReduction="20000"/>
          </a:bodyPr>
          <a:lstStyle/>
          <a:p>
            <a:pPr algn="l">
              <a:spcAft>
                <a:spcPts val="400"/>
              </a:spcAft>
              <a:defRPr sz="3100" b="1">
                <a:solidFill>
                  <a:srgbClr val="000000"/>
                </a:solidFill>
                <a:latin typeface="Helvetica Neue"/>
              </a:defRPr>
            </a:pPr>
            <a:r>
              <a:rPr lang="en-US" dirty="0"/>
              <a:t>The starting point is not a single architecture; rather, it is determining which temporal properties the representation should learn and which architecture can best improve the evaluation metrics.</a:t>
            </a:r>
            <a:endParaRPr dirty="0"/>
          </a:p>
        </p:txBody>
      </p:sp>
      <p:grpSp>
        <p:nvGrpSpPr>
          <p:cNvPr id="22" name="Grupo 21">
            <a:extLst>
              <a:ext uri="{FF2B5EF4-FFF2-40B4-BE49-F238E27FC236}">
                <a16:creationId xmlns:a16="http://schemas.microsoft.com/office/drawing/2014/main" id="{89FE229E-26D3-819D-92C8-5306028EFF4E}"/>
              </a:ext>
            </a:extLst>
          </p:cNvPr>
          <p:cNvGrpSpPr/>
          <p:nvPr/>
        </p:nvGrpSpPr>
        <p:grpSpPr>
          <a:xfrm>
            <a:off x="7524749" y="1600200"/>
            <a:ext cx="3905249" cy="2228850"/>
            <a:chOff x="7524749" y="1600200"/>
            <a:chExt cx="3905249" cy="2228850"/>
          </a:xfrm>
        </p:grpSpPr>
        <p:grpSp>
          <p:nvGrpSpPr>
            <p:cNvPr id="15" name="Grupo 14">
              <a:extLst>
                <a:ext uri="{FF2B5EF4-FFF2-40B4-BE49-F238E27FC236}">
                  <a16:creationId xmlns:a16="http://schemas.microsoft.com/office/drawing/2014/main" id="{33E87C2F-297F-A854-8B48-1D5EFD9A5317}"/>
                </a:ext>
              </a:extLst>
            </p:cNvPr>
            <p:cNvGrpSpPr/>
            <p:nvPr/>
          </p:nvGrpSpPr>
          <p:grpSpPr>
            <a:xfrm>
              <a:off x="7524749" y="1600200"/>
              <a:ext cx="3905249" cy="781050"/>
              <a:chOff x="7524749" y="2419350"/>
              <a:chExt cx="3905249" cy="781050"/>
            </a:xfrm>
          </p:grpSpPr>
          <p:sp>
            <p:nvSpPr>
              <p:cNvPr id="7" name="Rectangle 6"/>
              <p:cNvSpPr/>
              <p:nvPr/>
            </p:nvSpPr>
            <p:spPr>
              <a:xfrm>
                <a:off x="7524749" y="2514600"/>
                <a:ext cx="85725" cy="85725"/>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7753349" y="2419350"/>
                <a:ext cx="3676649" cy="781050"/>
              </a:xfrm>
              <a:prstGeom prst="rect">
                <a:avLst/>
              </a:prstGeom>
              <a:noFill/>
            </p:spPr>
            <p:txBody>
              <a:bodyPr wrap="square" lIns="0" tIns="0" rIns="0" bIns="0">
                <a:normAutofit/>
              </a:bodyPr>
              <a:lstStyle/>
              <a:p>
                <a:pPr algn="l">
                  <a:spcAft>
                    <a:spcPts val="400"/>
                  </a:spcAft>
                  <a:defRPr sz="1600" b="0">
                    <a:solidFill>
                      <a:srgbClr val="000000"/>
                    </a:solidFill>
                    <a:latin typeface="Helvetica Neue"/>
                  </a:defRPr>
                </a:pPr>
                <a:r>
                  <a:rPr dirty="0"/>
                  <a:t>Transformers and VLM-based methods have progressed, but may be costly for long videos.</a:t>
                </a:r>
              </a:p>
            </p:txBody>
          </p:sp>
        </p:grpSp>
        <p:grpSp>
          <p:nvGrpSpPr>
            <p:cNvPr id="16" name="Grupo 15">
              <a:extLst>
                <a:ext uri="{FF2B5EF4-FFF2-40B4-BE49-F238E27FC236}">
                  <a16:creationId xmlns:a16="http://schemas.microsoft.com/office/drawing/2014/main" id="{D5162BC8-0C02-E11A-0DA5-58A49154C436}"/>
                </a:ext>
              </a:extLst>
            </p:cNvPr>
            <p:cNvGrpSpPr/>
            <p:nvPr/>
          </p:nvGrpSpPr>
          <p:grpSpPr>
            <a:xfrm>
              <a:off x="7524749" y="2324100"/>
              <a:ext cx="3905249" cy="781050"/>
              <a:chOff x="7524749" y="3143250"/>
              <a:chExt cx="3905249" cy="781050"/>
            </a:xfrm>
          </p:grpSpPr>
          <p:sp>
            <p:nvSpPr>
              <p:cNvPr id="9" name="Rectangle 8"/>
              <p:cNvSpPr/>
              <p:nvPr/>
            </p:nvSpPr>
            <p:spPr>
              <a:xfrm>
                <a:off x="7524749" y="3238500"/>
                <a:ext cx="85725" cy="85725"/>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7753349" y="3143250"/>
                <a:ext cx="3676649" cy="781050"/>
              </a:xfrm>
              <a:prstGeom prst="rect">
                <a:avLst/>
              </a:prstGeom>
              <a:noFill/>
            </p:spPr>
            <p:txBody>
              <a:bodyPr wrap="square" lIns="0" tIns="0" rIns="0" bIns="0">
                <a:normAutofit/>
              </a:bodyPr>
              <a:lstStyle/>
              <a:p>
                <a:pPr algn="l">
                  <a:spcAft>
                    <a:spcPts val="400"/>
                  </a:spcAft>
                  <a:defRPr sz="1600" b="0">
                    <a:solidFill>
                      <a:srgbClr val="000000"/>
                    </a:solidFill>
                    <a:latin typeface="Helvetica Neue"/>
                  </a:defRPr>
                </a:pPr>
                <a:r>
                  <a:rPr dirty="0"/>
                  <a:t>SSMs such as Mamba promise efficiency, yet their original causal design does not directly fit</a:t>
                </a:r>
                <a:r>
                  <a:rPr lang="es-MX" dirty="0"/>
                  <a:t> </a:t>
                </a:r>
                <a:r>
                  <a:rPr dirty="0"/>
                  <a:t>VAD.</a:t>
                </a:r>
              </a:p>
            </p:txBody>
          </p:sp>
        </p:grpSp>
        <p:grpSp>
          <p:nvGrpSpPr>
            <p:cNvPr id="17" name="Grupo 16">
              <a:extLst>
                <a:ext uri="{FF2B5EF4-FFF2-40B4-BE49-F238E27FC236}">
                  <a16:creationId xmlns:a16="http://schemas.microsoft.com/office/drawing/2014/main" id="{A7F4838E-D94D-B958-A10D-69A6B84D6181}"/>
                </a:ext>
              </a:extLst>
            </p:cNvPr>
            <p:cNvGrpSpPr/>
            <p:nvPr/>
          </p:nvGrpSpPr>
          <p:grpSpPr>
            <a:xfrm>
              <a:off x="7524749" y="3048000"/>
              <a:ext cx="3905249" cy="781050"/>
              <a:chOff x="7524749" y="3867150"/>
              <a:chExt cx="3905249" cy="781050"/>
            </a:xfrm>
          </p:grpSpPr>
          <p:sp>
            <p:nvSpPr>
              <p:cNvPr id="11" name="Rectangle 10"/>
              <p:cNvSpPr/>
              <p:nvPr/>
            </p:nvSpPr>
            <p:spPr>
              <a:xfrm>
                <a:off x="7524749" y="3962399"/>
                <a:ext cx="85725" cy="85725"/>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p:cNvSpPr txBox="1"/>
              <p:nvPr/>
            </p:nvSpPr>
            <p:spPr>
              <a:xfrm>
                <a:off x="7753349" y="3867150"/>
                <a:ext cx="3676649" cy="781050"/>
              </a:xfrm>
              <a:prstGeom prst="rect">
                <a:avLst/>
              </a:prstGeom>
              <a:noFill/>
            </p:spPr>
            <p:txBody>
              <a:bodyPr wrap="square" lIns="0" tIns="0" rIns="0" bIns="0">
                <a:normAutofit/>
              </a:bodyPr>
              <a:lstStyle/>
              <a:p>
                <a:pPr algn="l">
                  <a:spcAft>
                    <a:spcPts val="400"/>
                  </a:spcAft>
                  <a:defRPr sz="1600" b="0">
                    <a:solidFill>
                      <a:srgbClr val="000000"/>
                    </a:solidFill>
                    <a:latin typeface="Helvetica Neue"/>
                  </a:defRPr>
                </a:pPr>
                <a:r>
                  <a:rPr dirty="0"/>
                  <a:t>Generalization to unseen anomalies requires more than local visual patterns.</a:t>
                </a:r>
              </a:p>
            </p:txBody>
          </p:sp>
        </p:grpSp>
      </p:grpSp>
      <p:sp>
        <p:nvSpPr>
          <p:cNvPr id="14" name="TextBox 1">
            <a:extLst>
              <a:ext uri="{FF2B5EF4-FFF2-40B4-BE49-F238E27FC236}">
                <a16:creationId xmlns:a16="http://schemas.microsoft.com/office/drawing/2014/main" id="{1506C6DF-D6E0-2619-9E4D-C3D2DA846A00}"/>
              </a:ext>
            </a:extLst>
          </p:cNvPr>
          <p:cNvSpPr txBox="1"/>
          <p:nvPr/>
        </p:nvSpPr>
        <p:spPr>
          <a:xfrm>
            <a:off x="7610474" y="400050"/>
            <a:ext cx="4181475" cy="381000"/>
          </a:xfrm>
          <a:prstGeom prst="rect">
            <a:avLst/>
          </a:prstGeom>
          <a:noFill/>
        </p:spPr>
        <p:txBody>
          <a:bodyPr wrap="square" lIns="0" tIns="0" rIns="0" bIns="0">
            <a:normAutofit fontScale="92500"/>
          </a:bodyPr>
          <a:lstStyle/>
          <a:p>
            <a:pPr algn="l">
              <a:spcAft>
                <a:spcPts val="400"/>
              </a:spcAft>
              <a:defRPr sz="2300" b="0">
                <a:solidFill>
                  <a:srgbClr val="000000"/>
                </a:solidFill>
                <a:latin typeface="Helvetica Neue"/>
              </a:defRPr>
            </a:pPr>
            <a:r>
              <a:rPr lang="en-US" sz="1400" b="1" i="1" dirty="0">
                <a:solidFill>
                  <a:srgbClr val="555555"/>
                </a:solidFill>
                <a:latin typeface="Helvetica Neue"/>
              </a:rPr>
              <a:t>03 Scientific gap, objective and central hypothesis</a:t>
            </a:r>
          </a:p>
          <a:p>
            <a:pPr algn="l">
              <a:spcAft>
                <a:spcPts val="400"/>
              </a:spcAft>
              <a:defRPr sz="2300" b="0">
                <a:solidFill>
                  <a:srgbClr val="000000"/>
                </a:solidFill>
                <a:latin typeface="Helvetica Neue"/>
              </a:defRPr>
            </a:pPr>
            <a:endParaRPr lang="en-US" sz="1300" b="1" i="1" dirty="0">
              <a:solidFill>
                <a:srgbClr val="555555"/>
              </a:solidFill>
              <a:latin typeface="Helvetica Neue"/>
            </a:endParaRPr>
          </a:p>
        </p:txBody>
      </p:sp>
      <p:grpSp>
        <p:nvGrpSpPr>
          <p:cNvPr id="23" name="Grupo 22">
            <a:extLst>
              <a:ext uri="{FF2B5EF4-FFF2-40B4-BE49-F238E27FC236}">
                <a16:creationId xmlns:a16="http://schemas.microsoft.com/office/drawing/2014/main" id="{F70AAEC3-0A21-7F3C-4CB8-C5F839A3252D}"/>
              </a:ext>
            </a:extLst>
          </p:cNvPr>
          <p:cNvGrpSpPr/>
          <p:nvPr/>
        </p:nvGrpSpPr>
        <p:grpSpPr>
          <a:xfrm>
            <a:off x="361950" y="4095750"/>
            <a:ext cx="11430000" cy="2171700"/>
            <a:chOff x="361950" y="4095750"/>
            <a:chExt cx="11430000" cy="2171700"/>
          </a:xfrm>
        </p:grpSpPr>
        <p:sp>
          <p:nvSpPr>
            <p:cNvPr id="18" name="Rectangle 5">
              <a:extLst>
                <a:ext uri="{FF2B5EF4-FFF2-40B4-BE49-F238E27FC236}">
                  <a16:creationId xmlns:a16="http://schemas.microsoft.com/office/drawing/2014/main" id="{DDA6F907-9C9D-DD71-4DB6-94AA7DBE98C2}"/>
                </a:ext>
              </a:extLst>
            </p:cNvPr>
            <p:cNvSpPr/>
            <p:nvPr/>
          </p:nvSpPr>
          <p:spPr>
            <a:xfrm>
              <a:off x="361950" y="4095750"/>
              <a:ext cx="11430000" cy="21717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9" name="TextBox 6">
              <a:extLst>
                <a:ext uri="{FF2B5EF4-FFF2-40B4-BE49-F238E27FC236}">
                  <a16:creationId xmlns:a16="http://schemas.microsoft.com/office/drawing/2014/main" id="{F40183F4-425B-47D1-A110-5C77E2762F3D}"/>
                </a:ext>
              </a:extLst>
            </p:cNvPr>
            <p:cNvSpPr txBox="1"/>
            <p:nvPr/>
          </p:nvSpPr>
          <p:spPr>
            <a:xfrm>
              <a:off x="704850" y="4675505"/>
              <a:ext cx="2286000" cy="381000"/>
            </a:xfrm>
            <a:prstGeom prst="rect">
              <a:avLst/>
            </a:prstGeom>
            <a:noFill/>
          </p:spPr>
          <p:txBody>
            <a:bodyPr wrap="square" lIns="0" tIns="0" rIns="0" bIns="0">
              <a:normAutofit/>
            </a:bodyPr>
            <a:lstStyle/>
            <a:p>
              <a:pPr algn="l">
                <a:spcAft>
                  <a:spcPts val="400"/>
                </a:spcAft>
                <a:defRPr sz="2100" b="1">
                  <a:solidFill>
                    <a:srgbClr val="000000"/>
                  </a:solidFill>
                  <a:latin typeface="Helvetica Neue"/>
                </a:defRPr>
              </a:pPr>
              <a:r>
                <a:rPr dirty="0"/>
                <a:t>Objective</a:t>
              </a:r>
            </a:p>
          </p:txBody>
        </p:sp>
        <p:sp>
          <p:nvSpPr>
            <p:cNvPr id="20" name="TextBox 7">
              <a:extLst>
                <a:ext uri="{FF2B5EF4-FFF2-40B4-BE49-F238E27FC236}">
                  <a16:creationId xmlns:a16="http://schemas.microsoft.com/office/drawing/2014/main" id="{D80200F9-1103-C7EB-DEFD-4675B719D094}"/>
                </a:ext>
              </a:extLst>
            </p:cNvPr>
            <p:cNvSpPr txBox="1"/>
            <p:nvPr/>
          </p:nvSpPr>
          <p:spPr>
            <a:xfrm>
              <a:off x="704850" y="5222240"/>
              <a:ext cx="10725148" cy="781050"/>
            </a:xfrm>
            <a:prstGeom prst="rect">
              <a:avLst/>
            </a:prstGeom>
            <a:noFill/>
          </p:spPr>
          <p:txBody>
            <a:bodyPr wrap="square" lIns="0" tIns="0" rIns="0" bIns="0">
              <a:normAutofit/>
            </a:bodyPr>
            <a:lstStyle/>
            <a:p>
              <a:pPr algn="l">
                <a:spcAft>
                  <a:spcPts val="400"/>
                </a:spcAft>
                <a:defRPr sz="1800" b="0">
                  <a:solidFill>
                    <a:srgbClr val="000000"/>
                  </a:solidFill>
                  <a:latin typeface="Helvetica Neue"/>
                </a:defRPr>
              </a:pPr>
              <a:r>
                <a:rPr lang="en-US" dirty="0"/>
                <a:t>Investigate how robust temporal representations improve anomaly detection in long and complex videos.</a:t>
              </a:r>
            </a:p>
          </p:txBody>
        </p:sp>
        <p:sp>
          <p:nvSpPr>
            <p:cNvPr id="21" name="Rectangle 6">
              <a:extLst>
                <a:ext uri="{FF2B5EF4-FFF2-40B4-BE49-F238E27FC236}">
                  <a16:creationId xmlns:a16="http://schemas.microsoft.com/office/drawing/2014/main" id="{D2CBC1C5-0BCD-D4F2-25F6-4A4EE7F73F83}"/>
                </a:ext>
              </a:extLst>
            </p:cNvPr>
            <p:cNvSpPr/>
            <p:nvPr/>
          </p:nvSpPr>
          <p:spPr>
            <a:xfrm>
              <a:off x="704850" y="4333875"/>
              <a:ext cx="152400" cy="1524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4" name="Marcador de número de diapositiva 23">
            <a:extLst>
              <a:ext uri="{FF2B5EF4-FFF2-40B4-BE49-F238E27FC236}">
                <a16:creationId xmlns:a16="http://schemas.microsoft.com/office/drawing/2014/main" id="{55F4106E-D9A7-7D76-4162-7FDF494F57CC}"/>
              </a:ext>
            </a:extLst>
          </p:cNvPr>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p:cNvSpPr/>
          <p:nvPr/>
        </p:nvSpPr>
        <p:spPr>
          <a:xfrm>
            <a:off x="8477250" y="5010150"/>
            <a:ext cx="3333750" cy="150495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 name="TextBox 1"/>
          <p:cNvSpPr txBox="1"/>
          <p:nvPr/>
        </p:nvSpPr>
        <p:spPr>
          <a:xfrm>
            <a:off x="400050" y="400050"/>
            <a:ext cx="3619500" cy="266700"/>
          </a:xfrm>
          <a:prstGeom prst="rect">
            <a:avLst/>
          </a:prstGeom>
          <a:noFill/>
        </p:spPr>
        <p:txBody>
          <a:bodyPr wrap="square" lIns="0" tIns="0" rIns="0" bIns="0">
            <a:normAutofit/>
          </a:bodyPr>
          <a:lstStyle/>
          <a:p>
            <a:pPr algn="l">
              <a:spcAft>
                <a:spcPts val="400"/>
              </a:spcAft>
              <a:defRPr sz="1200" b="1">
                <a:solidFill>
                  <a:srgbClr val="555555"/>
                </a:solidFill>
                <a:latin typeface="Helvetica Neue"/>
              </a:defRPr>
            </a:pPr>
            <a:r>
              <a:rPr dirty="0"/>
              <a:t>DOCTORAL RESEARCH PLAN</a:t>
            </a:r>
          </a:p>
        </p:txBody>
      </p:sp>
      <p:sp>
        <p:nvSpPr>
          <p:cNvPr id="3" name="TextBox 2"/>
          <p:cNvSpPr txBox="1"/>
          <p:nvPr/>
        </p:nvSpPr>
        <p:spPr>
          <a:xfrm>
            <a:off x="400050" y="781050"/>
            <a:ext cx="7334250" cy="819150"/>
          </a:xfrm>
          <a:prstGeom prst="rect">
            <a:avLst/>
          </a:prstGeom>
          <a:noFill/>
        </p:spPr>
        <p:txBody>
          <a:bodyPr wrap="square" lIns="0" tIns="0" rIns="0" bIns="0">
            <a:normAutofit/>
          </a:bodyPr>
          <a:lstStyle/>
          <a:p>
            <a:pPr algn="l">
              <a:spcAft>
                <a:spcPts val="400"/>
              </a:spcAft>
              <a:defRPr sz="3200" b="1">
                <a:solidFill>
                  <a:srgbClr val="000000"/>
                </a:solidFill>
                <a:latin typeface="Helvetica Neue"/>
              </a:defRPr>
            </a:pPr>
            <a:r>
              <a:rPr dirty="0"/>
              <a:t>Central Hypothesis</a:t>
            </a:r>
          </a:p>
        </p:txBody>
      </p:sp>
      <p:sp>
        <p:nvSpPr>
          <p:cNvPr id="4" name="TextBox 3"/>
          <p:cNvSpPr txBox="1"/>
          <p:nvPr/>
        </p:nvSpPr>
        <p:spPr>
          <a:xfrm>
            <a:off x="400050" y="1619250"/>
            <a:ext cx="10953750" cy="609600"/>
          </a:xfrm>
          <a:prstGeom prst="rect">
            <a:avLst/>
          </a:prstGeom>
          <a:noFill/>
        </p:spPr>
        <p:txBody>
          <a:bodyPr wrap="square" lIns="0" tIns="0" rIns="0" bIns="0">
            <a:normAutofit/>
          </a:bodyPr>
          <a:lstStyle/>
          <a:p>
            <a:pPr algn="just">
              <a:spcAft>
                <a:spcPts val="400"/>
              </a:spcAft>
              <a:defRPr sz="1700" b="0">
                <a:solidFill>
                  <a:srgbClr val="555555"/>
                </a:solidFill>
                <a:latin typeface="Helvetica Neue"/>
              </a:defRPr>
            </a:pPr>
            <a:r>
              <a:rPr lang="en-US" dirty="0"/>
              <a:t>Temporal representations enriched with complementary semantic or contextual information (e.g. VLM) can improve anomaly detection performance.</a:t>
            </a:r>
          </a:p>
        </p:txBody>
      </p:sp>
      <p:sp>
        <p:nvSpPr>
          <p:cNvPr id="6" name="Rectangle 5"/>
          <p:cNvSpPr/>
          <p:nvPr/>
        </p:nvSpPr>
        <p:spPr>
          <a:xfrm>
            <a:off x="400050" y="2419350"/>
            <a:ext cx="11391900" cy="2000250"/>
          </a:xfrm>
          <a:prstGeom prst="rect">
            <a:avLst/>
          </a:prstGeom>
          <a:solidFill>
            <a:srgbClr val="FFF0EA"/>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p:cNvSpPr txBox="1"/>
          <p:nvPr/>
        </p:nvSpPr>
        <p:spPr>
          <a:xfrm>
            <a:off x="781050" y="2838450"/>
            <a:ext cx="10572750" cy="1162050"/>
          </a:xfrm>
          <a:prstGeom prst="rect">
            <a:avLst/>
          </a:prstGeom>
          <a:noFill/>
        </p:spPr>
        <p:txBody>
          <a:bodyPr wrap="square" lIns="0" tIns="0" rIns="0" bIns="0">
            <a:normAutofit fontScale="85000" lnSpcReduction="20000"/>
          </a:bodyPr>
          <a:lstStyle/>
          <a:p>
            <a:pPr algn="l">
              <a:spcAft>
                <a:spcPts val="400"/>
              </a:spcAft>
              <a:defRPr sz="2600" b="1">
                <a:solidFill>
                  <a:srgbClr val="000000"/>
                </a:solidFill>
                <a:latin typeface="Helvetica Neue"/>
              </a:defRPr>
            </a:pPr>
            <a:r>
              <a:rPr lang="en-US" dirty="0"/>
              <a:t>If temporal representations effectively integrate complementary semantic or contextual information, they can better distinguish normal from anomalous patterns, improving the detection of weak, ambiguous, or previously unseen anomalies.</a:t>
            </a:r>
            <a:endParaRPr dirty="0"/>
          </a:p>
        </p:txBody>
      </p:sp>
      <p:sp>
        <p:nvSpPr>
          <p:cNvPr id="8" name="Rectangle 7"/>
          <p:cNvSpPr/>
          <p:nvPr/>
        </p:nvSpPr>
        <p:spPr>
          <a:xfrm>
            <a:off x="400050" y="5010150"/>
            <a:ext cx="3333750" cy="150495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a:xfrm>
            <a:off x="647700" y="5276850"/>
            <a:ext cx="152400" cy="1524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647700" y="5600700"/>
            <a:ext cx="2838450" cy="323850"/>
          </a:xfrm>
          <a:prstGeom prst="rect">
            <a:avLst/>
          </a:prstGeom>
          <a:noFill/>
        </p:spPr>
        <p:txBody>
          <a:bodyPr wrap="square" lIns="0" tIns="0" rIns="0" bIns="0">
            <a:normAutofit/>
          </a:bodyPr>
          <a:lstStyle/>
          <a:p>
            <a:pPr algn="l">
              <a:spcAft>
                <a:spcPts val="400"/>
              </a:spcAft>
              <a:defRPr sz="1800" b="1">
                <a:solidFill>
                  <a:srgbClr val="000000"/>
                </a:solidFill>
                <a:latin typeface="Helvetica Neue"/>
              </a:defRPr>
            </a:pPr>
            <a:r>
              <a:rPr dirty="0"/>
              <a:t>Efficiency</a:t>
            </a:r>
          </a:p>
        </p:txBody>
      </p:sp>
      <p:sp>
        <p:nvSpPr>
          <p:cNvPr id="11" name="TextBox 10"/>
          <p:cNvSpPr txBox="1"/>
          <p:nvPr/>
        </p:nvSpPr>
        <p:spPr>
          <a:xfrm>
            <a:off x="647700" y="6038850"/>
            <a:ext cx="2838450" cy="419100"/>
          </a:xfrm>
          <a:prstGeom prst="rect">
            <a:avLst/>
          </a:prstGeom>
          <a:noFill/>
        </p:spPr>
        <p:txBody>
          <a:bodyPr wrap="square" lIns="0" tIns="0" rIns="0" bIns="0">
            <a:normAutofit lnSpcReduction="10000"/>
          </a:bodyPr>
          <a:lstStyle/>
          <a:p>
            <a:pPr algn="l">
              <a:spcAft>
                <a:spcPts val="400"/>
              </a:spcAft>
              <a:defRPr sz="1400" b="0">
                <a:solidFill>
                  <a:srgbClr val="555555"/>
                </a:solidFill>
                <a:latin typeface="Helvetica Neue"/>
              </a:defRPr>
            </a:pPr>
            <a:r>
              <a:rPr dirty="0"/>
              <a:t>Long sequences without quadratic cost.</a:t>
            </a:r>
          </a:p>
        </p:txBody>
      </p:sp>
      <p:sp>
        <p:nvSpPr>
          <p:cNvPr id="12" name="Rectangle 11"/>
          <p:cNvSpPr/>
          <p:nvPr/>
        </p:nvSpPr>
        <p:spPr>
          <a:xfrm>
            <a:off x="4438650" y="5010150"/>
            <a:ext cx="3333750" cy="150495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a:xfrm>
            <a:off x="4686300" y="5276850"/>
            <a:ext cx="152400" cy="152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 name="TextBox 13"/>
          <p:cNvSpPr txBox="1"/>
          <p:nvPr/>
        </p:nvSpPr>
        <p:spPr>
          <a:xfrm>
            <a:off x="4686300" y="5600700"/>
            <a:ext cx="2838450" cy="323850"/>
          </a:xfrm>
          <a:prstGeom prst="rect">
            <a:avLst/>
          </a:prstGeom>
          <a:noFill/>
        </p:spPr>
        <p:txBody>
          <a:bodyPr wrap="square" lIns="0" tIns="0" rIns="0" bIns="0">
            <a:normAutofit/>
          </a:bodyPr>
          <a:lstStyle/>
          <a:p>
            <a:pPr algn="l">
              <a:spcAft>
                <a:spcPts val="400"/>
              </a:spcAft>
              <a:defRPr sz="1800" b="1">
                <a:solidFill>
                  <a:srgbClr val="000000"/>
                </a:solidFill>
                <a:latin typeface="Helvetica Neue"/>
              </a:defRPr>
            </a:pPr>
            <a:r>
              <a:rPr dirty="0"/>
              <a:t>Semantics</a:t>
            </a:r>
          </a:p>
        </p:txBody>
      </p:sp>
      <p:sp>
        <p:nvSpPr>
          <p:cNvPr id="15" name="TextBox 14"/>
          <p:cNvSpPr txBox="1"/>
          <p:nvPr/>
        </p:nvSpPr>
        <p:spPr>
          <a:xfrm>
            <a:off x="4686300" y="6038850"/>
            <a:ext cx="2838450" cy="419100"/>
          </a:xfrm>
          <a:prstGeom prst="rect">
            <a:avLst/>
          </a:prstGeom>
          <a:noFill/>
        </p:spPr>
        <p:txBody>
          <a:bodyPr wrap="square" lIns="0" tIns="0" rIns="0" bIns="0">
            <a:normAutofit lnSpcReduction="10000"/>
          </a:bodyPr>
          <a:lstStyle/>
          <a:p>
            <a:pPr algn="l">
              <a:spcAft>
                <a:spcPts val="400"/>
              </a:spcAft>
              <a:defRPr sz="1400" b="0">
                <a:solidFill>
                  <a:srgbClr val="555555"/>
                </a:solidFill>
                <a:latin typeface="Helvetica Neue"/>
              </a:defRPr>
            </a:pPr>
            <a:r>
              <a:rPr dirty="0"/>
              <a:t>Anomaly concepts beyond closed classes.</a:t>
            </a:r>
          </a:p>
        </p:txBody>
      </p:sp>
      <p:sp>
        <p:nvSpPr>
          <p:cNvPr id="17" name="Rectangle 16"/>
          <p:cNvSpPr/>
          <p:nvPr/>
        </p:nvSpPr>
        <p:spPr>
          <a:xfrm>
            <a:off x="8724900" y="5276850"/>
            <a:ext cx="152400" cy="152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 name="TextBox 17"/>
          <p:cNvSpPr txBox="1"/>
          <p:nvPr/>
        </p:nvSpPr>
        <p:spPr>
          <a:xfrm>
            <a:off x="8724900" y="5600700"/>
            <a:ext cx="2838450" cy="323850"/>
          </a:xfrm>
          <a:prstGeom prst="rect">
            <a:avLst/>
          </a:prstGeom>
          <a:noFill/>
        </p:spPr>
        <p:txBody>
          <a:bodyPr wrap="square" lIns="0" tIns="0" rIns="0" bIns="0">
            <a:normAutofit/>
          </a:bodyPr>
          <a:lstStyle/>
          <a:p>
            <a:pPr algn="l">
              <a:spcAft>
                <a:spcPts val="400"/>
              </a:spcAft>
              <a:defRPr sz="1800" b="1">
                <a:solidFill>
                  <a:srgbClr val="000000"/>
                </a:solidFill>
                <a:latin typeface="Helvetica Neue"/>
              </a:defRPr>
            </a:pPr>
            <a:r>
              <a:rPr dirty="0"/>
              <a:t>Robustness</a:t>
            </a:r>
          </a:p>
        </p:txBody>
      </p:sp>
      <p:sp>
        <p:nvSpPr>
          <p:cNvPr id="19" name="TextBox 18"/>
          <p:cNvSpPr txBox="1"/>
          <p:nvPr/>
        </p:nvSpPr>
        <p:spPr>
          <a:xfrm>
            <a:off x="8724900" y="6038850"/>
            <a:ext cx="2838450" cy="419100"/>
          </a:xfrm>
          <a:prstGeom prst="rect">
            <a:avLst/>
          </a:prstGeom>
          <a:noFill/>
        </p:spPr>
        <p:txBody>
          <a:bodyPr wrap="square" lIns="0" tIns="0" rIns="0" bIns="0">
            <a:normAutofit lnSpcReduction="10000"/>
          </a:bodyPr>
          <a:lstStyle/>
          <a:p>
            <a:pPr algn="l">
              <a:spcAft>
                <a:spcPts val="400"/>
              </a:spcAft>
              <a:defRPr sz="1400" b="0">
                <a:solidFill>
                  <a:srgbClr val="555555"/>
                </a:solidFill>
                <a:latin typeface="Helvetica Neue"/>
              </a:defRPr>
            </a:pPr>
            <a:r>
              <a:rPr dirty="0"/>
              <a:t>Better behavior under unseen events and domains.</a:t>
            </a:r>
          </a:p>
        </p:txBody>
      </p:sp>
      <p:sp>
        <p:nvSpPr>
          <p:cNvPr id="20" name="TextBox 1">
            <a:extLst>
              <a:ext uri="{FF2B5EF4-FFF2-40B4-BE49-F238E27FC236}">
                <a16:creationId xmlns:a16="http://schemas.microsoft.com/office/drawing/2014/main" id="{D07FFCC3-8E33-A52F-581C-D04DDF825A4F}"/>
              </a:ext>
            </a:extLst>
          </p:cNvPr>
          <p:cNvSpPr txBox="1"/>
          <p:nvPr/>
        </p:nvSpPr>
        <p:spPr>
          <a:xfrm>
            <a:off x="7610474" y="400050"/>
            <a:ext cx="4181475" cy="381000"/>
          </a:xfrm>
          <a:prstGeom prst="rect">
            <a:avLst/>
          </a:prstGeom>
          <a:noFill/>
        </p:spPr>
        <p:txBody>
          <a:bodyPr wrap="square" lIns="0" tIns="0" rIns="0" bIns="0">
            <a:normAutofit fontScale="92500"/>
          </a:bodyPr>
          <a:lstStyle/>
          <a:p>
            <a:pPr algn="l">
              <a:spcAft>
                <a:spcPts val="400"/>
              </a:spcAft>
              <a:defRPr sz="2300" b="0">
                <a:solidFill>
                  <a:srgbClr val="000000"/>
                </a:solidFill>
                <a:latin typeface="Helvetica Neue"/>
              </a:defRPr>
            </a:pPr>
            <a:r>
              <a:rPr lang="en-US" sz="1400" b="1" i="1" dirty="0">
                <a:solidFill>
                  <a:srgbClr val="555555"/>
                </a:solidFill>
                <a:latin typeface="Helvetica Neue"/>
              </a:rPr>
              <a:t>03 Scientific gap, objective and central hypothesis</a:t>
            </a:r>
          </a:p>
          <a:p>
            <a:pPr algn="l">
              <a:spcAft>
                <a:spcPts val="400"/>
              </a:spcAft>
              <a:defRPr sz="2300" b="0">
                <a:solidFill>
                  <a:srgbClr val="000000"/>
                </a:solidFill>
                <a:latin typeface="Helvetica Neue"/>
              </a:defRPr>
            </a:pPr>
            <a:endParaRPr lang="en-US" sz="1300" b="1" i="1" dirty="0">
              <a:solidFill>
                <a:srgbClr val="555555"/>
              </a:solidFill>
              <a:latin typeface="Helvetica Neue"/>
            </a:endParaRPr>
          </a:p>
        </p:txBody>
      </p:sp>
      <p:sp>
        <p:nvSpPr>
          <p:cNvPr id="21" name="Marcador de número de diapositiva 20">
            <a:extLst>
              <a:ext uri="{FF2B5EF4-FFF2-40B4-BE49-F238E27FC236}">
                <a16:creationId xmlns:a16="http://schemas.microsoft.com/office/drawing/2014/main" id="{51C0F0A0-AAFE-35BE-4352-EEB8D20AB3B4}"/>
              </a:ext>
            </a:extLst>
          </p:cNvPr>
          <p:cNvSpPr>
            <a:spLocks noGrp="1"/>
          </p:cNvSpPr>
          <p:nvPr>
            <p:ph type="sldNum" sz="quarter" idx="12"/>
          </p:nvPr>
        </p:nvSpPr>
        <p:spPr/>
        <p:txBody>
          <a:bodyPr/>
          <a:lstStyle/>
          <a:p>
            <a:fld id="{C1FF6DA9-008F-8B48-92A6-B652298478BF}"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00050" y="400050"/>
            <a:ext cx="3619500" cy="266700"/>
          </a:xfrm>
          <a:prstGeom prst="rect">
            <a:avLst/>
          </a:prstGeom>
          <a:noFill/>
        </p:spPr>
        <p:txBody>
          <a:bodyPr wrap="square" lIns="0" tIns="0" rIns="0" bIns="0">
            <a:normAutofit/>
          </a:bodyPr>
          <a:lstStyle/>
          <a:p>
            <a:pPr algn="l">
              <a:spcAft>
                <a:spcPts val="400"/>
              </a:spcAft>
              <a:defRPr sz="1200" b="1">
                <a:solidFill>
                  <a:srgbClr val="555555"/>
                </a:solidFill>
                <a:latin typeface="Helvetica Neue"/>
              </a:defRPr>
            </a:pPr>
            <a:r>
              <a:rPr dirty="0"/>
              <a:t>DOCTORAL RESEARCH PLAN</a:t>
            </a:r>
          </a:p>
        </p:txBody>
      </p:sp>
      <p:sp>
        <p:nvSpPr>
          <p:cNvPr id="3" name="TextBox 2"/>
          <p:cNvSpPr txBox="1"/>
          <p:nvPr/>
        </p:nvSpPr>
        <p:spPr>
          <a:xfrm>
            <a:off x="400050" y="781050"/>
            <a:ext cx="7334250" cy="819150"/>
          </a:xfrm>
          <a:prstGeom prst="rect">
            <a:avLst/>
          </a:prstGeom>
          <a:noFill/>
        </p:spPr>
        <p:txBody>
          <a:bodyPr wrap="square" lIns="0" tIns="0" rIns="0" bIns="0">
            <a:normAutofit/>
          </a:bodyPr>
          <a:lstStyle/>
          <a:p>
            <a:pPr algn="l">
              <a:spcAft>
                <a:spcPts val="400"/>
              </a:spcAft>
              <a:defRPr sz="3200" b="1">
                <a:solidFill>
                  <a:srgbClr val="000000"/>
                </a:solidFill>
                <a:latin typeface="Helvetica Neue"/>
              </a:defRPr>
            </a:pPr>
            <a:r>
              <a:rPr dirty="0"/>
              <a:t>Three-Stage Methodology</a:t>
            </a:r>
          </a:p>
        </p:txBody>
      </p:sp>
      <p:sp>
        <p:nvSpPr>
          <p:cNvPr id="4" name="TextBox 3"/>
          <p:cNvSpPr txBox="1"/>
          <p:nvPr/>
        </p:nvSpPr>
        <p:spPr>
          <a:xfrm>
            <a:off x="400050" y="1619250"/>
            <a:ext cx="10877550" cy="609600"/>
          </a:xfrm>
          <a:prstGeom prst="rect">
            <a:avLst/>
          </a:prstGeom>
          <a:noFill/>
        </p:spPr>
        <p:txBody>
          <a:bodyPr wrap="square" lIns="0" tIns="0" rIns="0" bIns="0">
            <a:normAutofit/>
          </a:bodyPr>
          <a:lstStyle/>
          <a:p>
            <a:pPr algn="l">
              <a:spcAft>
                <a:spcPts val="400"/>
              </a:spcAft>
              <a:defRPr sz="1700" b="0">
                <a:solidFill>
                  <a:srgbClr val="555555"/>
                </a:solidFill>
                <a:latin typeface="Helvetica Neue"/>
              </a:defRPr>
            </a:pPr>
            <a:r>
              <a:rPr dirty="0"/>
              <a:t>The plan moves from understanding the state of the art to semantic-temporal integration.</a:t>
            </a:r>
          </a:p>
        </p:txBody>
      </p:sp>
      <p:sp>
        <p:nvSpPr>
          <p:cNvPr id="6" name="Rectangle 5"/>
          <p:cNvSpPr/>
          <p:nvPr/>
        </p:nvSpPr>
        <p:spPr>
          <a:xfrm>
            <a:off x="400050" y="2266950"/>
            <a:ext cx="3181350" cy="401955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p:cNvSpPr txBox="1"/>
          <p:nvPr/>
        </p:nvSpPr>
        <p:spPr>
          <a:xfrm>
            <a:off x="666750" y="2514600"/>
            <a:ext cx="1143000" cy="704850"/>
          </a:xfrm>
          <a:prstGeom prst="rect">
            <a:avLst/>
          </a:prstGeom>
          <a:noFill/>
        </p:spPr>
        <p:txBody>
          <a:bodyPr wrap="square" lIns="0" tIns="0" rIns="0" bIns="0">
            <a:normAutofit/>
          </a:bodyPr>
          <a:lstStyle/>
          <a:p>
            <a:pPr algn="l">
              <a:spcAft>
                <a:spcPts val="400"/>
              </a:spcAft>
              <a:defRPr sz="4200" b="1">
                <a:solidFill>
                  <a:srgbClr val="000000"/>
                </a:solidFill>
                <a:latin typeface="Helvetica Neue"/>
              </a:defRPr>
            </a:pPr>
            <a:r>
              <a:rPr dirty="0"/>
              <a:t>01</a:t>
            </a:r>
          </a:p>
        </p:txBody>
      </p:sp>
      <p:sp>
        <p:nvSpPr>
          <p:cNvPr id="8" name="TextBox 7"/>
          <p:cNvSpPr txBox="1"/>
          <p:nvPr/>
        </p:nvSpPr>
        <p:spPr>
          <a:xfrm>
            <a:off x="666750" y="3429000"/>
            <a:ext cx="2647950" cy="457200"/>
          </a:xfrm>
          <a:prstGeom prst="rect">
            <a:avLst/>
          </a:prstGeom>
          <a:noFill/>
        </p:spPr>
        <p:txBody>
          <a:bodyPr wrap="square" lIns="0" tIns="0" rIns="0" bIns="0">
            <a:normAutofit/>
          </a:bodyPr>
          <a:lstStyle/>
          <a:p>
            <a:pPr algn="l">
              <a:spcAft>
                <a:spcPts val="400"/>
              </a:spcAft>
              <a:defRPr sz="2000" b="1">
                <a:solidFill>
                  <a:srgbClr val="000000"/>
                </a:solidFill>
                <a:latin typeface="Helvetica Neue"/>
              </a:defRPr>
            </a:pPr>
            <a:r>
              <a:rPr dirty="0"/>
              <a:t>Comparative Study</a:t>
            </a:r>
          </a:p>
        </p:txBody>
      </p:sp>
      <p:sp>
        <p:nvSpPr>
          <p:cNvPr id="9" name="TextBox 8"/>
          <p:cNvSpPr txBox="1"/>
          <p:nvPr/>
        </p:nvSpPr>
        <p:spPr>
          <a:xfrm>
            <a:off x="666750" y="4029075"/>
            <a:ext cx="2647950" cy="2038350"/>
          </a:xfrm>
          <a:prstGeom prst="rect">
            <a:avLst/>
          </a:prstGeom>
          <a:noFill/>
        </p:spPr>
        <p:txBody>
          <a:bodyPr wrap="square" lIns="0" tIns="0" rIns="0" bIns="0">
            <a:normAutofit/>
          </a:bodyPr>
          <a:lstStyle/>
          <a:p>
            <a:pPr algn="just">
              <a:spcAft>
                <a:spcPts val="400"/>
              </a:spcAft>
              <a:defRPr sz="1400" b="0">
                <a:solidFill>
                  <a:srgbClr val="555555"/>
                </a:solidFill>
                <a:latin typeface="Helvetica Neue"/>
              </a:defRPr>
            </a:pPr>
            <a:r>
              <a:rPr dirty="0"/>
              <a:t>Analyze CNN, Transformer, and VLM approaches for VAD/WSVAD; review RTFM, </a:t>
            </a:r>
            <a:r>
              <a:rPr dirty="0" err="1"/>
              <a:t>VadCLIP</a:t>
            </a:r>
            <a:r>
              <a:rPr dirty="0"/>
              <a:t>, OV-VAD, and related work.</a:t>
            </a:r>
            <a:endParaRPr lang="es-MX" dirty="0"/>
          </a:p>
          <a:p>
            <a:pPr algn="just">
              <a:spcAft>
                <a:spcPts val="400"/>
              </a:spcAft>
              <a:defRPr sz="1400" b="0">
                <a:solidFill>
                  <a:srgbClr val="555555"/>
                </a:solidFill>
                <a:latin typeface="Helvetica Neue"/>
              </a:defRPr>
            </a:pPr>
            <a:endParaRPr lang="es-MX" dirty="0"/>
          </a:p>
          <a:p>
            <a:pPr algn="just">
              <a:spcAft>
                <a:spcPts val="400"/>
              </a:spcAft>
              <a:defRPr sz="1400" b="0">
                <a:solidFill>
                  <a:srgbClr val="555555"/>
                </a:solidFill>
                <a:latin typeface="Helvetica Neue"/>
              </a:defRPr>
            </a:pPr>
            <a:r>
              <a:rPr lang="en-US" dirty="0"/>
              <a:t>- Identify strengths, limitations, and temporal modeling strategies.</a:t>
            </a:r>
            <a:endParaRPr dirty="0"/>
          </a:p>
        </p:txBody>
      </p:sp>
      <p:sp>
        <p:nvSpPr>
          <p:cNvPr id="10" name="Rectangle 9"/>
          <p:cNvSpPr/>
          <p:nvPr/>
        </p:nvSpPr>
        <p:spPr>
          <a:xfrm>
            <a:off x="4305300" y="2266950"/>
            <a:ext cx="3181350" cy="4019550"/>
          </a:xfrm>
          <a:prstGeom prst="rect">
            <a:avLst/>
          </a:prstGeom>
          <a:solidFill>
            <a:srgbClr val="FFF0EA"/>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0" y="2514600"/>
            <a:ext cx="1143000" cy="704850"/>
          </a:xfrm>
          <a:prstGeom prst="rect">
            <a:avLst/>
          </a:prstGeom>
          <a:noFill/>
        </p:spPr>
        <p:txBody>
          <a:bodyPr wrap="square" lIns="0" tIns="0" rIns="0" bIns="0">
            <a:normAutofit/>
          </a:bodyPr>
          <a:lstStyle/>
          <a:p>
            <a:pPr algn="l">
              <a:spcAft>
                <a:spcPts val="400"/>
              </a:spcAft>
              <a:defRPr sz="4200" b="1">
                <a:solidFill>
                  <a:srgbClr val="FF6B35"/>
                </a:solidFill>
                <a:latin typeface="Helvetica Neue"/>
              </a:defRPr>
            </a:pPr>
            <a:r>
              <a:t>02</a:t>
            </a:r>
          </a:p>
        </p:txBody>
      </p:sp>
      <p:sp>
        <p:nvSpPr>
          <p:cNvPr id="12" name="TextBox 11"/>
          <p:cNvSpPr txBox="1"/>
          <p:nvPr/>
        </p:nvSpPr>
        <p:spPr>
          <a:xfrm>
            <a:off x="4572000" y="3429000"/>
            <a:ext cx="2647950" cy="457200"/>
          </a:xfrm>
          <a:prstGeom prst="rect">
            <a:avLst/>
          </a:prstGeom>
          <a:noFill/>
        </p:spPr>
        <p:txBody>
          <a:bodyPr wrap="square" lIns="0" tIns="0" rIns="0" bIns="0">
            <a:normAutofit fontScale="85000" lnSpcReduction="20000"/>
          </a:bodyPr>
          <a:lstStyle/>
          <a:p>
            <a:pPr algn="l">
              <a:spcAft>
                <a:spcPts val="400"/>
              </a:spcAft>
              <a:defRPr sz="2000" b="1">
                <a:solidFill>
                  <a:srgbClr val="000000"/>
                </a:solidFill>
                <a:latin typeface="Helvetica Neue"/>
              </a:defRPr>
            </a:pPr>
            <a:r>
              <a:t>Efficient Temporal Modeling</a:t>
            </a:r>
          </a:p>
        </p:txBody>
      </p:sp>
      <p:sp>
        <p:nvSpPr>
          <p:cNvPr id="13" name="TextBox 12"/>
          <p:cNvSpPr txBox="1"/>
          <p:nvPr/>
        </p:nvSpPr>
        <p:spPr>
          <a:xfrm>
            <a:off x="4572000" y="4038600"/>
            <a:ext cx="2647950" cy="2159000"/>
          </a:xfrm>
          <a:prstGeom prst="rect">
            <a:avLst/>
          </a:prstGeom>
          <a:noFill/>
        </p:spPr>
        <p:txBody>
          <a:bodyPr wrap="square" lIns="0" tIns="0" rIns="0" bIns="0">
            <a:normAutofit/>
          </a:bodyPr>
          <a:lstStyle/>
          <a:p>
            <a:pPr algn="just">
              <a:spcAft>
                <a:spcPts val="400"/>
              </a:spcAft>
              <a:defRPr sz="1400" b="0">
                <a:solidFill>
                  <a:srgbClr val="555555"/>
                </a:solidFill>
                <a:latin typeface="Helvetica Neue"/>
              </a:defRPr>
            </a:pPr>
            <a:r>
              <a:rPr lang="en-US" dirty="0"/>
              <a:t>Investigate SSMs, particularly Mamba and its variants as alternatives to Transformers.</a:t>
            </a:r>
          </a:p>
          <a:p>
            <a:pPr algn="l">
              <a:spcAft>
                <a:spcPts val="400"/>
              </a:spcAft>
              <a:defRPr sz="1400" b="0">
                <a:solidFill>
                  <a:srgbClr val="555555"/>
                </a:solidFill>
                <a:latin typeface="Helvetica Neue"/>
              </a:defRPr>
            </a:pPr>
            <a:endParaRPr lang="en-US" dirty="0"/>
          </a:p>
          <a:p>
            <a:pPr algn="just">
              <a:spcAft>
                <a:spcPts val="400"/>
              </a:spcAft>
              <a:defRPr sz="1400" b="0">
                <a:solidFill>
                  <a:srgbClr val="555555"/>
                </a:solidFill>
                <a:latin typeface="Helvetica Neue"/>
              </a:defRPr>
            </a:pPr>
            <a:r>
              <a:rPr lang="en-US" dirty="0"/>
              <a:t>- Characterize their temporal representations and identify when they outperform attention-based models</a:t>
            </a:r>
            <a:r>
              <a:rPr dirty="0"/>
              <a:t>.</a:t>
            </a:r>
          </a:p>
        </p:txBody>
      </p:sp>
      <p:sp>
        <p:nvSpPr>
          <p:cNvPr id="14" name="Rectangle 13"/>
          <p:cNvSpPr/>
          <p:nvPr/>
        </p:nvSpPr>
        <p:spPr>
          <a:xfrm>
            <a:off x="8210549" y="2266950"/>
            <a:ext cx="3181350" cy="401955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77250" y="2514600"/>
            <a:ext cx="1143000" cy="704850"/>
          </a:xfrm>
          <a:prstGeom prst="rect">
            <a:avLst/>
          </a:prstGeom>
          <a:noFill/>
        </p:spPr>
        <p:txBody>
          <a:bodyPr wrap="square" lIns="0" tIns="0" rIns="0" bIns="0">
            <a:normAutofit/>
          </a:bodyPr>
          <a:lstStyle/>
          <a:p>
            <a:pPr algn="l">
              <a:spcAft>
                <a:spcPts val="400"/>
              </a:spcAft>
              <a:defRPr sz="4200" b="1">
                <a:solidFill>
                  <a:srgbClr val="000000"/>
                </a:solidFill>
                <a:latin typeface="Helvetica Neue"/>
              </a:defRPr>
            </a:pPr>
            <a:r>
              <a:t>03</a:t>
            </a:r>
          </a:p>
        </p:txBody>
      </p:sp>
      <p:sp>
        <p:nvSpPr>
          <p:cNvPr id="16" name="TextBox 15"/>
          <p:cNvSpPr txBox="1"/>
          <p:nvPr/>
        </p:nvSpPr>
        <p:spPr>
          <a:xfrm>
            <a:off x="8477250" y="3429000"/>
            <a:ext cx="2647950" cy="457200"/>
          </a:xfrm>
          <a:prstGeom prst="rect">
            <a:avLst/>
          </a:prstGeom>
          <a:noFill/>
        </p:spPr>
        <p:txBody>
          <a:bodyPr wrap="square" lIns="0" tIns="0" rIns="0" bIns="0">
            <a:normAutofit/>
          </a:bodyPr>
          <a:lstStyle/>
          <a:p>
            <a:pPr algn="l">
              <a:spcAft>
                <a:spcPts val="400"/>
              </a:spcAft>
              <a:defRPr sz="2000" b="1">
                <a:solidFill>
                  <a:srgbClr val="000000"/>
                </a:solidFill>
                <a:latin typeface="Helvetica Neue"/>
              </a:defRPr>
            </a:pPr>
            <a:r>
              <a:t>Semantic Integration</a:t>
            </a:r>
          </a:p>
        </p:txBody>
      </p:sp>
      <p:sp>
        <p:nvSpPr>
          <p:cNvPr id="17" name="TextBox 16"/>
          <p:cNvSpPr txBox="1"/>
          <p:nvPr/>
        </p:nvSpPr>
        <p:spPr>
          <a:xfrm>
            <a:off x="8477250" y="4038600"/>
            <a:ext cx="2647950" cy="2159000"/>
          </a:xfrm>
          <a:prstGeom prst="rect">
            <a:avLst/>
          </a:prstGeom>
          <a:noFill/>
        </p:spPr>
        <p:txBody>
          <a:bodyPr wrap="square" lIns="0" tIns="0" rIns="0" bIns="0">
            <a:normAutofit/>
          </a:bodyPr>
          <a:lstStyle/>
          <a:p>
            <a:pPr algn="l">
              <a:spcAft>
                <a:spcPts val="400"/>
              </a:spcAft>
              <a:defRPr sz="1400" b="0">
                <a:solidFill>
                  <a:srgbClr val="555555"/>
                </a:solidFill>
                <a:latin typeface="Helvetica Neue"/>
              </a:defRPr>
            </a:pPr>
            <a:r>
              <a:rPr lang="en-US" dirty="0"/>
              <a:t>- Combine SSM-based temporal representations with complementary semantic or contextual information (e.g., from Vision-Language Models) to improve the recognition of weakly defined or previously unseen anomalies.</a:t>
            </a:r>
            <a:endParaRPr dirty="0"/>
          </a:p>
        </p:txBody>
      </p:sp>
      <p:sp>
        <p:nvSpPr>
          <p:cNvPr id="19" name="TextBox 1">
            <a:extLst>
              <a:ext uri="{FF2B5EF4-FFF2-40B4-BE49-F238E27FC236}">
                <a16:creationId xmlns:a16="http://schemas.microsoft.com/office/drawing/2014/main" id="{26C95397-3D6A-BD60-0F4D-E2562601EB68}"/>
              </a:ext>
            </a:extLst>
          </p:cNvPr>
          <p:cNvSpPr txBox="1"/>
          <p:nvPr/>
        </p:nvSpPr>
        <p:spPr>
          <a:xfrm>
            <a:off x="4975123" y="353059"/>
            <a:ext cx="6816827" cy="209550"/>
          </a:xfrm>
          <a:prstGeom prst="rect">
            <a:avLst/>
          </a:prstGeom>
          <a:noFill/>
        </p:spPr>
        <p:txBody>
          <a:bodyPr wrap="square" lIns="0" tIns="0" rIns="0" bIns="0">
            <a:normAutofit fontScale="92500"/>
          </a:bodyPr>
          <a:lstStyle/>
          <a:p>
            <a:pPr algn="l">
              <a:spcAft>
                <a:spcPts val="400"/>
              </a:spcAft>
              <a:defRPr sz="2300" b="0">
                <a:solidFill>
                  <a:srgbClr val="000000"/>
                </a:solidFill>
                <a:latin typeface="Helvetica Neue"/>
              </a:defRPr>
            </a:pPr>
            <a:r>
              <a:rPr lang="en-US" sz="1300" b="1" i="1" dirty="0">
                <a:solidFill>
                  <a:srgbClr val="555555"/>
                </a:solidFill>
                <a:latin typeface="Helvetica Neue"/>
              </a:rPr>
              <a:t>04 Three-stage methodology,  previous research, evaluation, and expected contributions</a:t>
            </a:r>
          </a:p>
        </p:txBody>
      </p:sp>
      <p:sp>
        <p:nvSpPr>
          <p:cNvPr id="20" name="Marcador de número de diapositiva 19">
            <a:extLst>
              <a:ext uri="{FF2B5EF4-FFF2-40B4-BE49-F238E27FC236}">
                <a16:creationId xmlns:a16="http://schemas.microsoft.com/office/drawing/2014/main" id="{D1A946E9-2320-BA33-5DF4-DD45F32548AA}"/>
              </a:ext>
            </a:extLst>
          </p:cNvPr>
          <p:cNvSpPr>
            <a:spLocks noGrp="1"/>
          </p:cNvSpPr>
          <p:nvPr>
            <p:ph type="sldNum" sz="quarter" idx="12"/>
          </p:nvPr>
        </p:nvSpPr>
        <p:spPr/>
        <p:txBody>
          <a:bodyPr/>
          <a:lstStyle/>
          <a:p>
            <a:fld id="{C1FF6DA9-008F-8B48-92A6-B652298478BF}"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B2AD05FC-141D-8303-F219-A2E6D0E8F2D4}"/>
              </a:ext>
            </a:extLst>
          </p:cNvPr>
          <p:cNvSpPr>
            <a:spLocks noGrp="1"/>
          </p:cNvSpPr>
          <p:nvPr>
            <p:ph type="sldNum" sz="quarter" idx="12"/>
          </p:nvPr>
        </p:nvSpPr>
        <p:spPr/>
        <p:txBody>
          <a:bodyPr/>
          <a:lstStyle/>
          <a:p>
            <a:fld id="{C1FF6DA9-008F-8B48-92A6-B652298478BF}" type="slidenum">
              <a:rPr lang="en-US" smtClean="0"/>
              <a:t>9</a:t>
            </a:fld>
            <a:endParaRPr lang="en-US"/>
          </a:p>
        </p:txBody>
      </p:sp>
      <p:sp>
        <p:nvSpPr>
          <p:cNvPr id="3" name="TextBox 2">
            <a:extLst>
              <a:ext uri="{FF2B5EF4-FFF2-40B4-BE49-F238E27FC236}">
                <a16:creationId xmlns:a16="http://schemas.microsoft.com/office/drawing/2014/main" id="{BD9D01BB-9A3B-9516-AAE6-8D4D9D068ACC}"/>
              </a:ext>
            </a:extLst>
          </p:cNvPr>
          <p:cNvSpPr txBox="1"/>
          <p:nvPr/>
        </p:nvSpPr>
        <p:spPr>
          <a:xfrm>
            <a:off x="400050" y="781050"/>
            <a:ext cx="8979924" cy="819150"/>
          </a:xfrm>
          <a:prstGeom prst="rect">
            <a:avLst/>
          </a:prstGeom>
          <a:noFill/>
        </p:spPr>
        <p:txBody>
          <a:bodyPr wrap="square" lIns="0" tIns="0" rIns="0" bIns="0">
            <a:normAutofit/>
          </a:bodyPr>
          <a:lstStyle/>
          <a:p>
            <a:pPr algn="l">
              <a:spcAft>
                <a:spcPts val="400"/>
              </a:spcAft>
              <a:defRPr sz="3200" b="1">
                <a:solidFill>
                  <a:srgbClr val="000000"/>
                </a:solidFill>
                <a:latin typeface="Helvetica Neue"/>
              </a:defRPr>
            </a:pPr>
            <a:r>
              <a:rPr lang="en-US" dirty="0"/>
              <a:t>Specific Limitations in Previous Research</a:t>
            </a:r>
            <a:endParaRPr dirty="0"/>
          </a:p>
        </p:txBody>
      </p:sp>
      <p:sp>
        <p:nvSpPr>
          <p:cNvPr id="9" name="TextBox 1">
            <a:extLst>
              <a:ext uri="{FF2B5EF4-FFF2-40B4-BE49-F238E27FC236}">
                <a16:creationId xmlns:a16="http://schemas.microsoft.com/office/drawing/2014/main" id="{4F5A707A-5B2A-D4C0-E2BC-C13C5DE48825}"/>
              </a:ext>
            </a:extLst>
          </p:cNvPr>
          <p:cNvSpPr txBox="1"/>
          <p:nvPr/>
        </p:nvSpPr>
        <p:spPr>
          <a:xfrm>
            <a:off x="4975123" y="353059"/>
            <a:ext cx="6816827" cy="209550"/>
          </a:xfrm>
          <a:prstGeom prst="rect">
            <a:avLst/>
          </a:prstGeom>
          <a:noFill/>
        </p:spPr>
        <p:txBody>
          <a:bodyPr wrap="square" lIns="0" tIns="0" rIns="0" bIns="0">
            <a:normAutofit fontScale="92500"/>
          </a:bodyPr>
          <a:lstStyle/>
          <a:p>
            <a:pPr algn="l">
              <a:spcAft>
                <a:spcPts val="400"/>
              </a:spcAft>
              <a:defRPr sz="2300" b="0">
                <a:solidFill>
                  <a:srgbClr val="000000"/>
                </a:solidFill>
                <a:latin typeface="Helvetica Neue"/>
              </a:defRPr>
            </a:pPr>
            <a:r>
              <a:rPr lang="en-US" sz="1300" b="1" i="1" dirty="0">
                <a:solidFill>
                  <a:srgbClr val="555555"/>
                </a:solidFill>
                <a:latin typeface="Helvetica Neue"/>
              </a:rPr>
              <a:t>04 Three-stage methodology,  previous research, evaluation, and expected contributions</a:t>
            </a:r>
          </a:p>
        </p:txBody>
      </p:sp>
      <p:sp>
        <p:nvSpPr>
          <p:cNvPr id="10" name="TextBox 1">
            <a:extLst>
              <a:ext uri="{FF2B5EF4-FFF2-40B4-BE49-F238E27FC236}">
                <a16:creationId xmlns:a16="http://schemas.microsoft.com/office/drawing/2014/main" id="{8047324D-7B96-D8A3-7548-7B9B19DEB018}"/>
              </a:ext>
            </a:extLst>
          </p:cNvPr>
          <p:cNvSpPr txBox="1"/>
          <p:nvPr/>
        </p:nvSpPr>
        <p:spPr>
          <a:xfrm>
            <a:off x="400050" y="400050"/>
            <a:ext cx="3619500" cy="266700"/>
          </a:xfrm>
          <a:prstGeom prst="rect">
            <a:avLst/>
          </a:prstGeom>
          <a:noFill/>
        </p:spPr>
        <p:txBody>
          <a:bodyPr wrap="square" lIns="0" tIns="0" rIns="0" bIns="0">
            <a:normAutofit/>
          </a:bodyPr>
          <a:lstStyle/>
          <a:p>
            <a:pPr algn="l">
              <a:spcAft>
                <a:spcPts val="400"/>
              </a:spcAft>
              <a:defRPr sz="1200" b="1">
                <a:solidFill>
                  <a:srgbClr val="555555"/>
                </a:solidFill>
                <a:latin typeface="Helvetica Neue"/>
              </a:defRPr>
            </a:pPr>
            <a:r>
              <a:rPr dirty="0"/>
              <a:t>DOCTORAL RESEARCH PLAN</a:t>
            </a:r>
          </a:p>
        </p:txBody>
      </p:sp>
      <p:graphicFrame>
        <p:nvGraphicFramePr>
          <p:cNvPr id="11" name="Tabla 10">
            <a:extLst>
              <a:ext uri="{FF2B5EF4-FFF2-40B4-BE49-F238E27FC236}">
                <a16:creationId xmlns:a16="http://schemas.microsoft.com/office/drawing/2014/main" id="{2F46616F-3838-28BC-1E68-67D7C2130FFC}"/>
              </a:ext>
            </a:extLst>
          </p:cNvPr>
          <p:cNvGraphicFramePr>
            <a:graphicFrameLocks noGrp="1"/>
          </p:cNvGraphicFramePr>
          <p:nvPr>
            <p:extLst>
              <p:ext uri="{D42A27DB-BD31-4B8C-83A1-F6EECF244321}">
                <p14:modId xmlns:p14="http://schemas.microsoft.com/office/powerpoint/2010/main" val="2012867046"/>
              </p:ext>
            </p:extLst>
          </p:nvPr>
        </p:nvGraphicFramePr>
        <p:xfrm>
          <a:off x="400050" y="1487349"/>
          <a:ext cx="11334752" cy="3205480"/>
        </p:xfrm>
        <a:graphic>
          <a:graphicData uri="http://schemas.openxmlformats.org/drawingml/2006/table">
            <a:tbl>
              <a:tblPr firstRow="1" bandRow="1">
                <a:tableStyleId>{5C22544A-7EE6-4342-B048-85BDC9FD1C3A}</a:tableStyleId>
              </a:tblPr>
              <a:tblGrid>
                <a:gridCol w="2833688">
                  <a:extLst>
                    <a:ext uri="{9D8B030D-6E8A-4147-A177-3AD203B41FA5}">
                      <a16:colId xmlns:a16="http://schemas.microsoft.com/office/drawing/2014/main" val="2026014459"/>
                    </a:ext>
                  </a:extLst>
                </a:gridCol>
                <a:gridCol w="2833688">
                  <a:extLst>
                    <a:ext uri="{9D8B030D-6E8A-4147-A177-3AD203B41FA5}">
                      <a16:colId xmlns:a16="http://schemas.microsoft.com/office/drawing/2014/main" val="2252513185"/>
                    </a:ext>
                  </a:extLst>
                </a:gridCol>
                <a:gridCol w="2833688">
                  <a:extLst>
                    <a:ext uri="{9D8B030D-6E8A-4147-A177-3AD203B41FA5}">
                      <a16:colId xmlns:a16="http://schemas.microsoft.com/office/drawing/2014/main" val="2363321394"/>
                    </a:ext>
                  </a:extLst>
                </a:gridCol>
                <a:gridCol w="2833688">
                  <a:extLst>
                    <a:ext uri="{9D8B030D-6E8A-4147-A177-3AD203B41FA5}">
                      <a16:colId xmlns:a16="http://schemas.microsoft.com/office/drawing/2014/main" val="3924409369"/>
                    </a:ext>
                  </a:extLst>
                </a:gridCol>
              </a:tblGrid>
              <a:tr h="370840">
                <a:tc>
                  <a:txBody>
                    <a:bodyPr/>
                    <a:lstStyle/>
                    <a:p>
                      <a:r>
                        <a:rPr lang="en-US" noProof="0" dirty="0"/>
                        <a:t>Previous approach</a:t>
                      </a:r>
                    </a:p>
                  </a:txBody>
                  <a:tcPr anchor="ctr"/>
                </a:tc>
                <a:tc>
                  <a:txBody>
                    <a:bodyPr/>
                    <a:lstStyle/>
                    <a:p>
                      <a:r>
                        <a:rPr lang="es-MX"/>
                        <a:t>Strength</a:t>
                      </a:r>
                    </a:p>
                  </a:txBody>
                  <a:tcPr anchor="ctr"/>
                </a:tc>
                <a:tc>
                  <a:txBody>
                    <a:bodyPr/>
                    <a:lstStyle/>
                    <a:p>
                      <a:r>
                        <a:rPr lang="es-MX"/>
                        <a:t>Remaining problem</a:t>
                      </a:r>
                    </a:p>
                  </a:txBody>
                  <a:tcPr anchor="ctr"/>
                </a:tc>
                <a:tc>
                  <a:txBody>
                    <a:bodyPr/>
                    <a:lstStyle/>
                    <a:p>
                      <a:r>
                        <a:rPr lang="es-MX"/>
                        <a:t>Research direction</a:t>
                      </a:r>
                    </a:p>
                  </a:txBody>
                  <a:tcPr anchor="ctr"/>
                </a:tc>
                <a:extLst>
                  <a:ext uri="{0D108BD9-81ED-4DB2-BD59-A6C34878D82A}">
                    <a16:rowId xmlns:a16="http://schemas.microsoft.com/office/drawing/2014/main" val="2105976543"/>
                  </a:ext>
                </a:extLst>
              </a:tr>
              <a:tr h="370840">
                <a:tc>
                  <a:txBody>
                    <a:bodyPr/>
                    <a:lstStyle/>
                    <a:p>
                      <a:r>
                        <a:rPr lang="es-MX" b="1"/>
                        <a:t>RTFM</a:t>
                      </a:r>
                      <a:endParaRPr lang="es-MX"/>
                    </a:p>
                  </a:txBody>
                  <a:tcPr anchor="ctr"/>
                </a:tc>
                <a:tc>
                  <a:txBody>
                    <a:bodyPr/>
                    <a:lstStyle/>
                    <a:p>
                      <a:r>
                        <a:rPr lang="es-MX"/>
                        <a:t>Robust MIL + temporal dependencies</a:t>
                      </a:r>
                    </a:p>
                  </a:txBody>
                  <a:tcPr anchor="ctr"/>
                </a:tc>
                <a:tc>
                  <a:txBody>
                    <a:bodyPr/>
                    <a:lstStyle/>
                    <a:p>
                      <a:r>
                        <a:rPr lang="en-US"/>
                        <a:t>Temporal modeling relies on CNN/self-attention</a:t>
                      </a:r>
                    </a:p>
                  </a:txBody>
                  <a:tcPr anchor="ctr"/>
                </a:tc>
                <a:tc>
                  <a:txBody>
                    <a:bodyPr/>
                    <a:lstStyle/>
                    <a:p>
                      <a:r>
                        <a:rPr lang="es-MX" b="1"/>
                        <a:t>Efficient sequence modeling</a:t>
                      </a:r>
                      <a:endParaRPr lang="es-MX"/>
                    </a:p>
                  </a:txBody>
                  <a:tcPr anchor="ctr"/>
                </a:tc>
                <a:extLst>
                  <a:ext uri="{0D108BD9-81ED-4DB2-BD59-A6C34878D82A}">
                    <a16:rowId xmlns:a16="http://schemas.microsoft.com/office/drawing/2014/main" val="1021308401"/>
                  </a:ext>
                </a:extLst>
              </a:tr>
              <a:tr h="370840">
                <a:tc>
                  <a:txBody>
                    <a:bodyPr/>
                    <a:lstStyle/>
                    <a:p>
                      <a:r>
                        <a:rPr lang="es-MX" b="1"/>
                        <a:t>VadCLIP</a:t>
                      </a:r>
                      <a:endParaRPr lang="es-MX"/>
                    </a:p>
                  </a:txBody>
                  <a:tcPr anchor="ctr"/>
                </a:tc>
                <a:tc>
                  <a:txBody>
                    <a:bodyPr/>
                    <a:lstStyle/>
                    <a:p>
                      <a:r>
                        <a:rPr lang="es-MX"/>
                        <a:t>Rich visual-language semantics</a:t>
                      </a:r>
                    </a:p>
                  </a:txBody>
                  <a:tcPr anchor="ctr"/>
                </a:tc>
                <a:tc>
                  <a:txBody>
                    <a:bodyPr/>
                    <a:lstStyle/>
                    <a:p>
                      <a:r>
                        <a:rPr lang="en-US"/>
                        <a:t>Limited temporal reasoning of dynamic anomalies</a:t>
                      </a:r>
                    </a:p>
                  </a:txBody>
                  <a:tcPr anchor="ctr"/>
                </a:tc>
                <a:tc>
                  <a:txBody>
                    <a:bodyPr/>
                    <a:lstStyle/>
                    <a:p>
                      <a:r>
                        <a:rPr lang="en-US" b="1" noProof="0" dirty="0"/>
                        <a:t>Temporal-semantic integration</a:t>
                      </a:r>
                      <a:endParaRPr lang="en-US" noProof="0" dirty="0"/>
                    </a:p>
                  </a:txBody>
                  <a:tcPr anchor="ctr"/>
                </a:tc>
                <a:extLst>
                  <a:ext uri="{0D108BD9-81ED-4DB2-BD59-A6C34878D82A}">
                    <a16:rowId xmlns:a16="http://schemas.microsoft.com/office/drawing/2014/main" val="4172334546"/>
                  </a:ext>
                </a:extLst>
              </a:tr>
              <a:tr h="370840">
                <a:tc>
                  <a:txBody>
                    <a:bodyPr/>
                    <a:lstStyle/>
                    <a:p>
                      <a:r>
                        <a:rPr lang="es-MX" b="1" dirty="0"/>
                        <a:t>OV-VAD</a:t>
                      </a:r>
                      <a:endParaRPr lang="es-MX" dirty="0"/>
                    </a:p>
                  </a:txBody>
                  <a:tcPr anchor="ctr"/>
                </a:tc>
                <a:tc>
                  <a:txBody>
                    <a:bodyPr/>
                    <a:lstStyle/>
                    <a:p>
                      <a:r>
                        <a:rPr lang="es-MX"/>
                        <a:t>Detects unseen anomaly categories</a:t>
                      </a:r>
                    </a:p>
                  </a:txBody>
                  <a:tcPr anchor="ctr"/>
                </a:tc>
                <a:tc>
                  <a:txBody>
                    <a:bodyPr/>
                    <a:lstStyle/>
                    <a:p>
                      <a:r>
                        <a:rPr lang="en-US"/>
                        <a:t>Open-vocabulary semantics ≠ robust temporal representation</a:t>
                      </a:r>
                    </a:p>
                  </a:txBody>
                  <a:tcPr anchor="ctr"/>
                </a:tc>
                <a:tc>
                  <a:txBody>
                    <a:bodyPr/>
                    <a:lstStyle/>
                    <a:p>
                      <a:r>
                        <a:rPr lang="es-MX" b="1"/>
                        <a:t>Generalizable temporal representation</a:t>
                      </a:r>
                      <a:endParaRPr lang="es-MX"/>
                    </a:p>
                  </a:txBody>
                  <a:tcPr anchor="ctr"/>
                </a:tc>
                <a:extLst>
                  <a:ext uri="{0D108BD9-81ED-4DB2-BD59-A6C34878D82A}">
                    <a16:rowId xmlns:a16="http://schemas.microsoft.com/office/drawing/2014/main" val="3020232864"/>
                  </a:ext>
                </a:extLst>
              </a:tr>
              <a:tr h="370840">
                <a:tc>
                  <a:txBody>
                    <a:bodyPr/>
                    <a:lstStyle/>
                    <a:p>
                      <a:r>
                        <a:rPr lang="en-US" b="1" noProof="0" dirty="0"/>
                        <a:t>Mamba-based VAD</a:t>
                      </a:r>
                      <a:endParaRPr lang="en-US" noProof="0" dirty="0"/>
                    </a:p>
                  </a:txBody>
                  <a:tcPr anchor="ctr"/>
                </a:tc>
                <a:tc>
                  <a:txBody>
                    <a:bodyPr/>
                    <a:lstStyle/>
                    <a:p>
                      <a:r>
                        <a:rPr lang="es-MX"/>
                        <a:t>Efficient long-sequence modeling</a:t>
                      </a:r>
                    </a:p>
                  </a:txBody>
                  <a:tcPr anchor="ctr"/>
                </a:tc>
                <a:tc>
                  <a:txBody>
                    <a:bodyPr/>
                    <a:lstStyle/>
                    <a:p>
                      <a:r>
                        <a:rPr lang="en-US"/>
                        <a:t>Original causal formulation is not directly suited to VAD</a:t>
                      </a:r>
                    </a:p>
                  </a:txBody>
                  <a:tcPr anchor="ctr"/>
                </a:tc>
                <a:tc>
                  <a:txBody>
                    <a:bodyPr/>
                    <a:lstStyle/>
                    <a:p>
                      <a:r>
                        <a:rPr lang="en-US" b="1" dirty="0"/>
                        <a:t>VAD-specific non-causal SSM design</a:t>
                      </a:r>
                      <a:endParaRPr lang="en-US" dirty="0"/>
                    </a:p>
                  </a:txBody>
                  <a:tcPr anchor="ctr"/>
                </a:tc>
                <a:extLst>
                  <a:ext uri="{0D108BD9-81ED-4DB2-BD59-A6C34878D82A}">
                    <a16:rowId xmlns:a16="http://schemas.microsoft.com/office/drawing/2014/main" val="2944001187"/>
                  </a:ext>
                </a:extLst>
              </a:tr>
            </a:tbl>
          </a:graphicData>
        </a:graphic>
      </p:graphicFrame>
      <p:sp>
        <p:nvSpPr>
          <p:cNvPr id="13" name="CuadroTexto 12">
            <a:extLst>
              <a:ext uri="{FF2B5EF4-FFF2-40B4-BE49-F238E27FC236}">
                <a16:creationId xmlns:a16="http://schemas.microsoft.com/office/drawing/2014/main" id="{4546943C-8B7C-05EE-13D1-23EF7A370EDD}"/>
              </a:ext>
            </a:extLst>
          </p:cNvPr>
          <p:cNvSpPr txBox="1"/>
          <p:nvPr/>
        </p:nvSpPr>
        <p:spPr>
          <a:xfrm>
            <a:off x="400050" y="5102855"/>
            <a:ext cx="11334750" cy="1754326"/>
          </a:xfrm>
          <a:prstGeom prst="rect">
            <a:avLst/>
          </a:prstGeom>
          <a:noFill/>
        </p:spPr>
        <p:txBody>
          <a:bodyPr wrap="square" rtlCol="0">
            <a:spAutoFit/>
          </a:bodyPr>
          <a:lstStyle/>
          <a:p>
            <a:r>
              <a:rPr lang="en-US" b="1" dirty="0"/>
              <a:t>Robust Temporal Representation Learning:</a:t>
            </a:r>
          </a:p>
          <a:p>
            <a:endParaRPr lang="en-US" b="1" dirty="0"/>
          </a:p>
          <a:p>
            <a:pPr marL="342900" indent="-342900">
              <a:buAutoNum type="arabicPeriod"/>
            </a:pPr>
            <a:r>
              <a:rPr lang="en-US" dirty="0"/>
              <a:t>Efficient temporal modeling→ SSM/Mamba-based sequence modeling</a:t>
            </a:r>
          </a:p>
          <a:p>
            <a:pPr marL="342900" indent="-342900">
              <a:buAutoNum type="arabicPeriod"/>
            </a:pPr>
            <a:r>
              <a:rPr lang="en-US" dirty="0"/>
              <a:t>Semantic enrichment→ VLM-based contextual/semantic information</a:t>
            </a:r>
          </a:p>
          <a:p>
            <a:pPr marL="342900" indent="-342900">
              <a:buAutoNum type="arabicPeriod"/>
            </a:pPr>
            <a:r>
              <a:rPr lang="en-US" dirty="0"/>
              <a:t>Robust generalization→ representation designed to handle weak, ambiguous, and unseen anomalies</a:t>
            </a:r>
          </a:p>
          <a:p>
            <a:endParaRPr lang="es-MX" b="1" dirty="0"/>
          </a:p>
        </p:txBody>
      </p:sp>
      <p:sp>
        <p:nvSpPr>
          <p:cNvPr id="15" name="CuadroTexto 14">
            <a:extLst>
              <a:ext uri="{FF2B5EF4-FFF2-40B4-BE49-F238E27FC236}">
                <a16:creationId xmlns:a16="http://schemas.microsoft.com/office/drawing/2014/main" id="{C01BCDC8-A899-C518-4ED9-6FB3A351152B}"/>
              </a:ext>
            </a:extLst>
          </p:cNvPr>
          <p:cNvSpPr txBox="1"/>
          <p:nvPr/>
        </p:nvSpPr>
        <p:spPr>
          <a:xfrm>
            <a:off x="10328787" y="5630279"/>
            <a:ext cx="1406013" cy="523220"/>
          </a:xfrm>
          <a:prstGeom prst="rect">
            <a:avLst/>
          </a:prstGeom>
          <a:noFill/>
        </p:spPr>
        <p:txBody>
          <a:bodyPr wrap="square">
            <a:spAutoFit/>
          </a:bodyPr>
          <a:lstStyle/>
          <a:p>
            <a:r>
              <a:rPr lang="es-MX" sz="2800" b="1" dirty="0"/>
              <a:t>WSVAD</a:t>
            </a:r>
          </a:p>
        </p:txBody>
      </p:sp>
    </p:spTree>
    <p:extLst>
      <p:ext uri="{BB962C8B-B14F-4D97-AF65-F5344CB8AC3E}">
        <p14:creationId xmlns:p14="http://schemas.microsoft.com/office/powerpoint/2010/main" val="1924308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00050" y="400050"/>
            <a:ext cx="3619500" cy="266700"/>
          </a:xfrm>
          <a:prstGeom prst="rect">
            <a:avLst/>
          </a:prstGeom>
          <a:noFill/>
        </p:spPr>
        <p:txBody>
          <a:bodyPr wrap="square" lIns="0" tIns="0" rIns="0" bIns="0">
            <a:normAutofit/>
          </a:bodyPr>
          <a:lstStyle/>
          <a:p>
            <a:pPr algn="l">
              <a:spcAft>
                <a:spcPts val="400"/>
              </a:spcAft>
              <a:defRPr sz="1200" b="1">
                <a:solidFill>
                  <a:srgbClr val="555555"/>
                </a:solidFill>
                <a:latin typeface="Helvetica Neue"/>
              </a:defRPr>
            </a:pPr>
            <a:r>
              <a:t>DOCTORAL RESEARCH PLAN</a:t>
            </a:r>
          </a:p>
        </p:txBody>
      </p:sp>
      <p:sp>
        <p:nvSpPr>
          <p:cNvPr id="3" name="TextBox 2"/>
          <p:cNvSpPr txBox="1"/>
          <p:nvPr/>
        </p:nvSpPr>
        <p:spPr>
          <a:xfrm>
            <a:off x="400050" y="781050"/>
            <a:ext cx="7334250" cy="819150"/>
          </a:xfrm>
          <a:prstGeom prst="rect">
            <a:avLst/>
          </a:prstGeom>
          <a:noFill/>
        </p:spPr>
        <p:txBody>
          <a:bodyPr wrap="square" lIns="0" tIns="0" rIns="0" bIns="0">
            <a:normAutofit/>
          </a:bodyPr>
          <a:lstStyle/>
          <a:p>
            <a:pPr algn="l">
              <a:spcAft>
                <a:spcPts val="400"/>
              </a:spcAft>
              <a:defRPr sz="3200" b="1">
                <a:solidFill>
                  <a:srgbClr val="000000"/>
                </a:solidFill>
                <a:latin typeface="Helvetica Neue"/>
              </a:defRPr>
            </a:pPr>
            <a:r>
              <a:t>Experimental Evaluation</a:t>
            </a:r>
          </a:p>
        </p:txBody>
      </p:sp>
      <p:sp>
        <p:nvSpPr>
          <p:cNvPr id="4" name="TextBox 3"/>
          <p:cNvSpPr txBox="1"/>
          <p:nvPr/>
        </p:nvSpPr>
        <p:spPr>
          <a:xfrm>
            <a:off x="400050" y="1619250"/>
            <a:ext cx="11315700" cy="609600"/>
          </a:xfrm>
          <a:prstGeom prst="rect">
            <a:avLst/>
          </a:prstGeom>
          <a:noFill/>
        </p:spPr>
        <p:txBody>
          <a:bodyPr wrap="square" lIns="0" tIns="0" rIns="0" bIns="0">
            <a:normAutofit/>
          </a:bodyPr>
          <a:lstStyle/>
          <a:p>
            <a:pPr algn="l">
              <a:spcAft>
                <a:spcPts val="400"/>
              </a:spcAft>
              <a:defRPr sz="1700" b="0">
                <a:solidFill>
                  <a:srgbClr val="555555"/>
                </a:solidFill>
                <a:latin typeface="Helvetica Neue"/>
              </a:defRPr>
            </a:pPr>
            <a:r>
              <a:rPr dirty="0"/>
              <a:t>The method will be defended through accuracy, efficiency, and robustness on established benchmarks.</a:t>
            </a:r>
          </a:p>
        </p:txBody>
      </p:sp>
      <p:sp>
        <p:nvSpPr>
          <p:cNvPr id="6" name="Rectangle 5"/>
          <p:cNvSpPr/>
          <p:nvPr/>
        </p:nvSpPr>
        <p:spPr>
          <a:xfrm>
            <a:off x="400050" y="2190750"/>
            <a:ext cx="2571750" cy="22479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28650" y="2457450"/>
            <a:ext cx="2095499" cy="781050"/>
          </a:xfrm>
          <a:prstGeom prst="rect">
            <a:avLst/>
          </a:prstGeom>
          <a:noFill/>
        </p:spPr>
        <p:txBody>
          <a:bodyPr wrap="square" lIns="0" tIns="0" rIns="0" bIns="0">
            <a:normAutofit/>
          </a:bodyPr>
          <a:lstStyle/>
          <a:p>
            <a:pPr algn="l">
              <a:spcAft>
                <a:spcPts val="400"/>
              </a:spcAft>
              <a:defRPr sz="4300" b="1">
                <a:solidFill>
                  <a:srgbClr val="FF6B35"/>
                </a:solidFill>
                <a:latin typeface="Helvetica Neue"/>
              </a:defRPr>
            </a:pPr>
            <a:r>
              <a:t>AUC</a:t>
            </a:r>
          </a:p>
        </p:txBody>
      </p:sp>
      <p:sp>
        <p:nvSpPr>
          <p:cNvPr id="8" name="TextBox 7"/>
          <p:cNvSpPr txBox="1"/>
          <p:nvPr/>
        </p:nvSpPr>
        <p:spPr>
          <a:xfrm>
            <a:off x="628650" y="3524250"/>
            <a:ext cx="2095499" cy="552450"/>
          </a:xfrm>
          <a:prstGeom prst="rect">
            <a:avLst/>
          </a:prstGeom>
          <a:noFill/>
        </p:spPr>
        <p:txBody>
          <a:bodyPr wrap="square" lIns="0" tIns="0" rIns="0" bIns="0">
            <a:normAutofit/>
          </a:bodyPr>
          <a:lstStyle/>
          <a:p>
            <a:pPr algn="l">
              <a:spcAft>
                <a:spcPts val="400"/>
              </a:spcAft>
              <a:defRPr sz="1500" b="0">
                <a:solidFill>
                  <a:srgbClr val="555555"/>
                </a:solidFill>
                <a:latin typeface="Helvetica Neue"/>
              </a:defRPr>
            </a:pPr>
            <a:r>
              <a:t>Frame-level temporal accuracy</a:t>
            </a:r>
          </a:p>
        </p:txBody>
      </p:sp>
      <p:sp>
        <p:nvSpPr>
          <p:cNvPr id="9" name="Rectangle 8"/>
          <p:cNvSpPr/>
          <p:nvPr/>
        </p:nvSpPr>
        <p:spPr>
          <a:xfrm>
            <a:off x="3314700" y="2190750"/>
            <a:ext cx="2571750" cy="22479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43300" y="2457450"/>
            <a:ext cx="2095499" cy="781050"/>
          </a:xfrm>
          <a:prstGeom prst="rect">
            <a:avLst/>
          </a:prstGeom>
          <a:noFill/>
        </p:spPr>
        <p:txBody>
          <a:bodyPr wrap="square" lIns="0" tIns="0" rIns="0" bIns="0">
            <a:normAutofit/>
          </a:bodyPr>
          <a:lstStyle/>
          <a:p>
            <a:pPr algn="l">
              <a:spcAft>
                <a:spcPts val="400"/>
              </a:spcAft>
              <a:defRPr sz="4300" b="1">
                <a:solidFill>
                  <a:srgbClr val="000000"/>
                </a:solidFill>
                <a:latin typeface="Helvetica Neue"/>
              </a:defRPr>
            </a:pPr>
            <a:r>
              <a:t>AP</a:t>
            </a:r>
          </a:p>
        </p:txBody>
      </p:sp>
      <p:sp>
        <p:nvSpPr>
          <p:cNvPr id="11" name="TextBox 10"/>
          <p:cNvSpPr txBox="1"/>
          <p:nvPr/>
        </p:nvSpPr>
        <p:spPr>
          <a:xfrm>
            <a:off x="3543300" y="3524250"/>
            <a:ext cx="2095499" cy="552450"/>
          </a:xfrm>
          <a:prstGeom prst="rect">
            <a:avLst/>
          </a:prstGeom>
          <a:noFill/>
        </p:spPr>
        <p:txBody>
          <a:bodyPr wrap="square" lIns="0" tIns="0" rIns="0" bIns="0">
            <a:normAutofit/>
          </a:bodyPr>
          <a:lstStyle/>
          <a:p>
            <a:pPr algn="l">
              <a:spcAft>
                <a:spcPts val="400"/>
              </a:spcAft>
              <a:defRPr sz="1500" b="0">
                <a:solidFill>
                  <a:srgbClr val="555555"/>
                </a:solidFill>
                <a:latin typeface="Helvetica Neue"/>
              </a:defRPr>
            </a:pPr>
            <a:r>
              <a:rPr dirty="0"/>
              <a:t>Quality under class imbalance</a:t>
            </a:r>
          </a:p>
        </p:txBody>
      </p:sp>
      <p:sp>
        <p:nvSpPr>
          <p:cNvPr id="12" name="Rectangle 11"/>
          <p:cNvSpPr/>
          <p:nvPr/>
        </p:nvSpPr>
        <p:spPr>
          <a:xfrm>
            <a:off x="6229350" y="2190750"/>
            <a:ext cx="2571750" cy="22479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57950" y="2457450"/>
            <a:ext cx="2095499" cy="781050"/>
          </a:xfrm>
          <a:prstGeom prst="rect">
            <a:avLst/>
          </a:prstGeom>
          <a:noFill/>
        </p:spPr>
        <p:txBody>
          <a:bodyPr wrap="square" lIns="0" tIns="0" rIns="0" bIns="0">
            <a:normAutofit/>
          </a:bodyPr>
          <a:lstStyle/>
          <a:p>
            <a:pPr algn="l">
              <a:spcAft>
                <a:spcPts val="400"/>
              </a:spcAft>
              <a:defRPr sz="4300" b="1">
                <a:solidFill>
                  <a:srgbClr val="000000"/>
                </a:solidFill>
                <a:latin typeface="Helvetica Neue"/>
              </a:defRPr>
            </a:pPr>
            <a:r>
              <a:t>Cost</a:t>
            </a:r>
          </a:p>
        </p:txBody>
      </p:sp>
      <p:sp>
        <p:nvSpPr>
          <p:cNvPr id="14" name="TextBox 13"/>
          <p:cNvSpPr txBox="1"/>
          <p:nvPr/>
        </p:nvSpPr>
        <p:spPr>
          <a:xfrm>
            <a:off x="6457950" y="3524250"/>
            <a:ext cx="2095499" cy="552450"/>
          </a:xfrm>
          <a:prstGeom prst="rect">
            <a:avLst/>
          </a:prstGeom>
          <a:noFill/>
        </p:spPr>
        <p:txBody>
          <a:bodyPr wrap="square" lIns="0" tIns="0" rIns="0" bIns="0">
            <a:normAutofit/>
          </a:bodyPr>
          <a:lstStyle/>
          <a:p>
            <a:pPr algn="l">
              <a:spcAft>
                <a:spcPts val="400"/>
              </a:spcAft>
              <a:defRPr sz="1500" b="0">
                <a:solidFill>
                  <a:srgbClr val="555555"/>
                </a:solidFill>
                <a:latin typeface="Helvetica Neue"/>
              </a:defRPr>
            </a:pPr>
            <a:r>
              <a:t>Memory, runtime, and scalability</a:t>
            </a:r>
          </a:p>
        </p:txBody>
      </p:sp>
      <p:sp>
        <p:nvSpPr>
          <p:cNvPr id="15" name="Rectangle 14"/>
          <p:cNvSpPr/>
          <p:nvPr/>
        </p:nvSpPr>
        <p:spPr>
          <a:xfrm>
            <a:off x="9144000" y="2190750"/>
            <a:ext cx="2571750" cy="22479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72600" y="2457450"/>
            <a:ext cx="2095499" cy="781050"/>
          </a:xfrm>
          <a:prstGeom prst="rect">
            <a:avLst/>
          </a:prstGeom>
          <a:noFill/>
        </p:spPr>
        <p:txBody>
          <a:bodyPr wrap="square" lIns="0" tIns="0" rIns="0" bIns="0">
            <a:normAutofit fontScale="92500"/>
          </a:bodyPr>
          <a:lstStyle/>
          <a:p>
            <a:pPr algn="l">
              <a:spcAft>
                <a:spcPts val="400"/>
              </a:spcAft>
              <a:defRPr sz="3100" b="1">
                <a:solidFill>
                  <a:srgbClr val="000000"/>
                </a:solidFill>
                <a:latin typeface="Helvetica Neue"/>
              </a:defRPr>
            </a:pPr>
            <a:r>
              <a:rPr sz="3000" dirty="0"/>
              <a:t>Robustness</a:t>
            </a:r>
            <a:endParaRPr dirty="0"/>
          </a:p>
        </p:txBody>
      </p:sp>
      <p:sp>
        <p:nvSpPr>
          <p:cNvPr id="17" name="TextBox 16"/>
          <p:cNvSpPr txBox="1"/>
          <p:nvPr/>
        </p:nvSpPr>
        <p:spPr>
          <a:xfrm>
            <a:off x="9372600" y="3524250"/>
            <a:ext cx="2095499" cy="552450"/>
          </a:xfrm>
          <a:prstGeom prst="rect">
            <a:avLst/>
          </a:prstGeom>
          <a:noFill/>
        </p:spPr>
        <p:txBody>
          <a:bodyPr wrap="square" lIns="0" tIns="0" rIns="0" bIns="0">
            <a:normAutofit/>
          </a:bodyPr>
          <a:lstStyle/>
          <a:p>
            <a:pPr algn="l">
              <a:spcAft>
                <a:spcPts val="400"/>
              </a:spcAft>
              <a:defRPr sz="1500" b="0">
                <a:solidFill>
                  <a:srgbClr val="555555"/>
                </a:solidFill>
                <a:latin typeface="Helvetica Neue"/>
              </a:defRPr>
            </a:pPr>
            <a:r>
              <a:t>Generalization to unseen anomalies</a:t>
            </a:r>
          </a:p>
        </p:txBody>
      </p:sp>
      <p:sp>
        <p:nvSpPr>
          <p:cNvPr id="18" name="TextBox 17"/>
          <p:cNvSpPr txBox="1"/>
          <p:nvPr/>
        </p:nvSpPr>
        <p:spPr>
          <a:xfrm>
            <a:off x="400050" y="5200650"/>
            <a:ext cx="1428750" cy="323850"/>
          </a:xfrm>
          <a:prstGeom prst="rect">
            <a:avLst/>
          </a:prstGeom>
          <a:noFill/>
        </p:spPr>
        <p:txBody>
          <a:bodyPr wrap="square" lIns="0" tIns="0" rIns="0" bIns="0">
            <a:normAutofit/>
          </a:bodyPr>
          <a:lstStyle/>
          <a:p>
            <a:pPr algn="l">
              <a:spcAft>
                <a:spcPts val="400"/>
              </a:spcAft>
              <a:defRPr sz="1900" b="1">
                <a:solidFill>
                  <a:srgbClr val="000000"/>
                </a:solidFill>
                <a:latin typeface="Helvetica Neue"/>
              </a:defRPr>
            </a:pPr>
            <a:r>
              <a:t>Datasets</a:t>
            </a:r>
          </a:p>
        </p:txBody>
      </p:sp>
      <p:sp>
        <p:nvSpPr>
          <p:cNvPr id="19" name="TextBox 18"/>
          <p:cNvSpPr txBox="1"/>
          <p:nvPr/>
        </p:nvSpPr>
        <p:spPr>
          <a:xfrm>
            <a:off x="2038349" y="5200650"/>
            <a:ext cx="6191250" cy="323850"/>
          </a:xfrm>
          <a:prstGeom prst="rect">
            <a:avLst/>
          </a:prstGeom>
          <a:noFill/>
        </p:spPr>
        <p:txBody>
          <a:bodyPr wrap="square" lIns="0" tIns="0" rIns="0" bIns="0">
            <a:normAutofit/>
          </a:bodyPr>
          <a:lstStyle/>
          <a:p>
            <a:pPr algn="l">
              <a:spcAft>
                <a:spcPts val="400"/>
              </a:spcAft>
              <a:defRPr sz="1900" b="0">
                <a:solidFill>
                  <a:srgbClr val="000000"/>
                </a:solidFill>
                <a:latin typeface="Helvetica Neue"/>
              </a:defRPr>
            </a:pPr>
            <a:r>
              <a:t>UCF-Crime | XD-Violence | ShanghaiTech</a:t>
            </a:r>
          </a:p>
        </p:txBody>
      </p:sp>
      <p:sp>
        <p:nvSpPr>
          <p:cNvPr id="22" name="Marcador de número de diapositiva 21">
            <a:extLst>
              <a:ext uri="{FF2B5EF4-FFF2-40B4-BE49-F238E27FC236}">
                <a16:creationId xmlns:a16="http://schemas.microsoft.com/office/drawing/2014/main" id="{9E3F7E97-0B9B-EE9F-071E-4B301C365303}"/>
              </a:ext>
            </a:extLst>
          </p:cNvPr>
          <p:cNvSpPr>
            <a:spLocks noGrp="1"/>
          </p:cNvSpPr>
          <p:nvPr>
            <p:ph type="sldNum" sz="quarter" idx="12"/>
          </p:nvPr>
        </p:nvSpPr>
        <p:spPr/>
        <p:txBody>
          <a:bodyPr/>
          <a:lstStyle/>
          <a:p>
            <a:fld id="{C1FF6DA9-008F-8B48-92A6-B652298478BF}" type="slidenum">
              <a:rPr lang="en-US" smtClean="0"/>
              <a:t>10</a:t>
            </a:fld>
            <a:endParaRPr lang="en-US"/>
          </a:p>
        </p:txBody>
      </p:sp>
      <p:sp>
        <p:nvSpPr>
          <p:cNvPr id="23" name="TextBox 1">
            <a:extLst>
              <a:ext uri="{FF2B5EF4-FFF2-40B4-BE49-F238E27FC236}">
                <a16:creationId xmlns:a16="http://schemas.microsoft.com/office/drawing/2014/main" id="{3505C78D-1CFD-A4F6-3A1C-4CBD23C6E51C}"/>
              </a:ext>
            </a:extLst>
          </p:cNvPr>
          <p:cNvSpPr txBox="1"/>
          <p:nvPr/>
        </p:nvSpPr>
        <p:spPr>
          <a:xfrm>
            <a:off x="4975123" y="353059"/>
            <a:ext cx="6816827" cy="209550"/>
          </a:xfrm>
          <a:prstGeom prst="rect">
            <a:avLst/>
          </a:prstGeom>
          <a:noFill/>
        </p:spPr>
        <p:txBody>
          <a:bodyPr wrap="square" lIns="0" tIns="0" rIns="0" bIns="0">
            <a:normAutofit fontScale="92500"/>
          </a:bodyPr>
          <a:lstStyle/>
          <a:p>
            <a:pPr algn="l">
              <a:spcAft>
                <a:spcPts val="400"/>
              </a:spcAft>
              <a:defRPr sz="2300" b="0">
                <a:solidFill>
                  <a:srgbClr val="000000"/>
                </a:solidFill>
                <a:latin typeface="Helvetica Neue"/>
              </a:defRPr>
            </a:pPr>
            <a:r>
              <a:rPr lang="en-US" sz="1300" b="1" i="1" dirty="0">
                <a:solidFill>
                  <a:srgbClr val="555555"/>
                </a:solidFill>
                <a:latin typeface="Helvetica Neue"/>
              </a:rPr>
              <a:t>04 Three-stage methodology,  previous research, evaluation, and expected contributions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00050" y="400050"/>
            <a:ext cx="3619500" cy="266700"/>
          </a:xfrm>
          <a:prstGeom prst="rect">
            <a:avLst/>
          </a:prstGeom>
          <a:noFill/>
        </p:spPr>
        <p:txBody>
          <a:bodyPr wrap="square" lIns="0" tIns="0" rIns="0" bIns="0">
            <a:normAutofit/>
          </a:bodyPr>
          <a:lstStyle/>
          <a:p>
            <a:pPr algn="l">
              <a:spcAft>
                <a:spcPts val="400"/>
              </a:spcAft>
              <a:defRPr sz="1200" b="1">
                <a:solidFill>
                  <a:srgbClr val="555555"/>
                </a:solidFill>
                <a:latin typeface="Helvetica Neue"/>
              </a:defRPr>
            </a:pPr>
            <a:r>
              <a:t>DOCTORAL RESEARCH PLAN</a:t>
            </a:r>
          </a:p>
        </p:txBody>
      </p:sp>
      <p:sp>
        <p:nvSpPr>
          <p:cNvPr id="3" name="TextBox 2"/>
          <p:cNvSpPr txBox="1"/>
          <p:nvPr/>
        </p:nvSpPr>
        <p:spPr>
          <a:xfrm>
            <a:off x="400050" y="781050"/>
            <a:ext cx="7334250" cy="819150"/>
          </a:xfrm>
          <a:prstGeom prst="rect">
            <a:avLst/>
          </a:prstGeom>
          <a:noFill/>
        </p:spPr>
        <p:txBody>
          <a:bodyPr wrap="square" lIns="0" tIns="0" rIns="0" bIns="0">
            <a:normAutofit/>
          </a:bodyPr>
          <a:lstStyle/>
          <a:p>
            <a:pPr algn="l">
              <a:spcAft>
                <a:spcPts val="400"/>
              </a:spcAft>
              <a:defRPr sz="3200" b="1">
                <a:solidFill>
                  <a:srgbClr val="000000"/>
                </a:solidFill>
                <a:latin typeface="Helvetica Neue"/>
              </a:defRPr>
            </a:pPr>
            <a:r>
              <a:t>Expected Contributions</a:t>
            </a:r>
          </a:p>
        </p:txBody>
      </p:sp>
      <p:sp>
        <p:nvSpPr>
          <p:cNvPr id="4" name="TextBox 3"/>
          <p:cNvSpPr txBox="1"/>
          <p:nvPr/>
        </p:nvSpPr>
        <p:spPr>
          <a:xfrm>
            <a:off x="400050" y="1619250"/>
            <a:ext cx="11144250" cy="609600"/>
          </a:xfrm>
          <a:prstGeom prst="rect">
            <a:avLst/>
          </a:prstGeom>
          <a:noFill/>
        </p:spPr>
        <p:txBody>
          <a:bodyPr wrap="square" lIns="0" tIns="0" rIns="0" bIns="0">
            <a:normAutofit/>
          </a:bodyPr>
          <a:lstStyle/>
          <a:p>
            <a:pPr algn="l">
              <a:spcAft>
                <a:spcPts val="400"/>
              </a:spcAft>
              <a:defRPr sz="1700" b="0">
                <a:solidFill>
                  <a:srgbClr val="555555"/>
                </a:solidFill>
                <a:latin typeface="Helvetica Neue"/>
              </a:defRPr>
            </a:pPr>
            <a:r>
              <a:t>The outcome aims to contribute both scientific insight and practical methods for WSVAD.</a:t>
            </a:r>
          </a:p>
        </p:txBody>
      </p:sp>
      <p:sp>
        <p:nvSpPr>
          <p:cNvPr id="6" name="Rectangle 5"/>
          <p:cNvSpPr/>
          <p:nvPr/>
        </p:nvSpPr>
        <p:spPr>
          <a:xfrm>
            <a:off x="400049" y="2286000"/>
            <a:ext cx="7334249" cy="1877039"/>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30802" y="2438400"/>
            <a:ext cx="152400" cy="1524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0802" y="2762250"/>
            <a:ext cx="2914650" cy="323850"/>
          </a:xfrm>
          <a:prstGeom prst="rect">
            <a:avLst/>
          </a:prstGeom>
          <a:noFill/>
        </p:spPr>
        <p:txBody>
          <a:bodyPr wrap="square" lIns="0" tIns="0" rIns="0" bIns="0">
            <a:normAutofit/>
          </a:bodyPr>
          <a:lstStyle/>
          <a:p>
            <a:pPr algn="l">
              <a:spcAft>
                <a:spcPts val="400"/>
              </a:spcAft>
              <a:defRPr sz="1800" b="1">
                <a:solidFill>
                  <a:srgbClr val="000000"/>
                </a:solidFill>
                <a:latin typeface="Helvetica Neue"/>
              </a:defRPr>
            </a:pPr>
            <a:r>
              <a:rPr lang="en-US" dirty="0"/>
              <a:t>Scientific Contribution</a:t>
            </a:r>
          </a:p>
        </p:txBody>
      </p:sp>
      <p:sp>
        <p:nvSpPr>
          <p:cNvPr id="9" name="TextBox 8"/>
          <p:cNvSpPr txBox="1"/>
          <p:nvPr/>
        </p:nvSpPr>
        <p:spPr>
          <a:xfrm>
            <a:off x="630801" y="3200400"/>
            <a:ext cx="6777497" cy="861059"/>
          </a:xfrm>
          <a:prstGeom prst="rect">
            <a:avLst/>
          </a:prstGeom>
          <a:noFill/>
        </p:spPr>
        <p:txBody>
          <a:bodyPr wrap="square" lIns="0" tIns="0" rIns="0" bIns="0">
            <a:normAutofit/>
          </a:bodyPr>
          <a:lstStyle/>
          <a:p>
            <a:pPr marL="285750" indent="-285750" algn="just">
              <a:spcAft>
                <a:spcPts val="400"/>
              </a:spcAft>
              <a:buFontTx/>
              <a:buChar char="-"/>
              <a:defRPr sz="1400" b="0">
                <a:solidFill>
                  <a:srgbClr val="555555"/>
                </a:solidFill>
                <a:latin typeface="Helvetica Neue"/>
              </a:defRPr>
            </a:pPr>
            <a:r>
              <a:rPr lang="en-US" dirty="0"/>
              <a:t>A better understanding of temporal representation learning for Weakly Supervised Video Anomaly Detection.</a:t>
            </a:r>
          </a:p>
          <a:p>
            <a:pPr marL="285750" indent="-285750" algn="just">
              <a:spcAft>
                <a:spcPts val="400"/>
              </a:spcAft>
              <a:buFontTx/>
              <a:buChar char="-"/>
              <a:defRPr sz="1400" b="0">
                <a:solidFill>
                  <a:srgbClr val="555555"/>
                </a:solidFill>
                <a:latin typeface="Helvetica Neue"/>
              </a:defRPr>
            </a:pPr>
            <a:r>
              <a:rPr lang="en-US" dirty="0"/>
              <a:t>Combining efficient sequence modeling with semantic information.</a:t>
            </a:r>
            <a:endParaRPr dirty="0"/>
          </a:p>
        </p:txBody>
      </p:sp>
      <p:sp>
        <p:nvSpPr>
          <p:cNvPr id="14" name="Rectangle 13"/>
          <p:cNvSpPr/>
          <p:nvPr/>
        </p:nvSpPr>
        <p:spPr>
          <a:xfrm>
            <a:off x="4457702" y="4365523"/>
            <a:ext cx="7334248" cy="1877038"/>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647585" y="4632939"/>
            <a:ext cx="152400" cy="152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47585" y="4956789"/>
            <a:ext cx="2914650" cy="323850"/>
          </a:xfrm>
          <a:prstGeom prst="rect">
            <a:avLst/>
          </a:prstGeom>
          <a:noFill/>
        </p:spPr>
        <p:txBody>
          <a:bodyPr wrap="square" lIns="0" tIns="0" rIns="0" bIns="0">
            <a:normAutofit/>
          </a:bodyPr>
          <a:lstStyle/>
          <a:p>
            <a:pPr algn="l">
              <a:spcAft>
                <a:spcPts val="400"/>
              </a:spcAft>
              <a:defRPr sz="1800" b="1">
                <a:solidFill>
                  <a:srgbClr val="000000"/>
                </a:solidFill>
                <a:latin typeface="Helvetica Neue"/>
              </a:defRPr>
            </a:pPr>
            <a:r>
              <a:rPr lang="en-US" dirty="0"/>
              <a:t>Practical Impact</a:t>
            </a:r>
          </a:p>
        </p:txBody>
      </p:sp>
      <p:sp>
        <p:nvSpPr>
          <p:cNvPr id="17" name="TextBox 16"/>
          <p:cNvSpPr txBox="1"/>
          <p:nvPr/>
        </p:nvSpPr>
        <p:spPr>
          <a:xfrm>
            <a:off x="4647584" y="5394939"/>
            <a:ext cx="6896716" cy="630802"/>
          </a:xfrm>
          <a:prstGeom prst="rect">
            <a:avLst/>
          </a:prstGeom>
          <a:noFill/>
        </p:spPr>
        <p:txBody>
          <a:bodyPr wrap="square" lIns="0" tIns="0" rIns="0" bIns="0">
            <a:normAutofit/>
          </a:bodyPr>
          <a:lstStyle/>
          <a:p>
            <a:pPr algn="l">
              <a:spcAft>
                <a:spcPts val="400"/>
              </a:spcAft>
              <a:defRPr sz="1400" b="0">
                <a:solidFill>
                  <a:srgbClr val="555555"/>
                </a:solidFill>
                <a:latin typeface="Helvetica Neue"/>
              </a:defRPr>
            </a:pPr>
            <a:r>
              <a:rPr lang="en-US" dirty="0"/>
              <a:t>- More robust, scalable, and generalizable video anomaly detection systems under weak supervision.</a:t>
            </a:r>
            <a:endParaRPr dirty="0"/>
          </a:p>
        </p:txBody>
      </p:sp>
      <p:sp>
        <p:nvSpPr>
          <p:cNvPr id="21" name="Marcador de número de diapositiva 20">
            <a:extLst>
              <a:ext uri="{FF2B5EF4-FFF2-40B4-BE49-F238E27FC236}">
                <a16:creationId xmlns:a16="http://schemas.microsoft.com/office/drawing/2014/main" id="{1FD1D2E4-E237-A4F0-13EF-BD45A97030BE}"/>
              </a:ext>
            </a:extLst>
          </p:cNvPr>
          <p:cNvSpPr>
            <a:spLocks noGrp="1"/>
          </p:cNvSpPr>
          <p:nvPr>
            <p:ph type="sldNum" sz="quarter" idx="12"/>
          </p:nvPr>
        </p:nvSpPr>
        <p:spPr/>
        <p:txBody>
          <a:bodyPr/>
          <a:lstStyle/>
          <a:p>
            <a:fld id="{C1FF6DA9-008F-8B48-92A6-B652298478BF}" type="slidenum">
              <a:rPr lang="en-US" smtClean="0"/>
              <a:t>11</a:t>
            </a:fld>
            <a:endParaRPr lang="en-US"/>
          </a:p>
        </p:txBody>
      </p:sp>
      <p:sp>
        <p:nvSpPr>
          <p:cNvPr id="5" name="TextBox 1">
            <a:extLst>
              <a:ext uri="{FF2B5EF4-FFF2-40B4-BE49-F238E27FC236}">
                <a16:creationId xmlns:a16="http://schemas.microsoft.com/office/drawing/2014/main" id="{D4695DA2-A79E-8F7C-2092-3011170A3BFD}"/>
              </a:ext>
            </a:extLst>
          </p:cNvPr>
          <p:cNvSpPr txBox="1"/>
          <p:nvPr/>
        </p:nvSpPr>
        <p:spPr>
          <a:xfrm>
            <a:off x="4975123" y="353059"/>
            <a:ext cx="6816827" cy="209550"/>
          </a:xfrm>
          <a:prstGeom prst="rect">
            <a:avLst/>
          </a:prstGeom>
          <a:noFill/>
        </p:spPr>
        <p:txBody>
          <a:bodyPr wrap="square" lIns="0" tIns="0" rIns="0" bIns="0">
            <a:normAutofit fontScale="92500"/>
          </a:bodyPr>
          <a:lstStyle/>
          <a:p>
            <a:pPr algn="l">
              <a:spcAft>
                <a:spcPts val="400"/>
              </a:spcAft>
              <a:defRPr sz="2300" b="0">
                <a:solidFill>
                  <a:srgbClr val="000000"/>
                </a:solidFill>
                <a:latin typeface="Helvetica Neue"/>
              </a:defRPr>
            </a:pPr>
            <a:r>
              <a:rPr lang="en-US" sz="1300" b="1" i="1" dirty="0">
                <a:solidFill>
                  <a:srgbClr val="555555"/>
                </a:solidFill>
                <a:latin typeface="Helvetica Neue"/>
              </a:rPr>
              <a:t>04 Three-stage methodology,  previous research, evaluation, and expected contributions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9CDF6AF2-8AC8-AA20-414D-0148716B64DB}"/>
              </a:ext>
            </a:extLst>
          </p:cNvPr>
          <p:cNvSpPr>
            <a:spLocks noGrp="1"/>
          </p:cNvSpPr>
          <p:nvPr>
            <p:ph type="sldNum" sz="quarter" idx="12"/>
          </p:nvPr>
        </p:nvSpPr>
        <p:spPr/>
        <p:txBody>
          <a:bodyPr/>
          <a:lstStyle/>
          <a:p>
            <a:fld id="{C1FF6DA9-008F-8B48-92A6-B652298478BF}" type="slidenum">
              <a:rPr lang="en-US" smtClean="0"/>
              <a:t>12</a:t>
            </a:fld>
            <a:endParaRPr lang="en-US"/>
          </a:p>
        </p:txBody>
      </p:sp>
      <p:sp>
        <p:nvSpPr>
          <p:cNvPr id="3" name="TextBox 1">
            <a:extLst>
              <a:ext uri="{FF2B5EF4-FFF2-40B4-BE49-F238E27FC236}">
                <a16:creationId xmlns:a16="http://schemas.microsoft.com/office/drawing/2014/main" id="{0FCCD322-3857-BECD-18F2-608EB1B7E06F}"/>
              </a:ext>
            </a:extLst>
          </p:cNvPr>
          <p:cNvSpPr txBox="1"/>
          <p:nvPr/>
        </p:nvSpPr>
        <p:spPr>
          <a:xfrm>
            <a:off x="2713705" y="3052916"/>
            <a:ext cx="7000567" cy="752167"/>
          </a:xfrm>
          <a:prstGeom prst="rect">
            <a:avLst/>
          </a:prstGeom>
          <a:noFill/>
        </p:spPr>
        <p:txBody>
          <a:bodyPr wrap="square" lIns="0" tIns="0" rIns="0" bIns="0">
            <a:normAutofit/>
          </a:bodyPr>
          <a:lstStyle/>
          <a:p>
            <a:pPr algn="l">
              <a:spcAft>
                <a:spcPts val="400"/>
              </a:spcAft>
              <a:defRPr sz="3200" b="1">
                <a:solidFill>
                  <a:srgbClr val="000000"/>
                </a:solidFill>
                <a:latin typeface="Helvetica Neue"/>
              </a:defRPr>
            </a:pPr>
            <a:r>
              <a:rPr lang="en-US" sz="4000" dirty="0"/>
              <a:t>Thank you for your attention</a:t>
            </a:r>
          </a:p>
        </p:txBody>
      </p:sp>
    </p:spTree>
    <p:extLst>
      <p:ext uri="{BB962C8B-B14F-4D97-AF65-F5344CB8AC3E}">
        <p14:creationId xmlns:p14="http://schemas.microsoft.com/office/powerpoint/2010/main" val="24288629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13439</TotalTime>
  <Words>1072</Words>
  <Application>Microsoft Office PowerPoint</Application>
  <PresentationFormat>Panorámica</PresentationFormat>
  <Paragraphs>160</Paragraphs>
  <Slides>12</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Helvetica Neue</vt:lpstr>
      <vt:lpstr>Aptos</vt: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Max</dc:creator>
  <cp:keywords/>
  <dc:description>generated using python-pptx</dc:description>
  <cp:lastModifiedBy>Maximo Pacheco</cp:lastModifiedBy>
  <cp:revision>7</cp:revision>
  <dcterms:created xsi:type="dcterms:W3CDTF">2013-01-27T09:14:16Z</dcterms:created>
  <dcterms:modified xsi:type="dcterms:W3CDTF">2026-08-18T23:51:59Z</dcterms:modified>
  <cp:category/>
</cp:coreProperties>
</file>