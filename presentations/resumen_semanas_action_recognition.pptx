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3333500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TwoStream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3DCONV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3DCONVARQ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500"/>
          <p:cNvSpPr/>
          <p:nvPr/>
        </p:nvSpPr>
        <p:spPr>
          <a:xfrm>
            <a:off x="0" y="0"/>
            <a:ext cx="13333500" cy="900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00000" y="1750000"/>
            <a:ext cx="11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4400" b="1">
                <a:solidFill>
                  <a:srgbClr val="111827"/>
                </a:solidFill>
              </a:rPr>
              <a:t>Resumen de avances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20000" y="2850000"/>
            <a:ext cx="9900000" cy="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300">
                <a:solidFill>
                  <a:srgbClr val="4B5563"/>
                </a:solidFill>
              </a:rPr>
              <a:t>Action recognition y video anomaly detection para seguridad</a:t>
            </a:r>
          </a:p>
        </p:txBody>
      </p:sp>
      <p:sp>
        <p:nvSpPr>
          <p:cNvPr id="500" name="Shape 500"/>
          <p:cNvSpPr/>
          <p:nvPr/>
        </p:nvSpPr>
        <p:spPr>
          <a:xfrm>
            <a:off x="720000" y="3750000"/>
            <a:ext cx="2200000" cy="6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00" name="Bullets 100"/>
          <p:cNvSpPr txBox="1"/>
          <p:nvPr/>
        </p:nvSpPr>
        <p:spPr>
          <a:xfrm>
            <a:off x="720000" y="4200000"/>
            <a:ext cx="10800000" cy="15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Fundamentos revisados: Two-Stream, C3D y SlowFast</a:t>
            </a:r>
          </a:p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Conexión con detección de anomalías en video de seguridad</a:t>
            </a:r>
          </a:p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Revisión inicial de datasets relevantes para 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Narrativa de estas semanas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850000" y="1300000"/>
            <a:ext cx="115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500">
                <a:solidFill>
                  <a:srgbClr val="374151"/>
                </a:solidFill>
              </a:rPr>
              <a:t>Partí de CNNs para imágenes y extendí la discusión hacia video.</a:t>
            </a:r>
          </a:p>
          <a:p>
            <a:pPr marL="342900" indent="-171450">
              <a:buChar char="•"/>
            </a:pPr>
            <a:r>
              <a:rPr lang="es-MX" sz="2500">
                <a:solidFill>
                  <a:srgbClr val="374151"/>
                </a:solidFill>
              </a:rPr>
              <a:t>Revisé cómo los modelos incorporan movimiento y estructura temporal.</a:t>
            </a:r>
          </a:p>
          <a:p>
            <a:pPr marL="342900" indent="-171450">
              <a:buChar char="•"/>
            </a:pPr>
            <a:r>
              <a:rPr lang="es-MX" sz="2500">
                <a:solidFill>
                  <a:srgbClr val="374151"/>
                </a:solidFill>
              </a:rPr>
              <a:t>Comparé enfoques históricos: optical flow, convoluciones 3D y arquitecturas multi-rate.</a:t>
            </a:r>
          </a:p>
          <a:p>
            <a:pPr marL="342900" indent="-171450">
              <a:buChar char="•"/>
            </a:pPr>
            <a:r>
              <a:rPr lang="es-MX" sz="2500">
                <a:solidFill>
                  <a:srgbClr val="374151"/>
                </a:solidFill>
              </a:rPr>
              <a:t>Conecté estos fundamentos con datasets de vigilancia y anomalías.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200" b="1">
                <a:solidFill>
                  <a:srgbClr val="1F2937"/>
                </a:solidFill>
              </a:rPr>
              <a:t>Problema central: video no es solo una imagen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750000" y="1250000"/>
            <a:ext cx="59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Una imagen contiene apariencia: objetos, personas, escena y pose.</a:t>
            </a:r>
          </a:p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Un video agrega movimiento, orden temporal y causalidad.</a:t>
            </a:r>
          </a:p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La misma secuencia invertida puede representar otra acción.</a:t>
            </a:r>
          </a:p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Por eso el modelo debe capturar información espacial y temporal.</a:t>
            </a:r>
          </a:p>
        </p:txBody>
      </p:sp>
      <p:sp>
        <p:nvSpPr>
          <p:cNvPr id="500" name="Shape 500"/>
          <p:cNvSpPr/>
          <p:nvPr/>
        </p:nvSpPr>
        <p:spPr>
          <a:xfrm>
            <a:off x="7050000" y="1250000"/>
            <a:ext cx="5300000" cy="39000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350000" y="1650000"/>
            <a:ext cx="4750000" cy="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000" b="1">
                <a:solidFill>
                  <a:srgbClr val="111827"/>
                </a:solidFill>
              </a:rPr>
              <a:t>Idea clave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350000" y="2550000"/>
            <a:ext cx="4600000" cy="1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500">
                <a:solidFill>
                  <a:srgbClr val="374151"/>
                </a:solidFill>
              </a:rPr>
              <a:t>En video importa tanto qué aparece como cómo cambia en el tiempo.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Two-Stream Networks (2014)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750000" y="1250000"/>
            <a:ext cx="5000000" cy="47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Spatial stream: frames RGB para apariencia visual.</a:t>
            </a:r>
          </a:p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Temporal stream: optical flow para movimiento explícito.</a:t>
            </a:r>
          </a:p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Las predicciones se fusionan al final.</a:t>
            </a:r>
          </a:p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Mostró que RGB por sí solo no basta para reconocer acciones.</a:t>
            </a:r>
          </a:p>
        </p:txBody>
      </p:sp>
      <p:pic>
        <p:nvPicPr>
          <p:cNvPr id="800" name="TwoStream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050000" y="1250000"/>
            <a:ext cx="6450000" cy="38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300" b="1">
                <a:solidFill>
                  <a:srgbClr val="1F2937"/>
                </a:solidFill>
              </a:rPr>
              <a:t>Aporte y límites de Two-Stream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850000" y="1300000"/>
            <a:ext cx="11300000" cy="46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Aporte: separa información espacial y temporal de manera clara.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Aporte: populariza optical flow dentro de pipelines de deep learning para video.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Límite: calcular optical flow es costoso.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Límite: el pipeline no es completamente end-to-end.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Influencia: motivó C3D, SlowFast y modelos modernos de video.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300" b="1">
                <a:solidFill>
                  <a:srgbClr val="1F2937"/>
                </a:solidFill>
              </a:rPr>
              <a:t>C3D: 3D Convolutional Networks (2015)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750000" y="1200000"/>
            <a:ext cx="5150000" cy="47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Extiende la convolución hacia altura, ancho y tiempo.</a:t>
            </a:r>
          </a:p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Aprende apariencia y movimiento desde clips de video.</a:t>
            </a:r>
          </a:p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No requiere optical flow precomputado.</a:t>
            </a:r>
          </a:p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Representa una transición hacia aprendizaje espaciotemporal end-to-end.</a:t>
            </a:r>
          </a:p>
        </p:txBody>
      </p:sp>
      <p:pic>
        <p:nvPicPr>
          <p:cNvPr id="800" name="3DCONV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200000" y="1350000"/>
            <a:ext cx="58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Arquitectura C3D</a:t>
            </a:r>
          </a:p>
        </p:txBody>
      </p:sp>
      <p:pic>
        <p:nvPicPr>
          <p:cNvPr id="800" name="3DCONVARQ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00000" y="1250000"/>
            <a:ext cx="7200000" cy="3900000"/>
          </a:xfrm>
          <a:prstGeom prst="rect">
            <a:avLst/>
          </a:prstGeom>
        </p:spPr>
      </p:pic>
      <p:sp>
        <p:nvSpPr>
          <p:cNvPr id="100" name="Bullets 100"/>
          <p:cNvSpPr txBox="1"/>
          <p:nvPr/>
        </p:nvSpPr>
        <p:spPr>
          <a:xfrm>
            <a:off x="8050000" y="1250000"/>
            <a:ext cx="4600000" cy="46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8 capas convolucionales.</a:t>
            </a:r>
          </a:p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5 capas de max pooling.</a:t>
            </a:r>
          </a:p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Kernels 3 x 3 x 3.</a:t>
            </a:r>
          </a:p>
          <a:p>
            <a:pPr marL="342900" indent="-171450">
              <a:buChar char="•"/>
            </a:pPr>
            <a:r>
              <a:rPr lang="es-MX" sz="2200">
                <a:solidFill>
                  <a:srgbClr val="374151"/>
                </a:solidFill>
              </a:rPr>
              <a:t>Features transferibles a tareas de video.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Comparación conceptual</a:t>
            </a:r>
          </a:p>
        </p:txBody>
      </p:sp>
      <p:sp>
        <p:nvSpPr>
          <p:cNvPr id="500" name="Shape 500"/>
          <p:cNvSpPr/>
          <p:nvPr/>
        </p:nvSpPr>
        <p:spPr>
          <a:xfrm>
            <a:off x="750000" y="1400000"/>
            <a:ext cx="5600000" cy="39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</p:sp>
      <p:sp>
        <p:nvSpPr>
          <p:cNvPr id="500" name="Shape 500"/>
          <p:cNvSpPr/>
          <p:nvPr/>
        </p:nvSpPr>
        <p:spPr>
          <a:xfrm>
            <a:off x="6950000" y="1400000"/>
            <a:ext cx="5600000" cy="3900000"/>
          </a:xfrm>
          <a:prstGeom prst="rect">
            <a:avLst/>
          </a:prstGeom>
          <a:solidFill>
            <a:srgbClr val="ECFDF5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50000" y="1750000"/>
            <a:ext cx="49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900" b="1">
                <a:solidFill>
                  <a:srgbClr val="1E3A8A"/>
                </a:solidFill>
              </a:rPr>
              <a:t>Two-Stream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1050000" y="2450000"/>
            <a:ext cx="4900000" cy="23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100">
                <a:solidFill>
                  <a:srgbClr val="374151"/>
                </a:solidFill>
              </a:rPr>
              <a:t>RGB + optical flow</a:t>
            </a:r>
          </a:p>
          <a:p>
            <a:pPr marL="342900" indent="-171450">
              <a:buChar char="•"/>
            </a:pPr>
            <a:r>
              <a:rPr lang="es-MX" sz="2100">
                <a:solidFill>
                  <a:srgbClr val="374151"/>
                </a:solidFill>
              </a:rPr>
              <a:t>Movimiento calculado antes</a:t>
            </a:r>
          </a:p>
          <a:p>
            <a:pPr marL="342900" indent="-171450">
              <a:buChar char="•"/>
            </a:pPr>
            <a:r>
              <a:rPr lang="es-MX" sz="2100">
                <a:solidFill>
                  <a:srgbClr val="374151"/>
                </a:solidFill>
              </a:rPr>
              <a:t>Fusión tardía de streams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250000" y="1750000"/>
            <a:ext cx="49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900" b="1">
                <a:solidFill>
                  <a:srgbClr val="065F46"/>
                </a:solidFill>
              </a:rPr>
              <a:t>C3D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7250000" y="2450000"/>
            <a:ext cx="4900000" cy="23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100">
                <a:solidFill>
                  <a:srgbClr val="374151"/>
                </a:solidFill>
              </a:rPr>
              <a:t>Convoluciones 3D</a:t>
            </a:r>
          </a:p>
          <a:p>
            <a:pPr marL="342900" indent="-171450">
              <a:buChar char="•"/>
            </a:pPr>
            <a:r>
              <a:rPr lang="es-MX" sz="2100">
                <a:solidFill>
                  <a:srgbClr val="374151"/>
                </a:solidFill>
              </a:rPr>
              <a:t>Movimiento aprendido directamente</a:t>
            </a:r>
          </a:p>
          <a:p>
            <a:pPr marL="342900" indent="-171450">
              <a:buChar char="•"/>
            </a:pPr>
            <a:r>
              <a:rPr lang="es-MX" sz="2100">
                <a:solidFill>
                  <a:srgbClr val="374151"/>
                </a:solidFill>
              </a:rPr>
              <a:t>Pipeline más end-to-end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SlowFast Networks (2019)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800000" y="1250000"/>
            <a:ext cx="11400000" cy="4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400">
                <a:solidFill>
                  <a:srgbClr val="374151"/>
                </a:solidFill>
              </a:rPr>
              <a:t>Parte de una observación importante: el tiempo no es isotrópico como el espacio.</a:t>
            </a:r>
          </a:p>
          <a:p>
            <a:pPr marL="342900" indent="-171450">
              <a:buChar char="•"/>
            </a:pPr>
            <a:r>
              <a:rPr lang="es-MX" sz="2400">
                <a:solidFill>
                  <a:srgbClr val="374151"/>
                </a:solidFill>
              </a:rPr>
              <a:t>Slow pathway: baja tasa temporal para semántica y apariencia.</a:t>
            </a:r>
          </a:p>
          <a:p>
            <a:pPr marL="342900" indent="-171450">
              <a:buChar char="•"/>
            </a:pPr>
            <a:r>
              <a:rPr lang="es-MX" sz="2400">
                <a:solidFill>
                  <a:srgbClr val="374151"/>
                </a:solidFill>
              </a:rPr>
              <a:t>Fast pathway: alta tasa temporal para capturar movimiento.</a:t>
            </a:r>
          </a:p>
          <a:p>
            <a:pPr marL="342900" indent="-171450">
              <a:buChar char="•"/>
            </a:pPr>
            <a:r>
              <a:rPr lang="es-MX" sz="2400">
                <a:solidFill>
                  <a:srgbClr val="374151"/>
                </a:solidFill>
              </a:rPr>
              <a:t>Combina ambas vías para reconocer acciones de manera más eficiente.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Evolución de ideas</a:t>
            </a:r>
          </a:p>
        </p:txBody>
      </p:sp>
      <p:sp>
        <p:nvSpPr>
          <p:cNvPr id="500" name="Shape 500"/>
          <p:cNvSpPr/>
          <p:nvPr/>
        </p:nvSpPr>
        <p:spPr>
          <a:xfrm>
            <a:off x="900000" y="2200000"/>
            <a:ext cx="2900000" cy="13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500" name="Shape 500"/>
          <p:cNvSpPr/>
          <p:nvPr/>
        </p:nvSpPr>
        <p:spPr>
          <a:xfrm>
            <a:off x="5200000" y="2200000"/>
            <a:ext cx="2900000" cy="130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</p:sp>
      <p:sp>
        <p:nvSpPr>
          <p:cNvPr id="500" name="Shape 500"/>
          <p:cNvSpPr/>
          <p:nvPr/>
        </p:nvSpPr>
        <p:spPr>
          <a:xfrm>
            <a:off x="9500000" y="2200000"/>
            <a:ext cx="2900000" cy="130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150000" y="2580000"/>
            <a:ext cx="24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300" b="1">
                <a:solidFill>
                  <a:srgbClr val="1D4ED8"/>
                </a:solidFill>
              </a:rPr>
              <a:t>Two-Stream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850000" y="2580000"/>
            <a:ext cx="19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300" b="1">
                <a:solidFill>
                  <a:srgbClr val="047857"/>
                </a:solidFill>
              </a:rPr>
              <a:t>C3D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100000" y="2580000"/>
            <a:ext cx="19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300" b="1">
                <a:solidFill>
                  <a:srgbClr val="B45309"/>
                </a:solidFill>
              </a:rPr>
              <a:t>SlowFast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000000" y="2550000"/>
            <a:ext cx="9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0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300000" y="2550000"/>
            <a:ext cx="9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000" b="1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1050000" y="4150000"/>
            <a:ext cx="11300000" cy="17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250">
                <a:solidFill>
                  <a:srgbClr val="374151"/>
                </a:solidFill>
              </a:rPr>
              <a:t>De movimiento explícito calculado con optical flow.</a:t>
            </a:r>
          </a:p>
          <a:p>
            <a:pPr marL="342900" indent="-171450">
              <a:buChar char="•"/>
            </a:pPr>
            <a:r>
              <a:rPr lang="es-MX" sz="2250">
                <a:solidFill>
                  <a:srgbClr val="374151"/>
                </a:solidFill>
              </a:rPr>
              <a:t>A aprendizaje conjunto de espacio-tiempo con convoluciones 3D.</a:t>
            </a:r>
          </a:p>
          <a:p>
            <a:pPr marL="342900" indent="-171450">
              <a:buChar char="•"/>
            </a:pPr>
            <a:r>
              <a:rPr lang="es-MX" sz="2250">
                <a:solidFill>
                  <a:srgbClr val="374151"/>
                </a:solidFill>
              </a:rPr>
              <a:t>A arquitecturas que tratan apariencia y movimiento con diferentes ritmos temporales.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Datasets revisados para seguridad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850000" y="1250000"/>
            <a:ext cx="11500000" cy="51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UCF-Crime: dataset principal por realismo CCTV y clases como robbery/assault.</a:t>
            </a:r>
          </a:p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XD-Violence: complemento fuerte para violencia, aunque con sesgo de películas/YouTube.</a:t>
            </a:r>
          </a:p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ShanghaiTech: benchmark académico útil para evaluación.</a:t>
            </a:r>
          </a:p>
          <a:p>
            <a:pPr marL="342900" indent="-171450">
              <a:buChar char="•"/>
            </a:pPr>
            <a:r>
              <a:rPr lang="es-MX" sz="2300">
                <a:solidFill>
                  <a:srgbClr val="374151"/>
                </a:solidFill>
              </a:rPr>
              <a:t>Avenue y UCSD Ped2: útiles para pruebas rápidas o depuración de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Decisión inicial sobre datasets</a:t>
            </a:r>
          </a:p>
        </p:txBody>
      </p:sp>
      <p:sp>
        <p:nvSpPr>
          <p:cNvPr id="500" name="Shape 500"/>
          <p:cNvSpPr/>
          <p:nvPr/>
        </p:nvSpPr>
        <p:spPr>
          <a:xfrm>
            <a:off x="850000" y="1350000"/>
            <a:ext cx="3700000" cy="3500000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500" name="Shape 500"/>
          <p:cNvSpPr/>
          <p:nvPr/>
        </p:nvSpPr>
        <p:spPr>
          <a:xfrm>
            <a:off x="4900000" y="1350000"/>
            <a:ext cx="3700000" cy="3500000"/>
          </a:xfrm>
          <a:prstGeom prst="rect">
            <a:avLst/>
          </a:prstGeom>
          <a:solidFill>
            <a:srgbClr val="FEF9C3"/>
          </a:solidFill>
          <a:ln>
            <a:noFill/>
          </a:ln>
        </p:spPr>
      </p:sp>
      <p:sp>
        <p:nvSpPr>
          <p:cNvPr id="500" name="Shape 500"/>
          <p:cNvSpPr/>
          <p:nvPr/>
        </p:nvSpPr>
        <p:spPr>
          <a:xfrm>
            <a:off x="8950000" y="1350000"/>
            <a:ext cx="3700000" cy="3500000"/>
          </a:xfrm>
          <a:prstGeom prst="rect">
            <a:avLst/>
          </a:prstGeom>
          <a:solidFill>
            <a:srgbClr val="E0F2FE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150000" y="1750000"/>
            <a:ext cx="31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600" b="1">
                <a:solidFill>
                  <a:srgbClr val="166534"/>
                </a:solidFill>
              </a:rPr>
              <a:t>Principal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150000" y="2450000"/>
            <a:ext cx="3000000" cy="10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000" b="1">
                <a:solidFill>
                  <a:srgbClr val="111827"/>
                </a:solidFill>
              </a:rPr>
              <a:t>UCF-Crime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200000" y="1750000"/>
            <a:ext cx="31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500" b="1">
                <a:solidFill>
                  <a:srgbClr val="854D0E"/>
                </a:solidFill>
              </a:rPr>
              <a:t>Complementario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200000" y="2450000"/>
            <a:ext cx="3000000" cy="10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800" b="1">
                <a:solidFill>
                  <a:srgbClr val="111827"/>
                </a:solidFill>
              </a:rPr>
              <a:t>XD-Violence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250000" y="1750000"/>
            <a:ext cx="31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500" b="1">
                <a:solidFill>
                  <a:srgbClr val="075985"/>
                </a:solidFill>
              </a:rPr>
              <a:t>Benchmark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250000" y="2450000"/>
            <a:ext cx="3000000" cy="10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2700" b="1">
                <a:solidFill>
                  <a:srgbClr val="111827"/>
                </a:solidFill>
              </a:rPr>
              <a:t>ShanghaiTech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1000000" y="535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100">
                <a:solidFill>
                  <a:srgbClr val="374151"/>
                </a:solidFill>
              </a:rPr>
              <a:t>La contribución de investigación probablemente no estará solo en el dataset, sino en modelado temporal, arquitectura y generalización.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Lo que ya queda construido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850000" y="1300000"/>
            <a:ext cx="114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Base conceptual sobre por qué video requiere modelado temporal.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Resumen histórico de modelos influyentes en action recognition.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Comparación entre optical flow, 3D CNNs y SlowFast.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Primer mapa de datasets relevantes para vigilancia y anomalías.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Dirección clara hacia detección de acciones/anomalías en seguridad.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50000" y="450000"/>
            <a:ext cx="11800000" cy="5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MX" sz="3400" b="1">
                <a:solidFill>
                  <a:srgbClr val="1F2937"/>
                </a:solidFill>
              </a:rPr>
              <a:t>Siguiente paso sugerido</a:t>
            </a:r>
          </a:p>
        </p:txBody>
      </p:sp>
      <p:sp>
        <p:nvSpPr>
          <p:cNvPr id="100" name="Bullets 100"/>
          <p:cNvSpPr txBox="1"/>
          <p:nvPr/>
        </p:nvSpPr>
        <p:spPr>
          <a:xfrm>
            <a:off x="850000" y="1300000"/>
            <a:ext cx="11400000" cy="48000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Profundizar en métodos recientes de video anomaly detection.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Definir si el enfoque será supervisado, débilmente supervisado o auto-supervisado.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Elegir dataset principal y protocolo de evaluación.</a:t>
            </a:r>
          </a:p>
          <a:p>
            <a:pPr marL="342900" indent="-171450">
              <a:buChar char="•"/>
            </a:pPr>
            <a:r>
              <a:rPr lang="es-MX" sz="2350">
                <a:solidFill>
                  <a:srgbClr val="374151"/>
                </a:solidFill>
              </a:rPr>
              <a:t>Construir una tabla comparativa de modelos recientes, métricas y limitaciones.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Minimal">
  <a:themeElements>
    <a:clrScheme name="Codex">
      <a:dk1>
        <a:srgbClr val="111827"/>
      </a:dk1>
      <a:lt1>
        <a:srgbClr val="F8FAFC"/>
      </a:lt1>
      <a:dk2>
        <a:srgbClr val="374151"/>
      </a:dk2>
      <a:lt2>
        <a:srgbClr val="E5E7EB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odex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Resumen de avances</dc:title>
  <dc:creator>Codex</dc:creator>
  <cp:lastModifiedBy>Codex</cp:lastModifiedBy>
  <dcterms:created xsi:type="dcterms:W3CDTF">2026-05-12T00:00:00Z</dcterms:created>
  <dcterms:modified xsi:type="dcterms:W3CDTF">2026-05-12T00:00:00Z</dcterms:modified>
</cp:coreProperties>
</file>