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86" r:id="rId5"/>
    <p:sldId id="288" r:id="rId6"/>
    <p:sldId id="293" r:id="rId7"/>
    <p:sldId id="290" r:id="rId8"/>
    <p:sldId id="291" r:id="rId9"/>
    <p:sldId id="292" r:id="rId10"/>
    <p:sldId id="289" r:id="rId11"/>
    <p:sldId id="280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8" d="100"/>
          <a:sy n="158" d="100"/>
        </p:scale>
        <p:origin x="244" y="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3C6B71-9F91-4F0D-A82F-6C6408E62C5B}" type="datetimeFigureOut">
              <a:rPr kumimoji="1" lang="en-US" smtClean="0"/>
              <a:t>10/27/2026</a:t>
            </a:fld>
            <a:endParaRPr kumimoji="1"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es-MX"/>
              <a:t>Haga clic para modificar los estilos de texto del patrón</a:t>
            </a:r>
          </a:p>
          <a:p>
            <a:pPr lvl="1"/>
            <a:r>
              <a:rPr kumimoji="1" lang="es-MX"/>
              <a:t>Segundo nivel</a:t>
            </a:r>
          </a:p>
          <a:p>
            <a:pPr lvl="2"/>
            <a:r>
              <a:rPr kumimoji="1" lang="es-MX"/>
              <a:t>Tercer nivel</a:t>
            </a:r>
          </a:p>
          <a:p>
            <a:pPr lvl="3"/>
            <a:r>
              <a:rPr kumimoji="1" lang="es-MX"/>
              <a:t>Cuarto nivel</a:t>
            </a:r>
          </a:p>
          <a:p>
            <a:pPr lvl="4"/>
            <a:r>
              <a:rPr kumimoji="1" lang="es-MX"/>
              <a:t>Quinto nivel</a:t>
            </a:r>
            <a:endParaRPr kumimoji="1"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8423E1-5CF0-47A8-84E4-4468CEB2B5CE}" type="slidenum">
              <a:rPr kumimoji="1" lang="en-US" smtClean="0"/>
              <a:t>‹Nº›</a:t>
            </a:fld>
            <a:endParaRPr kumimoji="1" lang="en-US"/>
          </a:p>
        </p:txBody>
      </p:sp>
    </p:spTree>
    <p:extLst>
      <p:ext uri="{BB962C8B-B14F-4D97-AF65-F5344CB8AC3E}">
        <p14:creationId xmlns:p14="http://schemas.microsoft.com/office/powerpoint/2010/main" val="36316911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8423E1-5CF0-47A8-84E4-4468CEB2B5CE}" type="slidenum">
              <a:rPr kumimoji="1" lang="en-US" smtClean="0"/>
              <a:t>4</a:t>
            </a:fld>
            <a:endParaRPr kumimoji="1" lang="en-US"/>
          </a:p>
        </p:txBody>
      </p:sp>
    </p:spTree>
    <p:extLst>
      <p:ext uri="{BB962C8B-B14F-4D97-AF65-F5344CB8AC3E}">
        <p14:creationId xmlns:p14="http://schemas.microsoft.com/office/powerpoint/2010/main" val="3648145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Weekly Progress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514600"/>
            <a:ext cx="500515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dirty="0"/>
              <a:t>STN</a:t>
            </a:r>
            <a:r>
              <a:rPr lang="en-US" noProof="0" dirty="0"/>
              <a:t>Mamba-based video anomaly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273552"/>
            <a:ext cx="2011680" cy="4572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713232" y="3703320"/>
            <a:ext cx="10460736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Reviewed </a:t>
            </a:r>
            <a:r>
              <a:rPr lang="en-US" dirty="0"/>
              <a:t>in detail STNMamba and compare with previous VADMamba (updated results)</a:t>
            </a:r>
            <a:r>
              <a:rPr lang="en-US" noProof="0" dirty="0"/>
              <a:t>.</a:t>
            </a: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C55C4933-6615-A0E1-0FCE-AF94D374EED4}"/>
              </a:ext>
            </a:extLst>
          </p:cNvPr>
          <p:cNvSpPr txBox="1"/>
          <p:nvPr/>
        </p:nvSpPr>
        <p:spPr>
          <a:xfrm>
            <a:off x="6782224" y="6082077"/>
            <a:ext cx="5294029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b="1" noProof="0" dirty="0"/>
              <a:t>PACHECO MARTÍNEZ MÁXIMO ENRIQUE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Narrative of the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07008"/>
            <a:ext cx="10424160" cy="17748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endParaRPr lang="en-US" noProof="0" dirty="0"/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Review the </a:t>
            </a:r>
            <a:r>
              <a:rPr lang="en-US" noProof="0" dirty="0" err="1"/>
              <a:t>arquitecture</a:t>
            </a:r>
            <a:r>
              <a:rPr lang="en-US" noProof="0" dirty="0"/>
              <a:t> of </a:t>
            </a:r>
            <a:r>
              <a:rPr lang="en-US" dirty="0"/>
              <a:t>STN</a:t>
            </a:r>
            <a:r>
              <a:rPr lang="en-US" noProof="0" dirty="0"/>
              <a:t>Mamba more in depth.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See updated results of VADMamba and compare paper results with STNMamba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Why This Step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394960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Understanding the proposal for STNMamba is important in order to compare in detail the </a:t>
            </a:r>
            <a:r>
              <a:rPr lang="en-US" noProof="0" dirty="0" err="1"/>
              <a:t>differente</a:t>
            </a:r>
            <a:r>
              <a:rPr lang="en-US" noProof="0" dirty="0"/>
              <a:t> </a:t>
            </a:r>
            <a:r>
              <a:rPr lang="en-US" noProof="0" dirty="0" err="1"/>
              <a:t>arquitectures</a:t>
            </a:r>
            <a:endParaRPr lang="en-US" noProof="0" dirty="0"/>
          </a:p>
        </p:txBody>
      </p:sp>
      <p:sp>
        <p:nvSpPr>
          <p:cNvPr id="4" name="Rounded Rectangle 3"/>
          <p:cNvSpPr/>
          <p:nvPr/>
        </p:nvSpPr>
        <p:spPr>
          <a:xfrm>
            <a:off x="6446520" y="1143000"/>
            <a:ext cx="4846320" cy="3566160"/>
          </a:xfrm>
          <a:prstGeom prst="roundRect">
            <a:avLst>
              <a:gd name="adj" fmla="val 8000"/>
            </a:avLst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6720840" y="15361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Key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2212848"/>
            <a:ext cx="4160520" cy="1154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STNMamba tackles in a different way the temporal encoder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/>
          <p:cNvSpPr txBox="1"/>
          <p:nvPr/>
        </p:nvSpPr>
        <p:spPr>
          <a:xfrm>
            <a:off x="594360" y="384048"/>
            <a:ext cx="4336444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VADMamba: Architecture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9C28499D-20BD-5B76-E5D3-02240A8F37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25488"/>
            <a:ext cx="10968967" cy="4881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9010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560711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VADMamba: Reproduced Results</a:t>
            </a:r>
          </a:p>
        </p:txBody>
      </p:sp>
      <p:grpSp>
        <p:nvGrpSpPr>
          <p:cNvPr id="28" name="Grupo 27">
            <a:extLst>
              <a:ext uri="{FF2B5EF4-FFF2-40B4-BE49-F238E27FC236}">
                <a16:creationId xmlns:a16="http://schemas.microsoft.com/office/drawing/2014/main" id="{CC4F2B50-1C30-6BD3-E179-F679A3526C71}"/>
              </a:ext>
            </a:extLst>
          </p:cNvPr>
          <p:cNvGrpSpPr/>
          <p:nvPr/>
        </p:nvGrpSpPr>
        <p:grpSpPr>
          <a:xfrm>
            <a:off x="729103" y="1063443"/>
            <a:ext cx="10745946" cy="5313189"/>
            <a:chOff x="729103" y="837864"/>
            <a:chExt cx="10745946" cy="5313189"/>
          </a:xfrm>
        </p:grpSpPr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F5507F26-53B0-7381-1883-56CA7DEC7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255" t="3824" r="6105" b="7239"/>
            <a:stretch/>
          </p:blipFill>
          <p:spPr>
            <a:xfrm>
              <a:off x="761329" y="894259"/>
              <a:ext cx="3464021" cy="2534742"/>
            </a:xfrm>
            <a:prstGeom prst="rect">
              <a:avLst/>
            </a:prstGeom>
          </p:spPr>
        </p:pic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33D25433-56DF-0570-C573-F7CB4A3454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273" t="4142" r="5176" b="6204"/>
            <a:stretch/>
          </p:blipFill>
          <p:spPr>
            <a:xfrm>
              <a:off x="804238" y="3535919"/>
              <a:ext cx="3427767" cy="2508214"/>
            </a:xfrm>
            <a:prstGeom prst="rect">
              <a:avLst/>
            </a:prstGeom>
          </p:spPr>
        </p:pic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1E844B62-E4AC-D385-9FFB-7AA00B7F768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70198" y="857319"/>
              <a:ext cx="3469541" cy="2505539"/>
            </a:xfrm>
            <a:prstGeom prst="rect">
              <a:avLst/>
            </a:prstGeom>
          </p:spPr>
        </p:pic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F9127039-E79E-8018-974B-C40AA7986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61229" y="3551678"/>
              <a:ext cx="3488617" cy="2505540"/>
            </a:xfrm>
            <a:prstGeom prst="rect">
              <a:avLst/>
            </a:prstGeom>
          </p:spPr>
        </p:pic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EB810C3A-7BE3-D678-FF32-280499381C60}"/>
                </a:ext>
              </a:extLst>
            </p:cNvPr>
            <p:cNvSpPr/>
            <p:nvPr/>
          </p:nvSpPr>
          <p:spPr>
            <a:xfrm>
              <a:off x="729103" y="837864"/>
              <a:ext cx="3552867" cy="5313188"/>
            </a:xfrm>
            <a:prstGeom prst="rect">
              <a:avLst/>
            </a:prstGeom>
            <a:noFill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FDD1A7F8-7C74-C486-9D16-35A6DA9EBE58}"/>
                </a:ext>
              </a:extLst>
            </p:cNvPr>
            <p:cNvSpPr/>
            <p:nvPr/>
          </p:nvSpPr>
          <p:spPr>
            <a:xfrm>
              <a:off x="4360093" y="837865"/>
              <a:ext cx="3489753" cy="5313188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0" name="Imagen 19">
              <a:extLst>
                <a:ext uri="{FF2B5EF4-FFF2-40B4-BE49-F238E27FC236}">
                  <a16:creationId xmlns:a16="http://schemas.microsoft.com/office/drawing/2014/main" id="{27E94E17-1AE0-ED6E-96B4-F3635A2C82D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979073" y="837864"/>
              <a:ext cx="3474044" cy="2524994"/>
            </a:xfrm>
            <a:prstGeom prst="rect">
              <a:avLst/>
            </a:prstGeom>
          </p:spPr>
        </p:pic>
        <p:pic>
          <p:nvPicPr>
            <p:cNvPr id="22" name="Imagen 21">
              <a:extLst>
                <a:ext uri="{FF2B5EF4-FFF2-40B4-BE49-F238E27FC236}">
                  <a16:creationId xmlns:a16="http://schemas.microsoft.com/office/drawing/2014/main" id="{20F5AC90-1C46-94C6-1FC4-9FF99905AD9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993352" y="3551678"/>
              <a:ext cx="3469545" cy="2505541"/>
            </a:xfrm>
            <a:prstGeom prst="rect">
              <a:avLst/>
            </a:prstGeom>
          </p:spPr>
        </p:pic>
        <p:sp>
          <p:nvSpPr>
            <p:cNvPr id="23" name="Rectángulo 22">
              <a:extLst>
                <a:ext uri="{FF2B5EF4-FFF2-40B4-BE49-F238E27FC236}">
                  <a16:creationId xmlns:a16="http://schemas.microsoft.com/office/drawing/2014/main" id="{11863178-14EB-C252-8618-7E69B2D2236B}"/>
                </a:ext>
              </a:extLst>
            </p:cNvPr>
            <p:cNvSpPr/>
            <p:nvPr/>
          </p:nvSpPr>
          <p:spPr>
            <a:xfrm>
              <a:off x="7985296" y="837865"/>
              <a:ext cx="3489753" cy="5313188"/>
            </a:xfrm>
            <a:prstGeom prst="rect">
              <a:avLst/>
            </a:prstGeom>
            <a:noFill/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360190AA-F8C3-610A-5F70-D14250A4755A}"/>
                </a:ext>
              </a:extLst>
            </p:cNvPr>
            <p:cNvSpPr/>
            <p:nvPr/>
          </p:nvSpPr>
          <p:spPr>
            <a:xfrm>
              <a:off x="2626383" y="2967335"/>
              <a:ext cx="1474318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s-MX" sz="2400" b="1" dirty="0" err="1">
                  <a:ln w="22225">
                    <a:noFill/>
                    <a:prstDash val="solid"/>
                  </a:ln>
                  <a:solidFill>
                    <a:schemeClr val="tx2"/>
                  </a:solidFill>
                </a:rPr>
                <a:t>Before</a:t>
              </a:r>
              <a:endParaRPr lang="es-MX" sz="2400" b="1" dirty="0">
                <a:ln w="22225">
                  <a:noFill/>
                  <a:prstDash val="solid"/>
                </a:ln>
                <a:solidFill>
                  <a:schemeClr val="tx2"/>
                </a:solidFill>
              </a:endParaRPr>
            </a:p>
          </p:txBody>
        </p:sp>
        <p:sp>
          <p:nvSpPr>
            <p:cNvPr id="26" name="Rectángulo 25">
              <a:extLst>
                <a:ext uri="{FF2B5EF4-FFF2-40B4-BE49-F238E27FC236}">
                  <a16:creationId xmlns:a16="http://schemas.microsoft.com/office/drawing/2014/main" id="{803EF54D-791B-FF83-E0E2-CF90627D2CF3}"/>
                </a:ext>
              </a:extLst>
            </p:cNvPr>
            <p:cNvSpPr/>
            <p:nvPr/>
          </p:nvSpPr>
          <p:spPr>
            <a:xfrm>
              <a:off x="6335678" y="2967336"/>
              <a:ext cx="1474318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s-MX" sz="2400" b="1" dirty="0" err="1">
                  <a:ln w="22225">
                    <a:noFill/>
                    <a:prstDash val="solid"/>
                  </a:ln>
                  <a:solidFill>
                    <a:schemeClr val="accent2"/>
                  </a:solidFill>
                </a:rPr>
                <a:t>Current</a:t>
              </a:r>
              <a:endParaRPr lang="es-MX" sz="2400" b="1" dirty="0">
                <a:ln w="22225">
                  <a:noFill/>
                  <a:prstDash val="solid"/>
                </a:ln>
                <a:solidFill>
                  <a:schemeClr val="accent2"/>
                </a:solidFill>
              </a:endParaRPr>
            </a:p>
          </p:txBody>
        </p:sp>
        <p:sp>
          <p:nvSpPr>
            <p:cNvPr id="27" name="Rectángulo 26">
              <a:extLst>
                <a:ext uri="{FF2B5EF4-FFF2-40B4-BE49-F238E27FC236}">
                  <a16:creationId xmlns:a16="http://schemas.microsoft.com/office/drawing/2014/main" id="{9DA1D864-6FFE-5DC1-F55B-02C3D4F2D91B}"/>
                </a:ext>
              </a:extLst>
            </p:cNvPr>
            <p:cNvSpPr/>
            <p:nvPr/>
          </p:nvSpPr>
          <p:spPr>
            <a:xfrm>
              <a:off x="9972604" y="2967336"/>
              <a:ext cx="1474318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s-MX" sz="2400" b="1" dirty="0" err="1">
                  <a:ln w="22225">
                    <a:noFill/>
                    <a:prstDash val="solid"/>
                  </a:ln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Paper</a:t>
              </a:r>
              <a:endParaRPr lang="es-MX" sz="2400" b="1" dirty="0">
                <a:ln w="22225">
                  <a:noFill/>
                  <a:prstDash val="solid"/>
                </a:ln>
                <a:solidFill>
                  <a:schemeClr val="accent3">
                    <a:lumMod val="60000"/>
                    <a:lumOff val="4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4258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560711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VADMamba: Reproduced Results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507440D7-E727-DC06-9878-93ED3DED6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752911"/>
            <a:ext cx="5285007" cy="383371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E6E06EA5-BD9E-B91A-C0F6-DFE56E3BB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455" y="1752910"/>
            <a:ext cx="5339659" cy="3866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564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8B69B1-B865-1BBD-2C1F-988A178ED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B623CF-56C7-C635-3A9E-CEFADB64C22E}"/>
              </a:ext>
            </a:extLst>
          </p:cNvPr>
          <p:cNvSpPr txBox="1"/>
          <p:nvPr/>
        </p:nvSpPr>
        <p:spPr>
          <a:xfrm>
            <a:off x="594360" y="384048"/>
            <a:ext cx="208903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altLang="ja-JP" dirty="0"/>
              <a:t>STNMamba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3B80A565-8BE2-FA4D-C1A8-317A93732E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390" r="46438" b="16499"/>
          <a:stretch>
            <a:fillRect/>
          </a:stretch>
        </p:blipFill>
        <p:spPr>
          <a:xfrm>
            <a:off x="594360" y="938046"/>
            <a:ext cx="6591367" cy="2670853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9CBE49A3-87B7-5551-32E0-683632E4C9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655" t="18091" r="-42" b="16798"/>
          <a:stretch>
            <a:fillRect/>
          </a:stretch>
        </p:blipFill>
        <p:spPr>
          <a:xfrm>
            <a:off x="5197783" y="3654839"/>
            <a:ext cx="6418737" cy="3003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2448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006B9D-9498-6C19-E59E-ED47C8574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EF851B-9B14-E429-5090-51E245090082}"/>
              </a:ext>
            </a:extLst>
          </p:cNvPr>
          <p:cNvSpPr txBox="1"/>
          <p:nvPr/>
        </p:nvSpPr>
        <p:spPr>
          <a:xfrm>
            <a:off x="594360" y="384048"/>
            <a:ext cx="208903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altLang="ja-JP" dirty="0"/>
              <a:t>STNMamba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19B9E302-0401-1FBF-B55D-8051F779E6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633" y="871371"/>
            <a:ext cx="9390733" cy="5691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943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4DBBE9-8603-F903-1179-8F59ACCF2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FE9CD0-262B-4A1D-4F0E-55D978EFA923}"/>
              </a:ext>
            </a:extLst>
          </p:cNvPr>
          <p:cNvSpPr txBox="1"/>
          <p:nvPr/>
        </p:nvSpPr>
        <p:spPr>
          <a:xfrm>
            <a:off x="594360" y="384048"/>
            <a:ext cx="454150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altLang="ja-JP" dirty="0"/>
              <a:t>STNMamba vs VADMamba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0C00CD3-CFB0-753C-5067-0CBC466DD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3" y="1352260"/>
            <a:ext cx="11396673" cy="4381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3310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218944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07008"/>
            <a:ext cx="1042416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Advance to VADMAMBA++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dirty="0"/>
              <a:t>Advance to M²S²L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84979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20317" y="1859339"/>
            <a:ext cx="4751365" cy="31393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sz="6600" noProof="0" dirty="0"/>
              <a:t>THANK YOU </a:t>
            </a:r>
          </a:p>
          <a:p>
            <a:pPr algn="ctr"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sz="6600" noProof="0" dirty="0"/>
              <a:t>FOR YOUR </a:t>
            </a:r>
          </a:p>
          <a:p>
            <a:pPr algn="ctr"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sz="6600" noProof="0" dirty="0"/>
              <a:t>ATTENTION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038774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1294</TotalTime>
  <Words>113</Words>
  <Application>Microsoft Office PowerPoint</Application>
  <PresentationFormat>Panorámica</PresentationFormat>
  <Paragraphs>28</Paragraphs>
  <Slides>11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游ゴシック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Maximo Pacheco</cp:lastModifiedBy>
  <cp:revision>44</cp:revision>
  <dcterms:created xsi:type="dcterms:W3CDTF">2013-01-27T09:14:16Z</dcterms:created>
  <dcterms:modified xsi:type="dcterms:W3CDTF">2026-10-27T12:56:22Z</dcterms:modified>
  <cp:category/>
</cp:coreProperties>
</file>