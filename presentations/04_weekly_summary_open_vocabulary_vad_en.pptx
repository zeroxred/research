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111827"/>
                </a:solidFill>
                <a:latin typeface="Aptos Display"/>
              </a:defRPr>
            </a:pPr>
            <a:r>
              <a:t>Weekly Progress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514600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4B5563"/>
                </a:solidFill>
                <a:latin typeface="Aptos"/>
              </a:defRPr>
            </a:pPr>
            <a:r>
              <a:t>From VADCLIP to open-vocabulary video anomaly detection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3273552"/>
            <a:ext cx="2011680" cy="45720"/>
          </a:xfrm>
          <a:prstGeom prst="rect">
            <a:avLst/>
          </a:prstGeom>
          <a:solidFill>
            <a:srgbClr val="D97706"/>
          </a:solidFill>
          <a:ln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3703320"/>
            <a:ext cx="101498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Extended the anomaly-detection block from weak supervision to open-vocabulary reasoning.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Reviewed the gap between closed-set, open-set, and open-vocabulary VAD.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Started organizing how CLIP can support both detection and semantic categorization.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Narrative of the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07008"/>
            <a:ext cx="104241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Continued from the previous block on Video Swin Transformer, RTFM, and VadCLIP.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Shifted attention from weakly supervised anomaly scoring toward semantic anomaly naming.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Studied open-set and open-vocabulary formulations as the next research step.</a:t>
            </a:r>
          </a:p>
          <a:p>
            <a:pPr>
              <a:spcAft>
                <a:spcPts val="800"/>
              </a:spcAft>
              <a:defRPr sz="2400">
                <a:solidFill>
                  <a:srgbClr val="4B5563"/>
                </a:solidFill>
                <a:latin typeface="Aptos"/>
              </a:defRPr>
            </a:pPr>
            <a:r>
              <a:t>Connected the literature to a more realistic surveillance setting where new anomalies can appear.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Why This Step Matters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WSVAD can localize suspicious segments, but it usually stays inside the anomaly classes seen during training.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Open-set VAD improves generalization to unseen anomalies, but still leaves the anomaly type unnamed.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Open-vocabulary VAD adds semantic categorization on top of detection.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That makes the problem closer to how a real monitoring system should behave.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46520" y="1143000"/>
            <a:ext cx="4846320" cy="356616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720840" y="1536192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111827"/>
                </a:solidFill>
                <a:latin typeface="Aptos Display"/>
              </a:defRPr>
            </a:pPr>
            <a:r>
              <a:t>Key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20840" y="2212848"/>
            <a:ext cx="41605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4B5563"/>
                </a:solidFill>
                <a:latin typeface="Aptos"/>
              </a:defRPr>
            </a:pPr>
            <a:r>
              <a:t>The research target moved from asking only whether a video is abnormal to also asking what anomaly it is.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From Closed Set to Open Vocabulary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520440" y="146304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0" y="1463040"/>
            <a:ext cx="2514600" cy="123444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281160" y="1463040"/>
            <a:ext cx="2240280" cy="123444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D4ED8"/>
                </a:solidFill>
                <a:latin typeface="Aptos Display"/>
              </a:defRPr>
            </a:pPr>
            <a:r>
              <a:t>WSVAD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6771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4B5563"/>
                </a:solidFill>
                <a:latin typeface="Aptos"/>
              </a:defRPr>
            </a:pPr>
            <a:r>
              <a:t>Detects known anomalies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67328" y="181051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47857"/>
                </a:solidFill>
                <a:latin typeface="Aptos Display"/>
              </a:defRPr>
            </a:pPr>
            <a:r>
              <a:t>Open-Set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267712"/>
            <a:ext cx="2148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4B5563"/>
                </a:solidFill>
                <a:latin typeface="Aptos"/>
              </a:defRPr>
            </a:pPr>
            <a:r>
              <a:t>Detects unseen anomalies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56832" y="1810512"/>
            <a:ext cx="1920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45309"/>
                </a:solidFill>
                <a:latin typeface="Aptos Display"/>
              </a:defRPr>
            </a:pPr>
            <a:r>
              <a:t>OV-VAD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2267712"/>
            <a:ext cx="2194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4B5563"/>
                </a:solidFill>
                <a:latin typeface="Aptos"/>
              </a:defRPr>
            </a:pPr>
            <a:r>
              <a:t>Detects and names them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64040" y="181051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BE123C"/>
                </a:solidFill>
                <a:latin typeface="Aptos Display"/>
              </a:defRPr>
            </a:pPr>
            <a:r>
              <a:t>CLIP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36608" y="2267712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900" b="0">
                <a:solidFill>
                  <a:srgbClr val="4B5563"/>
                </a:solidFill>
                <a:latin typeface="Aptos"/>
              </a:defRPr>
            </a:pPr>
            <a:r>
              <a:t>Semantic bridge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977639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progression is not only about better anomaly scores, but about richer supervision and richer outputs.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VadCLIP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VadCLIP adapts CLIP to weakly supervised video anomaly detection.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It keeps the binary detection task, but adds semantic alignment between video and text.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This makes it a bridge between MIL-based WSVAD and open-vocabulary anomaly understanding.</a:t>
            </a:r>
          </a:p>
        </p:txBody>
      </p:sp>
      <p:pic>
        <p:nvPicPr>
          <p:cNvPr id="4" name="Picture 3" descr="VADCL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170432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VadCLIP: Main Idea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5394960" cy="361188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26480" y="1325880"/>
            <a:ext cx="5394960" cy="361188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D4ED8"/>
                </a:solidFill>
                <a:latin typeface="Aptos Display"/>
              </a:defRPr>
            </a:pPr>
            <a:r>
              <a:t>Detection Branch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5720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Uses a local-global temporal adapter to model video dynamics.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Produces anomaly confidence scores from frame-level visual features.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Keeps weak supervision through video-level labels and MIL-style reasoning.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47857"/>
                </a:solidFill>
                <a:latin typeface="Aptos Display"/>
              </a:defRPr>
            </a:pPr>
            <a:r>
              <a:t>Alignment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331720"/>
            <a:ext cx="457200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Uses CLIP text embeddings for anomaly classes.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Adds learnable prompts and visual prompts to refine the class representation.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Aligns selected video snippets with semantic labels through MIL-Align.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Open-Vocabulary VAD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4709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OV-VAD aims to detect anomalies and assign semantic labels to both seen and unseen categories.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model is built on CLIP to reuse its image-text alignment capability.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detection branch produces frame-level anomaly confidence scores.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categorization branch matches video features with text embeddings.</a:t>
            </a:r>
          </a:p>
        </p:txBody>
      </p:sp>
      <p:pic>
        <p:nvPicPr>
          <p:cNvPr id="4" name="Picture 3" descr="OVVAD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2120" y="1170432"/>
            <a:ext cx="5486400" cy="3429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Overall Framework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1325880"/>
            <a:ext cx="5394960" cy="361188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126480" y="1325880"/>
            <a:ext cx="5394960" cy="361188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75985"/>
                </a:solidFill>
                <a:latin typeface="Aptos Display"/>
              </a:defRPr>
            </a:pPr>
            <a:r>
              <a:t>Detection Branch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33172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Video frames go through CLIP's image encoder.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Temporal Adapter injects video dynamics.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Semantic Knowledge Injection enriches visual features.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A binary detector outputs frame-level anomaly scores.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46520" y="169164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47857"/>
                </a:solidFill>
                <a:latin typeface="Aptos Display"/>
              </a:defRPr>
            </a:pPr>
            <a:r>
              <a:t>Categorization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331720"/>
            <a:ext cx="45720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Video features are aggregated into a compact representation.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Category names are encoded with CLIP's text encoder.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Cross-modal alignment predicts the anomaly category.</a:t>
            </a:r>
          </a:p>
          <a:p>
            <a:pPr>
              <a:spcAft>
                <a:spcPts val="800"/>
              </a:spcAft>
              <a:defRPr sz="1900">
                <a:solidFill>
                  <a:srgbClr val="4B5563"/>
                </a:solidFill>
                <a:latin typeface="Aptos"/>
              </a:defRPr>
            </a:pPr>
            <a:r>
              <a:t>This is the semantic layer that closed-set WSVAD lacks.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Temporal Adapter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47548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Temporal Adapter is designed to model frame-to-frame relationships with minimal extra parameters.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It preserves CLIP's pretrained knowledge while adding temporal structure.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goal is to capture local temporal context without overfitting the seen anomaly classes.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06440" y="123444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E5E7EB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172200" y="1627632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11827"/>
                </a:solidFill>
                <a:latin typeface="Aptos Display"/>
              </a:defRPr>
            </a:pPr>
            <a:r>
              <a:t>Main Role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72200" y="2286000"/>
            <a:ext cx="4526280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0">
                <a:solidFill>
                  <a:srgbClr val="4B5563"/>
                </a:solidFill>
                <a:latin typeface="Aptos"/>
              </a:defRPr>
            </a:pPr>
            <a:r>
              <a:t>Bridge image features into a video-aware representation with a light temporal module rather than a heavy video transformer.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Semantic Knowledge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46634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SKI injects anomaly-related semantic knowledge from text into the visual stream.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This helps the model reason about what kind of event a frame is related to.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It moves the method beyond pure binary detection.</a:t>
            </a:r>
          </a:p>
        </p:txBody>
      </p:sp>
      <p:pic>
        <p:nvPicPr>
          <p:cNvPr id="4" name="Picture 3" descr="OVVAD_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188720"/>
            <a:ext cx="512064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Novel Anomaly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4241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NAS generates synthetic anomalies to help the model handle novel classes.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LLM-guided descriptions are turned into visual content and inserted into normal videos.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This gives the model a way to see categories that were not present in the original training set.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Results and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97280"/>
            <a:ext cx="10515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reported results show that the proposed method is competitive with closed-set baselines.</a:t>
            </a:r>
          </a:p>
          <a:p>
            <a:pPr>
              <a:spcAft>
                <a:spcPts val="800"/>
              </a:spcAft>
              <a:defRPr sz="2000">
                <a:solidFill>
                  <a:srgbClr val="4B5563"/>
                </a:solidFill>
                <a:latin typeface="Aptos"/>
              </a:defRPr>
            </a:pPr>
            <a:r>
              <a:t>The gain is most relevant on novel anomaly categories, which is the main point of the open-vocabulary setting.</a:t>
            </a:r>
          </a:p>
        </p:txBody>
      </p:sp>
      <p:pic>
        <p:nvPicPr>
          <p:cNvPr id="4" name="Picture 3" descr="OVVAD_TABL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48840"/>
            <a:ext cx="1088136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Evolution of Ideas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874519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DBEAFE"/>
          </a:solidFill>
          <a:ln>
            <a:solidFill>
              <a:srgbClr val="DBEA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017520" y="1874519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D1FAE5"/>
          </a:solidFill>
          <a:ln>
            <a:solidFill>
              <a:srgbClr val="D1FA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0" y="1874519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solidFill>
              <a:srgbClr val="FEF3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955279" y="1874519"/>
            <a:ext cx="2057400" cy="114300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solidFill>
              <a:srgbClr val="E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424160" y="1874519"/>
            <a:ext cx="1325880" cy="1143000"/>
          </a:xfrm>
          <a:prstGeom prst="roundRect">
            <a:avLst>
              <a:gd name="adj" fmla="val 8000"/>
            </a:avLst>
          </a:prstGeom>
          <a:solidFill>
            <a:srgbClr val="FFE4E6"/>
          </a:solidFill>
          <a:ln>
            <a:solidFill>
              <a:srgbClr val="FFE4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2199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1D4ED8"/>
                </a:solidFill>
                <a:latin typeface="Aptos Display"/>
              </a:defRPr>
            </a:pPr>
            <a:r>
              <a:t>WSVAD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22199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47857"/>
                </a:solidFill>
                <a:latin typeface="Aptos Display"/>
              </a:defRPr>
            </a:pPr>
            <a:r>
              <a:t>VadCLIP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22199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45309"/>
                </a:solidFill>
                <a:latin typeface="Aptos Display"/>
              </a:defRPr>
            </a:pPr>
            <a:r>
              <a:t>Open-Set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221992"/>
            <a:ext cx="1600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75985"/>
                </a:solidFill>
                <a:latin typeface="Aptos Display"/>
              </a:defRPr>
            </a:pPr>
            <a:r>
              <a:t>OV-VAD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2221992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BE123C"/>
                </a:solidFill>
                <a:latin typeface="Aptos Display"/>
              </a:defRPr>
            </a:pPr>
            <a:r>
              <a:t>CLIP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49039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From weakly supervised anomaly localization.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CLIP-based visual-language anomaly modeling.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open-set generalization.</a:t>
            </a:r>
          </a:p>
          <a:p>
            <a:pPr>
              <a:spcAft>
                <a:spcPts val="800"/>
              </a:spcAft>
              <a:defRPr sz="2100">
                <a:solidFill>
                  <a:srgbClr val="4B5563"/>
                </a:solidFill>
                <a:latin typeface="Aptos"/>
              </a:defRPr>
            </a:pPr>
            <a:r>
              <a:t>To open-vocabulary detection and semantic categorization.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What Is Already in Place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coherent path from action recognition to anomaly detection.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weakly supervised baseline centered on MIL-based reasoning.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CLIP-based method that already connects visual and textual representations.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A clear next step toward open-vocabulary anomaly understanding.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84048"/>
            <a:ext cx="109728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11827"/>
                </a:solidFill>
                <a:latin typeface="Aptos Display"/>
              </a:defRPr>
            </a:pPr>
            <a:r>
              <a:t>Suggested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1887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Move to state space models and Mamba as the next temporal modeling block.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Compare Mamba with the CLIP-based VAD line to see where it can improve sequence efficiency.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Identify how a state-space backbone could fit into weakly supervised or open-vocabulary VAD.</a:t>
            </a:r>
          </a:p>
          <a:p>
            <a:pPr>
              <a:spcAft>
                <a:spcPts val="800"/>
              </a:spcAft>
              <a:defRPr sz="2200">
                <a:solidFill>
                  <a:srgbClr val="4B5563"/>
                </a:solidFill>
                <a:latin typeface="Aptos"/>
              </a:defRPr>
            </a:pPr>
            <a:r>
              <a:t>Prepare the next weekly summary around this transition instead of staying only on OV-VAD.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