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73" r:id="rId6"/>
    <p:sldId id="272" r:id="rId7"/>
    <p:sldId id="260" r:id="rId8"/>
    <p:sldId id="281" r:id="rId9"/>
    <p:sldId id="261" r:id="rId10"/>
    <p:sldId id="262" r:id="rId11"/>
    <p:sldId id="276" r:id="rId12"/>
    <p:sldId id="277" r:id="rId13"/>
    <p:sldId id="279" r:id="rId14"/>
    <p:sldId id="280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1620" y="14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3C6B71-9F91-4F0D-A82F-6C6408E62C5B}" type="datetimeFigureOut">
              <a:rPr kumimoji="1" lang="en-US" smtClean="0"/>
              <a:t>9/27/2026</a:t>
            </a:fld>
            <a:endParaRPr kumimoji="1"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s-MX"/>
              <a:t>Haga clic para modificar los estilos de texto del patrón</a:t>
            </a:r>
          </a:p>
          <a:p>
            <a:pPr lvl="1"/>
            <a:r>
              <a:rPr kumimoji="1" lang="es-MX"/>
              <a:t>Segundo nivel</a:t>
            </a:r>
          </a:p>
          <a:p>
            <a:pPr lvl="2"/>
            <a:r>
              <a:rPr kumimoji="1" lang="es-MX"/>
              <a:t>Tercer nivel</a:t>
            </a:r>
          </a:p>
          <a:p>
            <a:pPr lvl="3"/>
            <a:r>
              <a:rPr kumimoji="1" lang="es-MX"/>
              <a:t>Cuarto nivel</a:t>
            </a:r>
          </a:p>
          <a:p>
            <a:pPr lvl="4"/>
            <a:r>
              <a:rPr kumimoji="1" lang="es-MX"/>
              <a:t>Quinto nivel</a:t>
            </a:r>
            <a:endParaRPr kumimoji="1"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423E1-5CF0-47A8-84E4-4468CEB2B5CE}" type="slidenum">
              <a:rPr kumimoji="1" lang="en-US" smtClean="0"/>
              <a:t>‹Nº›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3631691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423E1-5CF0-47A8-84E4-4468CEB2B5CE}" type="slidenum">
              <a:rPr kumimoji="1" lang="en-US" smtClean="0"/>
              <a:t>7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1687598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423E1-5CF0-47A8-84E4-4468CEB2B5CE}" type="slidenum">
              <a:rPr kumimoji="1" lang="en-US" smtClean="0"/>
              <a:t>8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2399658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Mamba-based video anomaly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14984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Started the </a:t>
            </a:r>
            <a:r>
              <a:rPr lang="en-US" b="1" noProof="0" dirty="0"/>
              <a:t>Mamba-for-VAD</a:t>
            </a:r>
            <a:r>
              <a:rPr lang="en-US" noProof="0" dirty="0"/>
              <a:t> block after the general Video Mamba foundation.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Reviewed </a:t>
            </a:r>
            <a:r>
              <a:rPr lang="en-US" b="1" noProof="0" dirty="0"/>
              <a:t>unsupervised</a:t>
            </a:r>
            <a:r>
              <a:rPr lang="en-US" noProof="0" dirty="0"/>
              <a:t> </a:t>
            </a:r>
            <a:r>
              <a:rPr lang="en-US" b="1" noProof="0" dirty="0"/>
              <a:t>VAD</a:t>
            </a:r>
            <a:r>
              <a:rPr lang="en-US" noProof="0" dirty="0"/>
              <a:t> papers that use Mamba as an efficient temporal backbone.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b="1" noProof="0" dirty="0"/>
              <a:t>Connected</a:t>
            </a:r>
            <a:r>
              <a:rPr lang="en-US" noProof="0" dirty="0"/>
              <a:t> the Mamba line back </a:t>
            </a:r>
            <a:r>
              <a:rPr lang="en-US" b="1" noProof="0" dirty="0"/>
              <a:t>to</a:t>
            </a:r>
            <a:r>
              <a:rPr lang="en-US" noProof="0" dirty="0"/>
              <a:t> </a:t>
            </a:r>
            <a:r>
              <a:rPr lang="en-US" b="1" noProof="0" dirty="0"/>
              <a:t>WSVAD</a:t>
            </a:r>
            <a:r>
              <a:rPr lang="en-US" noProof="0" dirty="0"/>
              <a:t> through multilingual prompt-guided learning.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previous block established why Mamba is attractive for long video sequences.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This block asks a more specific question: </a:t>
            </a:r>
            <a:r>
              <a:rPr lang="en-US" b="1" noProof="0" dirty="0"/>
              <a:t>how is Mamba used in video anomaly detection</a:t>
            </a:r>
            <a:r>
              <a:rPr lang="en-US" noProof="0" dirty="0"/>
              <a:t>?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first papers are mostly </a:t>
            </a:r>
            <a:r>
              <a:rPr lang="en-US" b="1" noProof="0" dirty="0"/>
              <a:t>unsupervised</a:t>
            </a:r>
            <a:r>
              <a:rPr lang="en-US" noProof="0" dirty="0"/>
              <a:t>: they learn normality and detect deviations.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b="1" noProof="0" dirty="0"/>
              <a:t>The final paper reconnects</a:t>
            </a:r>
            <a:r>
              <a:rPr lang="en-US" noProof="0" dirty="0"/>
              <a:t> the discussion to </a:t>
            </a:r>
            <a:r>
              <a:rPr lang="en-US" b="1" noProof="0" dirty="0"/>
              <a:t>weak supervision</a:t>
            </a:r>
            <a:r>
              <a:rPr lang="en-US" noProof="0" dirty="0"/>
              <a:t>, CLIP, prompts, and temporal reasoning.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 requires temporal memory because anomalies may unfold slowly or appear briefly.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Transformers provide global reasoning but can be expensive for long surveillance videos.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 offers linear-time sequence modeling and a practical path for long-range temporal context.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key </a:t>
            </a:r>
            <a:r>
              <a:rPr lang="en-US" b="1" noProof="0" dirty="0"/>
              <a:t>is deciding whether Mamba should replace, complement, or simply strengthen existing VAD pipelines</a:t>
            </a:r>
            <a:r>
              <a:rPr lang="en-US" noProof="0"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work shifts from understanding Mamba as a video backbone to evaluating Mamba as a VAD design choice.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Two VAD Directions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6217920" y="132588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1051560" y="16916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Unsupervised VAD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Training uses normal videos.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Anomalies are detected through reconstruction or prediction errors.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Typical datasets: Ped2, Avenue, </a:t>
            </a:r>
            <a:r>
              <a:rPr lang="en-US" noProof="0" dirty="0" err="1"/>
              <a:t>ShanghaiTech</a:t>
            </a:r>
            <a:r>
              <a:rPr lang="en-US" noProof="0"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6916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Weakly Supervised 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3172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Training uses video-level labels.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model learns to localize anomalous segments.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Typical datasets: UCF-Crime, XD-Violence.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83D63D-929C-D94E-9C8E-C2C3E247883D}"/>
              </a:ext>
            </a:extLst>
          </p:cNvPr>
          <p:cNvSpPr txBox="1"/>
          <p:nvPr/>
        </p:nvSpPr>
        <p:spPr>
          <a:xfrm>
            <a:off x="594360" y="384048"/>
            <a:ext cx="543854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Unsupervised VAD - Proxy Tasks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D401693-C219-B598-ED84-83DFEE3235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8" r="1078" b="1833"/>
          <a:stretch/>
        </p:blipFill>
        <p:spPr>
          <a:xfrm>
            <a:off x="1765700" y="894341"/>
            <a:ext cx="8600499" cy="575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002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2FEEA8-A432-33BA-697D-136D40CF2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1">
            <a:extLst>
              <a:ext uri="{FF2B5EF4-FFF2-40B4-BE49-F238E27FC236}">
                <a16:creationId xmlns:a16="http://schemas.microsoft.com/office/drawing/2014/main" id="{94AD2C92-91B5-BEB7-D46C-7EF842908ABA}"/>
              </a:ext>
            </a:extLst>
          </p:cNvPr>
          <p:cNvSpPr txBox="1"/>
          <p:nvPr/>
        </p:nvSpPr>
        <p:spPr>
          <a:xfrm>
            <a:off x="594360" y="384048"/>
            <a:ext cx="287835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Papers to review</a:t>
            </a:r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E91377F1-1D28-61FD-526F-35CBCEDAB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22507"/>
              </p:ext>
            </p:extLst>
          </p:nvPr>
        </p:nvGraphicFramePr>
        <p:xfrm>
          <a:off x="805180" y="1426633"/>
          <a:ext cx="10581639" cy="4317998"/>
        </p:xfrm>
        <a:graphic>
          <a:graphicData uri="http://schemas.openxmlformats.org/drawingml/2006/table">
            <a:tbl>
              <a:tblPr/>
              <a:tblGrid>
                <a:gridCol w="6560820">
                  <a:extLst>
                    <a:ext uri="{9D8B030D-6E8A-4147-A177-3AD203B41FA5}">
                      <a16:colId xmlns:a16="http://schemas.microsoft.com/office/drawing/2014/main" val="1733263843"/>
                    </a:ext>
                  </a:extLst>
                </a:gridCol>
                <a:gridCol w="1536700">
                  <a:extLst>
                    <a:ext uri="{9D8B030D-6E8A-4147-A177-3AD203B41FA5}">
                      <a16:colId xmlns:a16="http://schemas.microsoft.com/office/drawing/2014/main" val="3710063167"/>
                    </a:ext>
                  </a:extLst>
                </a:gridCol>
                <a:gridCol w="2484119">
                  <a:extLst>
                    <a:ext uri="{9D8B030D-6E8A-4147-A177-3AD203B41FA5}">
                      <a16:colId xmlns:a16="http://schemas.microsoft.com/office/drawing/2014/main" val="731748920"/>
                    </a:ext>
                  </a:extLst>
                </a:gridCol>
              </a:tblGrid>
              <a:tr h="407772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Paper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noProof="0" dirty="0">
                          <a:effectLst/>
                        </a:rPr>
                        <a:t>Year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noProof="0" dirty="0">
                          <a:effectLst/>
                        </a:rPr>
                        <a:t>VAD Type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830352"/>
                  </a:ext>
                </a:extLst>
              </a:tr>
              <a:tr h="7448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VADMamba</a:t>
                      </a:r>
                      <a:r>
                        <a:rPr lang="en-US" sz="2000" noProof="0" dirty="0">
                          <a:effectLst/>
                        </a:rPr>
                        <a:t>: Exploring State Space Models for Fast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283471"/>
                  </a:ext>
                </a:extLst>
              </a:tr>
              <a:tr h="8602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STNMamba</a:t>
                      </a:r>
                      <a:r>
                        <a:rPr lang="en-US" sz="2000" noProof="0" dirty="0">
                          <a:effectLst/>
                        </a:rPr>
                        <a:t>: Mamba-based Spatial-Temporal Normality Learning for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2024/2025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653355"/>
                  </a:ext>
                </a:extLst>
              </a:tr>
              <a:tr h="8602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M²S²L</a:t>
                      </a:r>
                      <a:r>
                        <a:rPr lang="en-US" sz="2000" noProof="0" dirty="0">
                          <a:effectLst/>
                        </a:rPr>
                        <a:t>: Mamba-based Multi-Scale Spatial-temporal Learning for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318164"/>
                  </a:ext>
                </a:extLst>
              </a:tr>
              <a:tr h="407772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VADMamba++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2026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587782"/>
                  </a:ext>
                </a:extLst>
              </a:tr>
              <a:tr h="1037110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Multilingual-Prompt-Guided</a:t>
                      </a:r>
                      <a:r>
                        <a:rPr lang="en-US" sz="2000" noProof="0" dirty="0">
                          <a:effectLst/>
                        </a:rPr>
                        <a:t> Directional Feature Learning for Weakly Supervised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Weakly 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879092"/>
                  </a:ext>
                </a:extLst>
              </a:tr>
            </a:tbl>
          </a:graphicData>
        </a:graphic>
      </p:graphicFrame>
      <p:sp>
        <p:nvSpPr>
          <p:cNvPr id="2" name="Rectángulo 1">
            <a:extLst>
              <a:ext uri="{FF2B5EF4-FFF2-40B4-BE49-F238E27FC236}">
                <a16:creationId xmlns:a16="http://schemas.microsoft.com/office/drawing/2014/main" id="{E647344F-90D3-27AF-0240-462DCCEC25B4}"/>
              </a:ext>
            </a:extLst>
          </p:cNvPr>
          <p:cNvSpPr/>
          <p:nvPr/>
        </p:nvSpPr>
        <p:spPr>
          <a:xfrm>
            <a:off x="805180" y="1836516"/>
            <a:ext cx="10581639" cy="1592484"/>
          </a:xfrm>
          <a:prstGeom prst="rect">
            <a:avLst/>
          </a:prstGeom>
          <a:noFill/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068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880904" cy="142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is trained only on normal videos, not weak video-level anomaly labels.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dirty="0"/>
              <a:t>Detects anomalies through  </a:t>
            </a:r>
            <a:r>
              <a:rPr lang="en-US" b="1" dirty="0"/>
              <a:t>frame</a:t>
            </a:r>
            <a:r>
              <a:rPr lang="en-US" dirty="0"/>
              <a:t> </a:t>
            </a:r>
            <a:r>
              <a:rPr lang="en-US" altLang="ja-JP" b="1" dirty="0"/>
              <a:t>prediction</a:t>
            </a:r>
            <a:r>
              <a:rPr lang="en-US" altLang="ja-JP" dirty="0"/>
              <a:t> and </a:t>
            </a:r>
            <a:r>
              <a:rPr lang="en-US" altLang="ja-JP" b="1" dirty="0"/>
              <a:t>optical-flow</a:t>
            </a:r>
            <a:r>
              <a:rPr lang="en-US" altLang="ja-JP" dirty="0"/>
              <a:t> </a:t>
            </a:r>
            <a:r>
              <a:rPr lang="en-US" altLang="ja-JP" b="1" dirty="0"/>
              <a:t>reconstruction </a:t>
            </a:r>
            <a:r>
              <a:rPr lang="en-US" altLang="ja-JP" dirty="0"/>
              <a:t>(</a:t>
            </a:r>
            <a:r>
              <a:rPr lang="en-US" noProof="0" dirty="0"/>
              <a:t>proxy tasks).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37081258-1EDA-5FD2-0437-C7F02597A650}"/>
              </a:ext>
            </a:extLst>
          </p:cNvPr>
          <p:cNvGrpSpPr/>
          <p:nvPr/>
        </p:nvGrpSpPr>
        <p:grpSpPr>
          <a:xfrm>
            <a:off x="685800" y="2846125"/>
            <a:ext cx="5880904" cy="1881850"/>
            <a:chOff x="6172200" y="1325882"/>
            <a:chExt cx="4754880" cy="2860412"/>
          </a:xfrm>
        </p:grpSpPr>
        <p:sp>
          <p:nvSpPr>
            <p:cNvPr id="4" name="Rounded Rectangle 3"/>
            <p:cNvSpPr/>
            <p:nvPr/>
          </p:nvSpPr>
          <p:spPr>
            <a:xfrm>
              <a:off x="6172200" y="1325882"/>
              <a:ext cx="4754880" cy="2860412"/>
            </a:xfrm>
            <a:prstGeom prst="roundRect">
              <a:avLst>
                <a:gd name="adj" fmla="val 8000"/>
              </a:avLst>
            </a:prstGeom>
            <a:solidFill>
              <a:srgbClr val="FEF3C7"/>
            </a:solidFill>
            <a:ln>
              <a:solidFill>
                <a:srgbClr val="FEF3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492240" y="1455211"/>
              <a:ext cx="4114800" cy="4114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600" b="1">
                  <a:solidFill>
                    <a:srgbClr val="B45309"/>
                  </a:solidFill>
                  <a:latin typeface="Aptos Display"/>
                </a:defRPr>
              </a:pPr>
              <a:r>
                <a:rPr lang="en-US" noProof="0" dirty="0"/>
                <a:t>Contribution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92240" y="2219920"/>
              <a:ext cx="4069080" cy="1446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defRPr sz="2200" b="0">
                  <a:solidFill>
                    <a:srgbClr val="4B5563"/>
                  </a:solidFill>
                  <a:latin typeface="Aptos"/>
                </a:defRPr>
              </a:pPr>
              <a:r>
                <a:rPr lang="en-US" noProof="0" dirty="0"/>
                <a:t>It shows that Mamba can replace CNN or Transformer temporal modules in efficient unsupervised VAD.</a:t>
              </a:r>
            </a:p>
          </p:txBody>
        </p:sp>
      </p:grpSp>
      <p:pic>
        <p:nvPicPr>
          <p:cNvPr id="10" name="Imagen 9">
            <a:extLst>
              <a:ext uri="{FF2B5EF4-FFF2-40B4-BE49-F238E27FC236}">
                <a16:creationId xmlns:a16="http://schemas.microsoft.com/office/drawing/2014/main" id="{8AF8CF4B-5025-070F-E846-D7150E03E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6066" y="557916"/>
            <a:ext cx="3387524" cy="5260300"/>
          </a:xfrm>
          <a:prstGeom prst="rect">
            <a:avLst/>
          </a:prstGeom>
        </p:spPr>
      </p:pic>
      <p:sp>
        <p:nvSpPr>
          <p:cNvPr id="11" name="TextBox 2">
            <a:extLst>
              <a:ext uri="{FF2B5EF4-FFF2-40B4-BE49-F238E27FC236}">
                <a16:creationId xmlns:a16="http://schemas.microsoft.com/office/drawing/2014/main" id="{32A3CD7E-897E-758D-AE8E-D7F26EB41E62}"/>
              </a:ext>
            </a:extLst>
          </p:cNvPr>
          <p:cNvSpPr txBox="1"/>
          <p:nvPr/>
        </p:nvSpPr>
        <p:spPr>
          <a:xfrm>
            <a:off x="685800" y="5084213"/>
            <a:ext cx="60776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sz="1600" b="1" i="1" dirty="0">
                <a:solidFill>
                  <a:srgbClr val="FF0000"/>
                </a:solidFill>
              </a:rPr>
              <a:t>NO PARALLEL TRAINING</a:t>
            </a:r>
            <a:r>
              <a:rPr lang="en-US" sz="1600" i="1" dirty="0">
                <a:solidFill>
                  <a:srgbClr val="FF0000"/>
                </a:solidFill>
              </a:rPr>
              <a:t> </a:t>
            </a:r>
            <a:r>
              <a:rPr lang="en-US" sz="1600" i="1" dirty="0"/>
              <a:t>because the two tasks converge at different speeds.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640D363-E0BD-7314-B712-01E33B081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80" y="950976"/>
            <a:ext cx="10251440" cy="5330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685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VADMamba: What It Does Not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</a:t>
            </a:r>
            <a:r>
              <a:rPr lang="en-US" b="1" noProof="0" dirty="0"/>
              <a:t>does not compete directly</a:t>
            </a:r>
            <a:r>
              <a:rPr lang="en-US" noProof="0" dirty="0"/>
              <a:t> with Sultani, RTFM, VADCLIP, or other WSVAD methods.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does </a:t>
            </a:r>
            <a:r>
              <a:rPr lang="en-US" b="1" noProof="0" dirty="0"/>
              <a:t>not</a:t>
            </a:r>
            <a:r>
              <a:rPr lang="en-US" noProof="0" dirty="0"/>
              <a:t> use CLIP-style </a:t>
            </a:r>
            <a:r>
              <a:rPr lang="en-US" b="1" noProof="0" dirty="0"/>
              <a:t>semantic</a:t>
            </a:r>
            <a:r>
              <a:rPr lang="en-US" noProof="0" dirty="0"/>
              <a:t> guidance.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does </a:t>
            </a:r>
            <a:r>
              <a:rPr lang="en-US" b="1" noProof="0" dirty="0"/>
              <a:t>not</a:t>
            </a:r>
            <a:r>
              <a:rPr lang="en-US" noProof="0" dirty="0"/>
              <a:t> </a:t>
            </a:r>
            <a:r>
              <a:rPr lang="en-US" b="1" noProof="0" dirty="0"/>
              <a:t>learn</a:t>
            </a:r>
            <a:r>
              <a:rPr lang="en-US" noProof="0" dirty="0"/>
              <a:t> from video-level abnormal </a:t>
            </a:r>
            <a:r>
              <a:rPr lang="en-US" b="1" noProof="0" dirty="0"/>
              <a:t>labels</a:t>
            </a:r>
            <a:r>
              <a:rPr lang="en-US" noProof="0" dirty="0"/>
              <a:t>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For </a:t>
            </a:r>
            <a:r>
              <a:rPr lang="en-US" b="1" noProof="0" dirty="0"/>
              <a:t>WSVAD</a:t>
            </a:r>
            <a:r>
              <a:rPr lang="en-US" noProof="0" dirty="0"/>
              <a:t> research, its value is mainly as </a:t>
            </a:r>
            <a:r>
              <a:rPr lang="en-US" b="1" noProof="0" dirty="0"/>
              <a:t>evidence that Mamba is a useful temporal backbone</a:t>
            </a:r>
            <a:r>
              <a:rPr lang="en-US" noProof="0"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35993D29-7305-6C08-220E-C54F83A80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895" y="950976"/>
            <a:ext cx="8639730" cy="57598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06231"/>
            <a:ext cx="51663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introduces a </a:t>
            </a:r>
            <a:r>
              <a:rPr lang="en-US" b="1" noProof="0" dirty="0"/>
              <a:t>multi-scale spatial</a:t>
            </a:r>
            <a:r>
              <a:rPr lang="en-US" noProof="0" dirty="0"/>
              <a:t> encoder for anomalies of different sizes.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23444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629400" y="142646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MS-VSSB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EE05A0EE-23FB-D284-6147-1643AE967E9F}"/>
              </a:ext>
            </a:extLst>
          </p:cNvPr>
          <p:cNvGrpSpPr/>
          <p:nvPr/>
        </p:nvGrpSpPr>
        <p:grpSpPr>
          <a:xfrm>
            <a:off x="6309360" y="2877420"/>
            <a:ext cx="4480560" cy="749808"/>
            <a:chOff x="6309360" y="2240280"/>
            <a:chExt cx="4480560" cy="749808"/>
          </a:xfrm>
        </p:grpSpPr>
        <p:sp>
          <p:nvSpPr>
            <p:cNvPr id="5" name="Rounded Rectangle 4"/>
            <p:cNvSpPr/>
            <p:nvPr/>
          </p:nvSpPr>
          <p:spPr>
            <a:xfrm>
              <a:off x="6309360" y="2240280"/>
              <a:ext cx="4480560" cy="749808"/>
            </a:xfrm>
            <a:prstGeom prst="roundRect">
              <a:avLst>
                <a:gd name="adj" fmla="val 8000"/>
              </a:avLst>
            </a:prstGeom>
            <a:solidFill>
              <a:srgbClr val="D1FAE5"/>
            </a:solidFill>
            <a:ln>
              <a:solidFill>
                <a:srgbClr val="D1FAE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629400" y="2432304"/>
              <a:ext cx="3840480" cy="320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2000" b="1">
                  <a:solidFill>
                    <a:srgbClr val="047857"/>
                  </a:solidFill>
                  <a:latin typeface="Aptos Display"/>
                </a:defRPr>
              </a:pPr>
              <a:r>
                <a:rPr lang="en-US" noProof="0" dirty="0"/>
                <a:t>CA-VSSB</a:t>
              </a:r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6C16E889-3235-97AD-E79A-8846F249547F}"/>
              </a:ext>
            </a:extLst>
          </p:cNvPr>
          <p:cNvGrpSpPr/>
          <p:nvPr/>
        </p:nvGrpSpPr>
        <p:grpSpPr>
          <a:xfrm>
            <a:off x="6311869" y="4784704"/>
            <a:ext cx="4480560" cy="866751"/>
            <a:chOff x="6309360" y="3246119"/>
            <a:chExt cx="4480560" cy="866751"/>
          </a:xfrm>
        </p:grpSpPr>
        <p:sp>
          <p:nvSpPr>
            <p:cNvPr id="6" name="Rounded Rectangle 5"/>
            <p:cNvSpPr/>
            <p:nvPr/>
          </p:nvSpPr>
          <p:spPr>
            <a:xfrm>
              <a:off x="6309360" y="3246119"/>
              <a:ext cx="4480560" cy="866751"/>
            </a:xfrm>
            <a:prstGeom prst="roundRect">
              <a:avLst>
                <a:gd name="adj" fmla="val 8000"/>
              </a:avLst>
            </a:prstGeom>
            <a:solidFill>
              <a:srgbClr val="FEF3C7"/>
            </a:solidFill>
            <a:ln>
              <a:solidFill>
                <a:srgbClr val="FEF3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29400" y="3299148"/>
              <a:ext cx="384048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2000" b="1">
                  <a:solidFill>
                    <a:srgbClr val="B45309"/>
                  </a:solidFill>
                  <a:latin typeface="Aptos Display"/>
                </a:defRPr>
              </a:pPr>
              <a:r>
                <a:rPr lang="en-US" noProof="0" dirty="0"/>
                <a:t>STIM </a:t>
              </a:r>
            </a:p>
            <a:p>
              <a:pPr algn="ctr">
                <a:defRPr sz="2000" b="1">
                  <a:solidFill>
                    <a:srgbClr val="B45309"/>
                  </a:solidFill>
                  <a:latin typeface="Aptos Display"/>
                </a:defRPr>
              </a:pPr>
              <a:r>
                <a:rPr lang="en-US" noProof="0" dirty="0"/>
                <a:t>STFB + Memory Banks  </a:t>
              </a:r>
            </a:p>
          </p:txBody>
        </p:sp>
      </p:grpSp>
      <p:sp>
        <p:nvSpPr>
          <p:cNvPr id="12" name="TextBox 2">
            <a:extLst>
              <a:ext uri="{FF2B5EF4-FFF2-40B4-BE49-F238E27FC236}">
                <a16:creationId xmlns:a16="http://schemas.microsoft.com/office/drawing/2014/main" id="{9C35CF9C-CBEB-5350-7A48-0FD7D04B073E}"/>
              </a:ext>
            </a:extLst>
          </p:cNvPr>
          <p:cNvSpPr txBox="1"/>
          <p:nvPr/>
        </p:nvSpPr>
        <p:spPr>
          <a:xfrm>
            <a:off x="594360" y="4312968"/>
            <a:ext cx="5166360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performs multi-level </a:t>
            </a:r>
            <a:r>
              <a:rPr lang="en-US" b="1" noProof="0" dirty="0"/>
              <a:t>spatial-temporal </a:t>
            </a:r>
            <a:r>
              <a:rPr lang="en-US" noProof="0" dirty="0"/>
              <a:t>fusion.</a:t>
            </a:r>
            <a:endParaRPr lang="en-US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sz="1500" b="1" noProof="0" dirty="0"/>
              <a:t>Spatial-Temporal Fusion Block: </a:t>
            </a:r>
            <a:r>
              <a:rPr lang="en-US" sz="1500" noProof="0" dirty="0"/>
              <a:t>Network learns joint appearance-motion representations at every encoder stage.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sz="1500" b="1" noProof="0" dirty="0"/>
              <a:t>Memory Bank: </a:t>
            </a:r>
            <a:r>
              <a:rPr lang="en-US" sz="1500" noProof="0" dirty="0"/>
              <a:t>Its purpose is to store spatial-temporal prototypes of normal events. During inference: query features are compared against stored prototypes.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endParaRPr lang="en-US" noProof="0" dirty="0"/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8A67F79-7561-A606-6B57-26CCC1094B0E}"/>
              </a:ext>
            </a:extLst>
          </p:cNvPr>
          <p:cNvSpPr txBox="1"/>
          <p:nvPr/>
        </p:nvSpPr>
        <p:spPr>
          <a:xfrm>
            <a:off x="594360" y="2744492"/>
            <a:ext cx="51663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Temporal Encoder employs </a:t>
            </a:r>
            <a:r>
              <a:rPr lang="en-US" b="1" noProof="0" dirty="0"/>
              <a:t>channel-aware</a:t>
            </a:r>
            <a:r>
              <a:rPr lang="en-US" noProof="0" dirty="0"/>
              <a:t>. It uses RGB frame differences instead of optical flow for lower-cost motion cues.</a:t>
            </a:r>
          </a:p>
        </p:txBody>
      </p:sp>
    </p:spTree>
    <p:extLst>
      <p:ext uri="{BB962C8B-B14F-4D97-AF65-F5344CB8AC3E}">
        <p14:creationId xmlns:p14="http://schemas.microsoft.com/office/powerpoint/2010/main" val="1705879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6C4F421F-9103-21F6-6D97-D789F92F7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95" y="1031712"/>
            <a:ext cx="11170010" cy="47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452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FA458A-B187-3023-12C0-68CB6E108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533" y="950976"/>
            <a:ext cx="9098933" cy="5717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8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20317" y="1859339"/>
            <a:ext cx="4751365" cy="31393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THANK YOU </a:t>
            </a:r>
          </a:p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FOR YOUR </a:t>
            </a:r>
          </a:p>
          <a:p>
            <a:pPr algn="ctr"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sz="6600" noProof="0" dirty="0"/>
              <a:t>ATTENTION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3877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M2S2L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M2S2L extends Mamba-based VAD through explicit multi-scale learning.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Spatial scales capture small local changes, medium patterns, and larger scene structure.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Temporal scales capture short motion, medium dynamics, and long behavior.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Feature decomposition separates common, appearance-specific, and motion-specific representations.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258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0" y="26974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400800" y="40690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6656832" y="16093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Multi-scale spatial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6832" y="29809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Multi-scale temporal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43525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Feature decomposition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VADMamba++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VADMamba++ changes the proxy task rather than only changing the architecture.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replaces RGB-to-RGB reconstruction with Gray-to-RGB reasoning.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model receives grayscale frames and predicts plausible RGB frames.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This removes optical flow and converts the pipeline into a single-task framework.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25880"/>
            <a:ext cx="4663440" cy="33375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Gray-to-RGB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2514600"/>
            <a:ext cx="39776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anomaly signal comes from both structural geometry errors and chromatic appearance errors.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VADMamba++: Hybrid Modeling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448056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8183879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Global context modeling.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Mamba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Long-range temporal dependencies.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Local spatial refinement.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best encoder order is coarse-to-fine: Transformer, then Mamba, then CNN.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Results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 proves that selective SSMs can be effective for unsupervised VAD.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STNMamba improves spatial-temporal learning while remaining lightweight.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M2S2L improves accuracy by specializing scale and modality representations.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VADMamba++ improves the accuracy-speed trade-off with Gray-to-RGB and no optical 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356616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21792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886968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109728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Backbone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Proxy task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Multilingual Prompt-Guided WSVAD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final paper returns to the weakly supervised setting.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extends CLIP-style WSVAD with multilingual prompt pools.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Adaptive Top-K selection chooses the most useful prompts for each video snippet.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 and Transformer are combined for multi-granularity temporal modeling.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25880"/>
            <a:ext cx="4572000" cy="347472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75985"/>
                </a:solidFill>
                <a:latin typeface="Aptos Display"/>
              </a:defRPr>
            </a:pPr>
            <a:r>
              <a:rPr lang="en-US" noProof="0" dirty="0"/>
              <a:t>Bridge to WSVAD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2468880"/>
            <a:ext cx="3886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Here Mamba is not the whole VAD paradigm. It is a temporal reasoning module inside a CLIP and prompt-guided pipeline.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Evolution of Ideas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2578608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4745736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912864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9079992" y="1874519"/>
            <a:ext cx="2697480" cy="11430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9436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VADMamba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8616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M2S2L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75985"/>
                </a:solidFill>
                <a:latin typeface="Aptos Display"/>
              </a:defRPr>
            </a:pPr>
            <a:r>
              <a:rPr lang="en-US" noProof="0" dirty="0"/>
              <a:t>VADM++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7152" y="222199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Multilingual WSVAD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03320"/>
            <a:ext cx="10332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From Mamba as an efficient temporal backbone.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spatial-temporal normality learning with memory.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multi-scale and modality-specialized reconstruction.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simpler proxy tasks and better deployment efficiency.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CLIP, multilingual prompts, and weakly supervised localization.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What Is Already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clear distinction between unsupervised VAD and WSVAD evaluation protocols.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map of how Mamba enters VAD: backbone, spatial-temporal fusion, memory, and prompt-guided temporal modeling.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comparison of architectural improvements versus proxy-task improvements.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bridge from reconstruction-based Mamba papers back to the main weakly supervised research direction.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Suggested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Build a comparison matrix separating unsupervised VAD from WSVAD methods.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For each method, record supervision type, backbone, temporal module, anomaly score, datasets, and metrics.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Decide whether the PhD direction should use Mamba as a full backbone or as a temporal module inside a CLIP/WSVAD pipeline.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Use that decision to define the first implementation target and baseline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</TotalTime>
  <Words>974</Words>
  <Application>Microsoft Office PowerPoint</Application>
  <PresentationFormat>Panorámica</PresentationFormat>
  <Paragraphs>136</Paragraphs>
  <Slides>22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6" baseType="lpstr">
      <vt:lpstr>游ゴシック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Maximo Pacheco</cp:lastModifiedBy>
  <cp:revision>22</cp:revision>
  <dcterms:created xsi:type="dcterms:W3CDTF">2013-01-27T09:14:16Z</dcterms:created>
  <dcterms:modified xsi:type="dcterms:W3CDTF">2026-09-27T10:19:52Z</dcterms:modified>
  <cp:category/>
</cp:coreProperties>
</file>