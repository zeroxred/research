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0" r:id="rId10"/>
    <p:sldId id="265" r:id="rId11"/>
    <p:sldId id="27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276CF-6B19-4CF9-BEC5-3960417D7708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3F07A-4A45-411B-9C86-FF4CBF83FF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41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3F07A-4A45-411B-9C86-FF4CBF83FF0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549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Video Swin Transformer and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Completed the next step after Swin Transformer: Video Swin Transformer.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Started the anomaly-detection block with weak supervision and MIL.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Reviewed the first methods that connect surveillance videos to anomaly scores.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Continued from </a:t>
            </a:r>
            <a:r>
              <a:rPr dirty="0" err="1"/>
              <a:t>ViT</a:t>
            </a:r>
            <a:r>
              <a:rPr dirty="0"/>
              <a:t>, </a:t>
            </a:r>
            <a:r>
              <a:rPr dirty="0" err="1"/>
              <a:t>TimeSformer</a:t>
            </a:r>
            <a:r>
              <a:rPr dirty="0"/>
              <a:t>, and </a:t>
            </a:r>
            <a:r>
              <a:rPr dirty="0" err="1"/>
              <a:t>Swin</a:t>
            </a:r>
            <a:r>
              <a:rPr dirty="0"/>
              <a:t> Transformer.</a:t>
            </a: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Studied how shifted-window attention is extended from images to video.</a:t>
            </a: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b="1" dirty="0"/>
              <a:t>Moved from action-recognition</a:t>
            </a:r>
            <a:r>
              <a:rPr dirty="0"/>
              <a:t> architectures </a:t>
            </a:r>
            <a:r>
              <a:rPr b="1" dirty="0"/>
              <a:t>toward anomaly-detection </a:t>
            </a:r>
            <a:r>
              <a:rPr dirty="0"/>
              <a:t>formulations.</a:t>
            </a: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Connected model foundations to the research objective: security-oriented video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Video </a:t>
            </a:r>
            <a:r>
              <a:rPr dirty="0" err="1"/>
              <a:t>Swin</a:t>
            </a:r>
            <a:r>
              <a:rPr dirty="0"/>
              <a:t> Transformer closes the current foundations block on modern video architectures.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/>
              <a:t>Anomaly detection changes the problem from recognizing known actions to finding unusual events.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This is closer to real surveillance, where the system may not know every possible threat in advance.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The new material starts the bridge from model study to research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t>The focus is shifting from how to classify actions to how to localize suspicious temporal segments in long surveillance videos.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Video Swin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241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Extends </a:t>
            </a:r>
            <a:r>
              <a:rPr dirty="0" err="1"/>
              <a:t>Swin</a:t>
            </a:r>
            <a:r>
              <a:rPr dirty="0"/>
              <a:t> Transformer from images to video clips.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local attention windows across space and time.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Maintains a hierarchical representation as the video features become deeper.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Offers a practical Transformer backbone for video recognition tasks.</a:t>
            </a:r>
          </a:p>
        </p:txBody>
      </p:sp>
      <p:pic>
        <p:nvPicPr>
          <p:cNvPr id="4" name="Picture 3" descr="VideoS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1780"/>
            <a:ext cx="1024128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Action Recognition to Anomaly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83879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D4ED8"/>
                </a:solidFill>
                <a:latin typeface="Aptos Display"/>
              </a:defRPr>
            </a:pPr>
            <a:r>
              <a:t>Action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Classify known actions in short clips.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47857"/>
                </a:solidFill>
                <a:latin typeface="Aptos Display"/>
              </a:defRPr>
            </a:pPr>
            <a:r>
              <a:t>Temporal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146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Learn motion and context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373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5309"/>
                </a:solidFill>
                <a:latin typeface="Aptos Display"/>
              </a:defRPr>
            </a:pPr>
            <a:r>
              <a:t>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5146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Find abnormal moments in long videos.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research direction now moves from model foundations to surveillance-specific learning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Core Anomaly-Detection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33272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Identify whether a video contains abnormal behavior.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Locate the time interval where the abnormal event occurs.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Optionally classify the type of event after detection.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r>
              <a:rPr lang="en-US" sz="2000" b="1" dirty="0">
                <a:solidFill>
                  <a:srgbClr val="4B5563"/>
                </a:solidFill>
                <a:latin typeface="Aptos"/>
              </a:rPr>
              <a:t>Example</a:t>
            </a:r>
          </a:p>
          <a:p>
            <a:br>
              <a:rPr lang="en-US" sz="2000" dirty="0">
                <a:solidFill>
                  <a:srgbClr val="4B5563"/>
                </a:solidFill>
                <a:latin typeface="Aptos"/>
              </a:rPr>
            </a:br>
            <a:r>
              <a:rPr lang="en-US" sz="2000" dirty="0">
                <a:solidFill>
                  <a:srgbClr val="4B5563"/>
                </a:solidFill>
                <a:latin typeface="Aptos"/>
              </a:rPr>
              <a:t>- Anomaly Detection: "Something unusual happened between 10:05 and 10:07."</a:t>
            </a:r>
          </a:p>
          <a:p>
            <a:r>
              <a:rPr lang="en-US" sz="2000" dirty="0">
                <a:solidFill>
                  <a:srgbClr val="4B5563"/>
                </a:solidFill>
                <a:latin typeface="Aptos"/>
              </a:rPr>
              <a:t>- Classification: "The unusual event was a fight."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Weak Supervision and MIL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Weak supervision uses video-level labels instead of frame-level annotations.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Multiple Instance Learning treats each video as a bag of temporal segments.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An anomalous video is expected to contain at least one abnormal segment.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The model learns to assign higher anomaly scores to the most suspicious segments.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Sultani</a:t>
            </a:r>
            <a:r>
              <a:rPr dirty="0"/>
              <a:t> et al. (2018)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1372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Introduced a weakly supervised formulation for real-world surveillance anomaly detection.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Uses normal and anomalous video bags with MIL ranking loss.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2681DB-386F-904F-09FD-EFB2B93F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5" r="3952" b="27318"/>
          <a:stretch/>
        </p:blipFill>
        <p:spPr>
          <a:xfrm>
            <a:off x="594360" y="2774216"/>
            <a:ext cx="11115859" cy="37014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19619E0A-24E7-3F40-8CC5-A1CDF00A146E}"/>
              </a:ext>
            </a:extLst>
          </p:cNvPr>
          <p:cNvSpPr txBox="1"/>
          <p:nvPr/>
        </p:nvSpPr>
        <p:spPr>
          <a:xfrm>
            <a:off x="685800" y="1143000"/>
            <a:ext cx="1071372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Works with </a:t>
            </a:r>
            <a:r>
              <a:rPr b="1" dirty="0"/>
              <a:t>UCF-Crime</a:t>
            </a:r>
            <a:r>
              <a:rPr dirty="0"/>
              <a:t>: real surveillance videos and 13 anomaly categories.</a:t>
            </a:r>
            <a:endParaRPr lang="es-MX"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Provides the conceptual base for later weakly supervised VAD methods.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6EC2E09-AE8D-EEEB-D10B-B7679AB14DA8}"/>
              </a:ext>
            </a:extLst>
          </p:cNvPr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Sultani</a:t>
            </a:r>
            <a:r>
              <a:rPr dirty="0"/>
              <a:t> et al. (2018)</a:t>
            </a:r>
          </a:p>
        </p:txBody>
      </p:sp>
      <p:pic>
        <p:nvPicPr>
          <p:cNvPr id="6" name="Picture 3" descr="Anomaly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4216"/>
            <a:ext cx="12192000" cy="385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6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8326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RTFM: Robust Temporal Feature Magnitude</a:t>
            </a:r>
            <a:r>
              <a:rPr lang="es-MX" dirty="0"/>
              <a:t> (2021)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347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Builds on weakly supervised video anomaly detection.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b="1" dirty="0"/>
              <a:t>Uses feature magnitude </a:t>
            </a:r>
            <a:r>
              <a:rPr dirty="0"/>
              <a:t>as stronger evidence for abnormal snippets.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Aims to separate normal and abnormal temporal features more clearly.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Represents a step beyond traditional MIL scoring strategies.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47FEA1-1302-1794-443F-C22DF8E0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428999"/>
            <a:ext cx="2681863" cy="24015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2E7D542-55D9-752D-1300-36E6F6E0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674" y="3823223"/>
            <a:ext cx="3006172" cy="212529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34A765D-C6C7-1053-41F6-AC80CA197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196" y="2591387"/>
            <a:ext cx="1926564" cy="3759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DFD1B-D527-22E3-AE16-1FA1EB852AA5}"/>
              </a:ext>
            </a:extLst>
          </p:cNvPr>
          <p:cNvSpPr txBox="1"/>
          <p:nvPr/>
        </p:nvSpPr>
        <p:spPr>
          <a:xfrm>
            <a:off x="594360" y="384048"/>
            <a:ext cx="8326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RTFM: Robust Temporal Feature Magnitude</a:t>
            </a:r>
            <a:r>
              <a:rPr lang="es-MX" dirty="0"/>
              <a:t> (2021)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FCEE85-A6DD-747F-4CEA-9142A2A98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4" y="1421985"/>
            <a:ext cx="5960915" cy="44069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71BA550-87F0-40DF-303E-9FEE4FBDA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17" y="1436551"/>
            <a:ext cx="5781368" cy="427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14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4B3662E-345E-3D0E-E85D-431DCB2033BD}"/>
              </a:ext>
            </a:extLst>
          </p:cNvPr>
          <p:cNvGrpSpPr/>
          <p:nvPr/>
        </p:nvGrpSpPr>
        <p:grpSpPr>
          <a:xfrm>
            <a:off x="1798320" y="1778507"/>
            <a:ext cx="8595359" cy="1143000"/>
            <a:chOff x="502920" y="1874519"/>
            <a:chExt cx="8595359" cy="1143000"/>
          </a:xfrm>
        </p:grpSpPr>
        <p:sp>
          <p:nvSpPr>
            <p:cNvPr id="3" name="Rounded Rectangle 2"/>
            <p:cNvSpPr/>
            <p:nvPr/>
          </p:nvSpPr>
          <p:spPr>
            <a:xfrm>
              <a:off x="502920" y="1874519"/>
              <a:ext cx="1874519" cy="1143000"/>
            </a:xfrm>
            <a:prstGeom prst="roundRect">
              <a:avLst>
                <a:gd name="adj" fmla="val 8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743200" y="1874519"/>
              <a:ext cx="1874519" cy="1143000"/>
            </a:xfrm>
            <a:prstGeom prst="roundRect">
              <a:avLst>
                <a:gd name="adj" fmla="val 8000"/>
              </a:avLst>
            </a:prstGeom>
            <a:solidFill>
              <a:srgbClr val="D1FAE5"/>
            </a:solidFill>
            <a:ln>
              <a:solidFill>
                <a:srgbClr val="D1F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983480" y="1874519"/>
              <a:ext cx="1874519" cy="1143000"/>
            </a:xfrm>
            <a:prstGeom prst="roundRect">
              <a:avLst>
                <a:gd name="adj" fmla="val 8000"/>
              </a:avLst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1874519"/>
              <a:ext cx="1874519" cy="1143000"/>
            </a:xfrm>
            <a:prstGeom prst="roundRect">
              <a:avLst>
                <a:gd name="adj" fmla="val 8000"/>
              </a:avLst>
            </a:prstGeom>
            <a:solidFill>
              <a:srgbClr val="E0F2FE"/>
            </a:solidFill>
            <a:ln>
              <a:solidFill>
                <a:srgbClr val="E0F2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221992"/>
              <a:ext cx="1508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1D4ED8"/>
                  </a:solidFill>
                  <a:latin typeface="Aptos Display"/>
                </a:defRPr>
              </a:pPr>
              <a:r>
                <a:t>Swin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52928" y="2221992"/>
              <a:ext cx="16459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900" b="1">
                  <a:solidFill>
                    <a:srgbClr val="047857"/>
                  </a:solidFill>
                  <a:latin typeface="Aptos Display"/>
                </a:defRPr>
              </a:pPr>
              <a:r>
                <a:t>Video Swin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66360" y="2221992"/>
              <a:ext cx="1508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B45309"/>
                  </a:solidFill>
                  <a:latin typeface="Aptos Display"/>
                </a:defRPr>
              </a:pPr>
              <a:r>
                <a:t>MIL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24927" y="2221992"/>
              <a:ext cx="1508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075985"/>
                  </a:solidFill>
                  <a:latin typeface="Aptos Display"/>
                </a:defRPr>
              </a:pPr>
              <a:r>
                <a:t>RTFM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6012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From hierarchical attention for images.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To hierarchical attention for videos.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To weakly supervised anomaly scores over temporal segments.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To stronger temporal features and pretrained visual-language representations.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A complete path from CNN-based video recognition to Transformer-based video backbones.</a:t>
            </a:r>
            <a:endParaRPr lang="es-MX"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A clear next architecture after </a:t>
            </a:r>
            <a:r>
              <a:rPr dirty="0" err="1"/>
              <a:t>Swin</a:t>
            </a:r>
            <a:r>
              <a:rPr dirty="0"/>
              <a:t>: Video </a:t>
            </a:r>
            <a:r>
              <a:rPr dirty="0" err="1"/>
              <a:t>Swin</a:t>
            </a:r>
            <a:r>
              <a:rPr dirty="0"/>
              <a:t> Transformer.</a:t>
            </a:r>
            <a:endParaRPr lang="es-MX"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A first anomaly-detection formulation based on weak labels and MIL.</a:t>
            </a:r>
            <a:endParaRPr lang="es-MX"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Initial coverage of UCF-Crime</a:t>
            </a:r>
            <a:r>
              <a:rPr lang="es-MX" dirty="0"/>
              <a:t> and</a:t>
            </a:r>
            <a:r>
              <a:rPr dirty="0"/>
              <a:t> RTFM.</a:t>
            </a:r>
            <a:endParaRPr lang="es-MX"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A stronger bridge between foundations and the surveillance research objective.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dirty="0">
                <a:solidFill>
                  <a:srgbClr val="4B5563"/>
                </a:solidFill>
                <a:latin typeface="Aptos"/>
              </a:rPr>
              <a:t>-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VadCLIP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: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Adapting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Vision-Language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Models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for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Weakly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Supervised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Video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Anomaly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Detection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 </a:t>
            </a:r>
          </a:p>
          <a:p>
            <a:r>
              <a:rPr lang="es-MX" sz="2200" dirty="0">
                <a:solidFill>
                  <a:srgbClr val="4B5563"/>
                </a:solidFill>
                <a:latin typeface="Aptos"/>
              </a:rPr>
              <a:t> 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Peng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Wu et al. (AAAI 2024)</a:t>
            </a:r>
          </a:p>
          <a:p>
            <a:br>
              <a:rPr lang="es-MX" sz="2200" dirty="0">
                <a:solidFill>
                  <a:srgbClr val="4B5563"/>
                </a:solidFill>
                <a:latin typeface="Aptos"/>
              </a:rPr>
            </a:br>
            <a:r>
              <a:rPr lang="es-MX" sz="2200" dirty="0">
                <a:solidFill>
                  <a:srgbClr val="4B5563"/>
                </a:solidFill>
                <a:latin typeface="Aptos"/>
              </a:rPr>
              <a:t>- Open-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Vocabulary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Video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Anomaly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Detection</a:t>
            </a:r>
            <a:endParaRPr lang="es-MX" sz="2200" dirty="0">
              <a:solidFill>
                <a:srgbClr val="4B5563"/>
              </a:solidFill>
              <a:latin typeface="Aptos"/>
            </a:endParaRPr>
          </a:p>
          <a:p>
            <a:r>
              <a:rPr lang="es-MX" sz="2200" dirty="0">
                <a:solidFill>
                  <a:srgbClr val="4B5563"/>
                </a:solidFill>
                <a:latin typeface="Aptos"/>
              </a:rPr>
              <a:t>  </a:t>
            </a:r>
            <a:r>
              <a:rPr lang="es-MX" sz="2200" dirty="0" err="1">
                <a:solidFill>
                  <a:srgbClr val="4B5563"/>
                </a:solidFill>
                <a:latin typeface="Aptos"/>
              </a:rPr>
              <a:t>Peng</a:t>
            </a:r>
            <a:r>
              <a:rPr lang="es-MX" sz="2200" dirty="0">
                <a:solidFill>
                  <a:srgbClr val="4B5563"/>
                </a:solidFill>
                <a:latin typeface="Aptos"/>
              </a:rPr>
              <a:t> Wu et al. (CVPR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625</Words>
  <Application>Microsoft Office PowerPoint</Application>
  <PresentationFormat>Panorámica</PresentationFormat>
  <Paragraphs>91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11</cp:revision>
  <dcterms:created xsi:type="dcterms:W3CDTF">2013-01-27T09:14:16Z</dcterms:created>
  <dcterms:modified xsi:type="dcterms:W3CDTF">2026-06-15T13:14:38Z</dcterms:modified>
  <cp:category/>
</cp:coreProperties>
</file>